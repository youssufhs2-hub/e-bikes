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501" autoAdjust="0"/>
  </p:normalViewPr>
  <p:slideViewPr>
    <p:cSldViewPr snapToGrid="0">
      <p:cViewPr varScale="1">
        <p:scale>
          <a:sx n="66" d="100"/>
          <a:sy n="66" d="100"/>
        </p:scale>
        <p:origin x="106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7893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start 0:00 | about 0.5 min]</a:t>
            </a:r>
          </a:p>
          <a:p>
            <a:endParaRPr/>
          </a:p>
          <a:p>
            <a:r>
              <a:t>Good afternoon, everyone, and thank you for your time. Over the next thirty minutes I want to show you how Cloudflare can help Meridian secure and simplify the way your people connect to applications, wherever they work. I will cover why Cloudflare, how the platform fits together, and then go deep on five Zero Trust building blocks: Access, ZTNA, the Secure Web Gateway, the Cloudflare One Client and Browser Isolation.</a:t>
            </a:r>
          </a:p>
          <a:p>
            <a:endParaRPr/>
          </a:p>
          <a:p>
            <a:r>
              <a:t>CUE: Stand tall, smile, make eye contact with every panel member before you begin. Do not read the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start 0:30 | about 0.5 min]</a:t>
            </a:r>
          </a:p>
          <a:p>
            <a:endParaRPr/>
          </a:p>
          <a:p>
            <a:r>
              <a:t>Here is how we will use the time. First, what I understand about Meridian's situation. Second, why Cloudflare is different. Third, the Cloudflare One platform. Then the technical core: replacing the VPN with Zero Trust access, protecting web traffic with the gateway, the client that connects your devices, and Browser Isolation. We will finish with a real-world scenario, a phased roadmap and next steps, and I will leave time for your questions at the end.</a:t>
            </a:r>
          </a:p>
          <a:p>
            <a:endParaRPr/>
          </a:p>
          <a:p>
            <a:r>
              <a:t>CUE: Point at the agenda. Mention that you will pause for questions only if something is unclear, to protect the Q&amp;A.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start 1:00 | about 1.5 min]</a:t>
            </a:r>
          </a:p>
          <a:p>
            <a:endParaRPr/>
          </a:p>
          <a:p>
            <a:r>
              <a:t>Before talking about technology, let me play back what I understand. I have made some assumptions, so please correct me. Meridian has around 6,500 employees across 40 sites in 12 countries, a hybrid workforce, and roughly 150 SaaS applications plus about 35 private applications that still sit behind a VPN. You also work with around 1,200 contractors and partners.</a:t>
            </a:r>
          </a:p>
          <a:p>
            <a:endParaRPr/>
          </a:p>
          <a:p>
            <a:r>
              <a:t>From that profile I hear four challenges. One: the VPN gives broad network access once someone is in, and it is slow and frustrating for users. Two: people browse from home, hotels and airports with limited protection and limited visibility for your security team. Three: contractors need access to specific applications, but they use devices you do not manage. And four: security tools have grown one project at a time, so your team works across several consoles.</a:t>
            </a:r>
          </a:p>
          <a:p>
            <a:endParaRPr/>
          </a:p>
          <a:p>
            <a:r>
              <a:t>Does that match what you see? Which of those four costs you the most today?</a:t>
            </a:r>
          </a:p>
          <a:p>
            <a:endParaRPr/>
          </a:p>
          <a:p>
            <a:r>
              <a:t>CUE: PAUSE and invite a reaction. This is a value-selling moment: let the panel confirm or correct the assumptions, then adapt the emphasis for the rest of the talk.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start 2:30 | about 2 min]</a:t>
            </a:r>
          </a:p>
          <a:p>
            <a:endParaRPr/>
          </a:p>
          <a:p>
            <a:r>
              <a:t>Cloudflare started as a way to make websites faster and safer. Today we describe ourselves as a connectivity cloud: one global network that connects and protects people, applications and data, whether those are on the public Internet or inside your own walls.</a:t>
            </a:r>
          </a:p>
          <a:p>
            <a:endParaRPr/>
          </a:p>
          <a:p>
            <a:r>
              <a:t>The scale is what makes it work. The network spans more than 330 cities in over 125 countries, including mainland China, with more than 530 terabits per second of capacity. Over 13,000 networks connect directly to us, and about 95 percent of the world's Internet-connected population is within roughly 50 milliseconds of a Cloudflare data centre. And the network blocks well over two hundred billion cyber threats every day, which becomes threat intelligence for every customer.</a:t>
            </a:r>
          </a:p>
          <a:p>
            <a:endParaRPr/>
          </a:p>
          <a:p>
            <a:r>
              <a:t>On top of that network sit four groups of services. Application Services protect and accelerate your public-facing sites and APIs. Network Services protect and connect your networks. The Developer Platform lets you build applications at the edge. And Cloudflare One, which is our focus today, secures your workforce, your devices and your internal applications.</a:t>
            </a:r>
          </a:p>
          <a:p>
            <a:endParaRPr/>
          </a:p>
          <a:p>
            <a:r>
              <a:t>The key point: these are not separate products stitched together. They run on one network, so Meridian can start with one problem and add capabilities without adding infrastructure.</a:t>
            </a:r>
          </a:p>
          <a:p>
            <a:endParaRPr/>
          </a:p>
          <a:p>
            <a:r>
              <a:t>CUE: Land ONE number only if time is short: 'about 95 percent of the world within 50 ms'. Source for all figures: Cloudflare Q2 2026 investor presentation and cloudflare.com/network.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start 4:30 | about 2 min]</a:t>
            </a:r>
          </a:p>
          <a:p>
            <a:endParaRPr/>
          </a:p>
          <a:p>
            <a:r>
              <a:t>Let me contrast two approaches. On the left is the traditional model that many organisations, perhaps including Meridian, have grown into: a VPN appliance, a proxy, a firewall, a CASB, each from a different vendor, each with its own console, often reached by sending traffic back to a few central data centres.</a:t>
            </a:r>
          </a:p>
          <a:p>
            <a:endParaRPr/>
          </a:p>
          <a:p>
            <a:r>
              <a:t>On the right is Cloudflare One. Same capabilities, but delivered from one platform. First, one network and one policy engine: traffic is inspected once, at the edge nearest the user, rather than being backhauled. Second, a different access model: instead of trusting someone because they are on the network, every request is checked against identity, device and context, and the default is deny. Third, operations: one control plane with an API and Terraform support, so your team can automate rather than click through five consoles. And fourth, time to value: these are software on-ramps, not hardware projects, so you can start with something like DNS filtering in days and build from there.</a:t>
            </a:r>
          </a:p>
          <a:p>
            <a:endParaRPr/>
          </a:p>
          <a:p>
            <a:r>
              <a:t>For Meridian that means less risk, a better experience for users, and fewer tools for your team to run.</a:t>
            </a:r>
          </a:p>
          <a:p>
            <a:endParaRPr/>
          </a:p>
          <a:p>
            <a:r>
              <a:t>CUE: Value-sell: tie each row to a Meridian pain from slide 3 (VPN friction, contractors, tool sprawl). IF ASKED 'is Cloudflare a single point of failure?' see Q&amp;A prep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start 6:30 | about 2 min]</a:t>
            </a:r>
          </a:p>
          <a:p>
            <a:endParaRPr/>
          </a:p>
          <a:p>
            <a:r>
              <a:t>This is the whole Cloudflare One picture on one slide. Read it left to right.</a:t>
            </a:r>
          </a:p>
          <a:p>
            <a:endParaRPr/>
          </a:p>
          <a:p>
            <a:r>
              <a:t>On the left, how people and sites connect. Employees use the Cloudflare One Client on their laptops and phones. Contractors can come in clientless, through a browser. Branches and data centres connect through Cloudflare WAN, over IPsec or GRE tunnels or direct interconnect, which over time can replace MPLS and SD-WAN circuits.</a:t>
            </a:r>
          </a:p>
          <a:p>
            <a:endParaRPr/>
          </a:p>
          <a:p>
            <a:r>
              <a:t>In the middle, the Cloudflare network applies your policy. Access is our Zero Trust network access, for applications. Gateway is the secure web gateway, for Internet traffic: DNS, network and HTTP filtering. Browser Isolation runs risky pages in the cloud. And Data Loss Prevention, CASB and email security protect your data and your inbox.</a:t>
            </a:r>
          </a:p>
          <a:p>
            <a:endParaRPr/>
          </a:p>
          <a:p>
            <a:r>
              <a:t>On the right, what people reach: SaaS applications, the open Internet, and your private applications. For private applications we use Cloudflare Tunnel: a small connector in your environment makes an outbound-only connection to Cloudflare, so you do not need to expose a public IP address or open an inbound firewall port.</a:t>
            </a:r>
          </a:p>
          <a:p>
            <a:endParaRPr/>
          </a:p>
          <a:p>
            <a:r>
              <a:t>Today I will zoom in on Access, Gateway, the Client and Browser Isolation, because together they solve the four challenges we discussed.</a:t>
            </a:r>
          </a:p>
          <a:p>
            <a:endParaRPr/>
          </a:p>
          <a:p>
            <a:r>
              <a:t>CUE: Trace the flow with your hand left to right. If the panel prefers a demo, offer to click through the dashboard after the slides (Access policy, Gateway policy).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start 8:30 | about 1.5 min]</a:t>
            </a:r>
          </a:p>
          <a:p>
            <a:endParaRPr/>
          </a:p>
          <a:p>
            <a:r>
              <a:t>Let me define Zero Trust in plain terms. It is the idea that being on the network is not proof of anything. Instead, every request to every application is verified, every time.</a:t>
            </a:r>
          </a:p>
          <a:p>
            <a:endParaRPr/>
          </a:p>
          <a:p>
            <a:r>
              <a:t>Walk through what happens when a Meridian employee opens an internal application. The request goes to Cloudflare. We check who they are with your identity provider and multi-factor authentication. We check the health of their device: is it managed, encrypted, patched. We add context such as location and the sensitivity of the application. Policy then decides: allow, isolate or block. And every decision is logged.</a:t>
            </a:r>
          </a:p>
          <a:p>
            <a:endParaRPr/>
          </a:p>
          <a:p>
            <a:r>
              <a:t>Three principles sit behind it: verify explicitly, give least privilege, and assume breach. In business terms: if one account or one laptop is compromised, the attacker does not get a free run of the network.</a:t>
            </a:r>
          </a:p>
          <a:p>
            <a:endParaRPr/>
          </a:p>
          <a:p>
            <a:r>
              <a:t>CUE: Non-technical translation: 'A badge check at every door, not just at the front entrance.' Use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start 10:00 | about 2.5 min]</a:t>
            </a:r>
          </a:p>
          <a:p>
            <a:endParaRPr/>
          </a:p>
          <a:p>
            <a:r>
              <a:t>Now the first building block, and probably the one that addresses your biggest frustration: replacing the VPN with Zero Trust Network Access.</a:t>
            </a:r>
          </a:p>
          <a:p>
            <a:endParaRPr/>
          </a:p>
          <a:p>
            <a:r>
              <a:t>On the left is today. A user connects to a VPN concentrator and lands on the network. From there they can often reach far more than they need, so one stolen credential can mean lateral movement across the estate. It is also slow, because traffic is hairpinned through a central gateway, and it is painful for contractors.</a:t>
            </a:r>
          </a:p>
          <a:p>
            <a:endParaRPr/>
          </a:p>
          <a:p>
            <a:r>
              <a:t>On the right is Cloudflare Access with Cloudflare Tunnel. The user goes to an application, for example a finance system. Access intercepts the request and checks identity, device and context for that application. If the answer is yes, they reach that one application and nothing else. Behind the scenes, Tunnel connects the application to Cloudflare with an outbound-only connection, so there is no public IP and no inbound port to attack.</a:t>
            </a:r>
          </a:p>
          <a:p>
            <a:endParaRPr/>
          </a:p>
          <a:p>
            <a:r>
              <a:t>Technically, Access works with the identity providers you already use, such as Microsoft Entra ID or Okta, as well as generic SAML and OIDC. For the business, it means faster logins, much smaller blast radius, and a clean path to give contractors access to just the applications they need.</a:t>
            </a:r>
          </a:p>
          <a:p>
            <a:endParaRPr/>
          </a:p>
          <a:p>
            <a:r>
              <a:t>You do not have to switch off the VPN on day one. Most customers move application by application.</a:t>
            </a:r>
          </a:p>
          <a:p>
            <a:endParaRPr/>
          </a:p>
          <a:p>
            <a:r>
              <a:t>CUE: IF ASKED 'does this replace our VPN entirely?' -&gt; 'It replaces it for application access; some legacy network-level use cases can run through the Client with private network routes. We migrate in phases.'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start 12:30 | about 1.5 min]</a:t>
            </a:r>
          </a:p>
          <a:p>
            <a:endParaRPr/>
          </a:p>
          <a:p>
            <a:r>
              <a:t>Here is what a policy actually looks like, because this is where security and usability meet. This example protects the finance system. The action is Allow, and Access is deny-by-default, so anyone who does not match is blocked.</a:t>
            </a:r>
          </a:p>
          <a:p>
            <a:endParaRPr/>
          </a:p>
          <a:p>
            <a:r>
              <a:t>Include rules work as 'or': members of the Finance group. Require rules work as 'and': the user must have passed multi-factor authentication and be on a managed, compliant device. Exclude rules work as 'not': for example, users from countries where Meridian does not operate. Policies can also use device posture, certificates for machine-to-machine access, and service tokens for automation.</a:t>
            </a:r>
          </a:p>
          <a:p>
            <a:endParaRPr/>
          </a:p>
          <a:p>
            <a:r>
              <a:t>On the right you can see what Access can protect: self-hosted web applications, SaaS applications, SSH, and browser-based RDP. Because RDP and SSH run through the browser, a contractor does not need a client installed.</a:t>
            </a:r>
          </a:p>
          <a:p>
            <a:endParaRPr/>
          </a:p>
          <a:p>
            <a:r>
              <a:t>And for audit and compliance, every request and decision is logged, which your SOC can stream into its existing tools.</a:t>
            </a:r>
          </a:p>
          <a:p>
            <a:endParaRPr/>
          </a:p>
          <a:p>
            <a:r>
              <a:t>CUE: If the panel is technical, mention order of evaluation: Service Auth and Bypass first, then Allow/Block top to bottom. Warn: avoid Bypass unless necessary (not enforced, not logged).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start 14:00 | about 2.5 min]</a:t>
            </a:r>
          </a:p>
          <a:p>
            <a:endParaRPr/>
          </a:p>
          <a:p>
            <a:r>
              <a:t>The second building block is the Secure Web Gateway, which Cloudflare calls Gateway. Where Access protects your applications, Gateway protects your people as they use the Internet.</a:t>
            </a:r>
          </a:p>
          <a:p>
            <a:endParaRPr/>
          </a:p>
          <a:p>
            <a:r>
              <a:t>It works in three layers. First, DNS policies: if a domain is known to host phishing or malware, it never resolves, so the user never connects. This is the fastest and broadest control. Second, network policies at layer 4: control by IP, port, protocol and SNI, for example blocking SSH or RDP to the Internet. Third, HTTP policies at layer 7: Gateway decrypts HTTPS traffic, which needs the Cloudflare root certificate on devices, and can then inspect URLs, headers and file uploads and downloads. That is how you block malware in downloads, scan uploads for sensitive data, and control which accounts people can sign in to, for example your corporate tenant only.</a:t>
            </a:r>
          </a:p>
          <a:p>
            <a:endParaRPr/>
          </a:p>
          <a:p>
            <a:r>
              <a:t>Policies can use identity and device context. For example, 'only the Finance group on an encrypted device may upload to this service'. Evaluation order is DNS first, then network, then HTTP.</a:t>
            </a:r>
          </a:p>
          <a:p>
            <a:endParaRPr/>
          </a:p>
          <a:p>
            <a:r>
              <a:t>There is also an egress capability: traffic can leave from dedicated IP addresses that belong to Meridian, so partners and SaaS vendors can allow-list you.</a:t>
            </a:r>
          </a:p>
          <a:p>
            <a:endParaRPr/>
          </a:p>
          <a:p>
            <a:r>
              <a:t>The business message: protection and visibility that follow the user, whether they are in the office or at a hotel.</a:t>
            </a:r>
          </a:p>
          <a:p>
            <a:endParaRPr/>
          </a:p>
          <a:p>
            <a:r>
              <a:t>CUE: IF ASKED about TLS inspection breaking tools (git, AWS CLI, Docker): acknowledge it, explain 'Do Not Inspect' exceptions and certificate deployment through MDM. Honesty builds trust.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start 16:30 | about 1.5 min]</a:t>
            </a:r>
          </a:p>
          <a:p>
            <a:endParaRPr/>
          </a:p>
          <a:p>
            <a:r>
              <a:t>Let me make that concrete with five problems and how Gateway answers them.</a:t>
            </a:r>
          </a:p>
          <a:p>
            <a:endParaRPr/>
          </a:p>
          <a:p>
            <a:r>
              <a:t>Phishing and malware: block security risk categories at DNS and HTTP, and scan downloads. Shadow IT and unsanctioned AI tools: apply application controls, and allow only corporate accounts. Data leakage: use DLP profiles to detect financial data, secrets or source code in uploads. Partner access: use egress policies with fixed IP addresses so partners can allow-list Meridian. And risky or unknown sites: do not simply block them, isolate them, which brings me to Browser Isolation shortly.</a:t>
            </a:r>
          </a:p>
          <a:p>
            <a:endParaRPr/>
          </a:p>
          <a:p>
            <a:r>
              <a:t>A practical tip: start in log-only mode for a few weeks. You see what your users really do, then tighten policy with confidence instead of surprising people.</a:t>
            </a:r>
          </a:p>
          <a:p>
            <a:endParaRPr/>
          </a:p>
          <a:p>
            <a:r>
              <a:t>CUE: Be transparent about packaging: some features such as full DLP, Browser Isolation and extended log retention depend on plan. Say you will confirm exact tiers in the proposal.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start 18:00 | about 2 min]</a:t>
            </a:r>
          </a:p>
          <a:p>
            <a:endParaRPr/>
          </a:p>
          <a:p>
            <a:r>
              <a:t>The third building block is the Cloudflare One Client, which many people still call WARP. It is the lightweight agent that connects a device to Cloudflare.</a:t>
            </a:r>
          </a:p>
          <a:p>
            <a:endParaRPr/>
          </a:p>
          <a:p>
            <a:r>
              <a:t>Technically, it creates an encrypted tunnel using WireGuard or MASQUE to send traffic to Cloudflare, and it proxies DNS over HTTPS. In the default mode, Traffic and DNS, it routes all ports and protocols and unlocks the full feature set: HTTP policies, isolation, DLP and device posture. There are lighter modes too: DNS-only, traffic-only, or posture-only.</a:t>
            </a:r>
          </a:p>
          <a:p>
            <a:endParaRPr/>
          </a:p>
          <a:p>
            <a:r>
              <a:t>It also reports device posture: operating system version, disk encryption, firewall status, managed-device serial number, and it can use signals from endpoint tools such as CrowdStrike. That posture feeds Access and Gateway decisions.</a:t>
            </a:r>
          </a:p>
          <a:p>
            <a:endParaRPr/>
          </a:p>
          <a:p>
            <a:r>
              <a:t>Deployment is practical: you push it with the tools you already use, such as Intune, Jamf or JumpCloud, and manage it with warp-cli.</a:t>
            </a:r>
          </a:p>
          <a:p>
            <a:endParaRPr/>
          </a:p>
          <a:p>
            <a:r>
              <a:t>To be clear about what it is: the client forwards traffic and reports posture. Inspection happens in Cloudflare Gateway on the edge, close to the user, which keeps endpoints light, but it also means we plan carefully for split-tunnel exclusions.</a:t>
            </a:r>
          </a:p>
          <a:p>
            <a:endParaRPr/>
          </a:p>
          <a:p>
            <a:r>
              <a:t>CUE: IF ASKED 'why not an on-device inspection agent?' -&gt; 'Lighter endpoint and centrally managed policy; inspection at a nearby edge keeps the added hop small. We can measure latency from your sites in the pilot.'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13 | start 20:00 | about 2.5 min]</a:t>
            </a:r>
          </a:p>
          <a:p>
            <a:endParaRPr dirty="0"/>
          </a:p>
          <a:p>
            <a:r>
              <a:rPr dirty="0"/>
              <a:t>The fourth building block is Browser Isolation. It starts from an honest assumption: someone will click on the wrong link eventually, no matter how much training you give them.</a:t>
            </a:r>
          </a:p>
          <a:p>
            <a:endParaRPr dirty="0"/>
          </a:p>
          <a:p>
            <a:r>
              <a:rPr dirty="0"/>
              <a:t>Normally, a web page's code runs inside the user's browser. With Browser Isolation, the page is loaded and executed in a remote browser in Cloudflare's network. What reaches the user's device is a safe rendering of the page, not the code. If the page is malicious, the malicious code never touches the laptop.</a:t>
            </a:r>
          </a:p>
          <a:p>
            <a:endParaRPr dirty="0"/>
          </a:p>
          <a:p>
            <a:r>
              <a:rPr dirty="0"/>
              <a:t>It is turned on through Gateway HTTP policies with the Isolate action. Nothing is isolated until you write a policy, so you choose where it adds value: </a:t>
            </a:r>
            <a:r>
              <a:rPr dirty="0" err="1"/>
              <a:t>uncategorised</a:t>
            </a:r>
            <a:r>
              <a:rPr dirty="0"/>
              <a:t> or newly seen sites, risky categories, or links in email. You can add controls on what users can do inside the isolated page, such as copy and paste, uploads, downloads and printing.</a:t>
            </a:r>
          </a:p>
          <a:p>
            <a:endParaRPr dirty="0"/>
          </a:p>
          <a:p>
            <a:r>
              <a:rPr dirty="0"/>
              <a:t>There is also a clientless mode: a contractor opens a link on your Cloudflare Access domain and the target application loads in a remote browser, with no software to install and no data left on their unmanaged device.</a:t>
            </a:r>
          </a:p>
          <a:p>
            <a:endParaRPr dirty="0"/>
          </a:p>
          <a:p>
            <a:r>
              <a:rPr dirty="0"/>
              <a:t>Plain language: instead of inspecting a suspicious package for danger, we open it in a safe room and show you a photograph of the contents.</a:t>
            </a:r>
          </a:p>
          <a:p>
            <a:endParaRPr dirty="0"/>
          </a:p>
          <a:p>
            <a:r>
              <a:rPr dirty="0"/>
              <a:t>CUE: Offer a mini-demo if time allows: open a test site through an isolated session and show the simplified right-click menu and the Cloudflare certificate in the padlock.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start 22:30 | about 2 min]</a:t>
            </a:r>
          </a:p>
          <a:p>
            <a:endParaRPr/>
          </a:p>
          <a:p>
            <a:r>
              <a:t>Let me bring the pieces together with a story. Maria, a finance analyst at Meridian, is working from a coffee shop and receives a convincing email about an invoice.</a:t>
            </a:r>
          </a:p>
          <a:p>
            <a:endParaRPr/>
          </a:p>
          <a:p>
            <a:r>
              <a:t>Layer one, email security screens the message and can isolate the link. Layer two, if she clicks anyway, Gateway DNS filtering blocks the domain if it is known to be malicious. If the domain is brand new and unknown, an Isolate policy opens it in a remote browser, so any malicious code never reaches her laptop. Layer three, if an attacker somehow obtains her password, Access still requires multi-factor authentication and a compliant device, so the stolen credential from another machine is useless. Layer four, DLP can stop sensitive data being uploaded to a personal storage site. Layer five, all of this is logged and sent to your SIEM, and an integration with your endpoint tool can revoke the session automatically if a compromise is detected.</a:t>
            </a:r>
          </a:p>
          <a:p>
            <a:endParaRPr/>
          </a:p>
          <a:p>
            <a:r>
              <a:t>No single control is perfect. The value is that each layer covers the others, and all of them come from one platform and one policy engine.</a:t>
            </a:r>
          </a:p>
          <a:p>
            <a:endParaRPr/>
          </a:p>
          <a:p>
            <a:r>
              <a:t>CUE: Tell it as a story; slow down. This is the 'value-selling' centrepiece the panel is assessing.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start 24:30 | about 1 min]</a:t>
            </a:r>
          </a:p>
          <a:p>
            <a:endParaRPr/>
          </a:p>
          <a:p>
            <a:r>
              <a:t>A question I always get is: do we have to rip and replace? The answer is no. Cloudflare One is designed to work with what you already have.</a:t>
            </a:r>
          </a:p>
          <a:p>
            <a:endParaRPr/>
          </a:p>
          <a:p>
            <a:r>
              <a:t>Identity: Entra ID, Okta, Google and any SAML or OIDC provider. Endpoint: device posture signals from tools like CrowdStrike, with deployment through Intune, Jamf or JumpCloud. SOC: logs stream through Logpush into your SIEM, and there are documented reference architectures with CrowdStrike. And automation: everything is API-driven with a Terraform provider.</a:t>
            </a:r>
          </a:p>
          <a:p>
            <a:endParaRPr/>
          </a:p>
          <a:p>
            <a:r>
              <a:t>So Cloudflare complements your endpoint detection rather than replacing it. It enforces at the network and session layer, and your endpoint and SOC tools keep detecting.</a:t>
            </a:r>
          </a:p>
          <a:p>
            <a:endParaRPr/>
          </a:p>
          <a:p>
            <a:r>
              <a:t>CUE: This slide pre-empts the 'what about CrowdStrike / Zscaler / Netskope?' objection. Position as complementary; never claim to replace EDR.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start 25:30 | about 2 min]</a:t>
            </a:r>
          </a:p>
          <a:p>
            <a:endParaRPr/>
          </a:p>
          <a:p>
            <a:r>
              <a:t>Here is how I would suggest we get there, in three phases. The timings are illustrative, and we would refine them together.</a:t>
            </a:r>
          </a:p>
          <a:p>
            <a:endParaRPr/>
          </a:p>
          <a:p>
            <a:r>
              <a:t>Phase one, the first month: quick wins. Deploy the Client to a pilot group, turn on DNS filtering and baseline gateway policies, in log-only mode first, and connect logs to your SIEM. You get visibility and immediate threat protection without changing how anyone works.</a:t>
            </a:r>
          </a:p>
          <a:p>
            <a:endParaRPr/>
          </a:p>
          <a:p>
            <a:r>
              <a:t>Phase two, weeks four to twelve: replace the VPN. Put Tunnel and Access in front of your highest-value private applications, add device posture rules, and onboard contractors through clientless access.</a:t>
            </a:r>
          </a:p>
          <a:p>
            <a:endParaRPr/>
          </a:p>
          <a:p>
            <a:r>
              <a:t>Phase three, from the second quarter: go deeper. Add Browser Isolation for high-risk activity, DLP and CASB for data protection, email security, and Cloudflare WAN to connect branches and retire legacy circuits.</a:t>
            </a:r>
          </a:p>
          <a:p>
            <a:endParaRPr/>
          </a:p>
          <a:p>
            <a:r>
              <a:t>Each phase delivers value on its own, so you are never waiting for a big-bang project.</a:t>
            </a:r>
          </a:p>
          <a:p>
            <a:endParaRPr/>
          </a:p>
          <a:p>
            <a:r>
              <a:t>CUE: Ask: 'Which application would you want to move off the VPN first?' This turns the roadmap into the customer's plan.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start 27:30 | about 1.5 min]</a:t>
            </a:r>
          </a:p>
          <a:p>
            <a:endParaRPr/>
          </a:p>
          <a:p>
            <a:r>
              <a:t>To summarise what Meridian gains. Lower risk: no more flat network access, and layered protection that follows users anywhere. A better experience: faster, simpler access, and no VPN for most applications. Lower cost and complexity: fewer vendors and consoles, with room to retire hardware over time. And audit readiness: per-request logs for every application and decision.</a:t>
            </a:r>
          </a:p>
          <a:p>
            <a:endParaRPr/>
          </a:p>
          <a:p>
            <a:r>
              <a:t>I suggest four next steps. One: a discovery workshop to inventory applications, users and the current VPN setup. Two: a 30-day proof of value with a pilot group, with success criteria we agree upfront. Three: a business case built on your numbers. Four: a rollout plan following the phases we just saw.</a:t>
            </a:r>
          </a:p>
          <a:p>
            <a:endParaRPr/>
          </a:p>
          <a:p>
            <a:r>
              <a:t>Thank you. I would love to take your questions.</a:t>
            </a:r>
          </a:p>
          <a:p>
            <a:endParaRPr/>
          </a:p>
          <a:p>
            <a:r>
              <a:t>CUE: Close with a clear ask. Then smile, stop talking and invite questions. Do not add new content after the ask.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start 29:00 | about 1 min]</a:t>
            </a:r>
          </a:p>
          <a:p>
            <a:endParaRPr/>
          </a:p>
          <a:p>
            <a:r>
              <a:t>Thank you again. I am happy to take questions, to go deeper on any building block, or to walk through the product.</a:t>
            </a:r>
          </a:p>
          <a:p>
            <a:endParaRPr/>
          </a:p>
          <a:p>
            <a:r>
              <a:t>CUE: Leave this slide up during Q&amp;A. Have the appendix Q&amp;A prep open.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94AB-F402-5552-BBCC-67EA097F49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E01296-E368-0370-EDE4-E49BF206670F}"/>
              </a:ext>
            </a:extLst>
          </p:cNvPr>
          <p:cNvSpPr>
            <a:spLocks noGrp="1"/>
          </p:cNvSpPr>
          <p:nvPr>
            <p:ph type="dt" sz="half" idx="10"/>
          </p:nvPr>
        </p:nvSpPr>
        <p:spPr/>
        <p:txBody>
          <a:bodyPr/>
          <a:lstStyle/>
          <a:p>
            <a:fld id="{A06059B4-96DC-44F8-93BA-CDED4FBE6BC8}" type="datetimeFigureOut">
              <a:rPr lang="en-US" smtClean="0"/>
              <a:t>10/24/2026</a:t>
            </a:fld>
            <a:endParaRPr lang="en-US"/>
          </a:p>
        </p:txBody>
      </p:sp>
      <p:sp>
        <p:nvSpPr>
          <p:cNvPr id="4" name="Footer Placeholder 3">
            <a:extLst>
              <a:ext uri="{FF2B5EF4-FFF2-40B4-BE49-F238E27FC236}">
                <a16:creationId xmlns:a16="http://schemas.microsoft.com/office/drawing/2014/main" id="{BA9636E5-3E2A-A0AB-D5C1-C5B0CE8A6A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113B18-40EB-977D-20A6-33BA8726E935}"/>
              </a:ext>
            </a:extLst>
          </p:cNvPr>
          <p:cNvSpPr>
            <a:spLocks noGrp="1"/>
          </p:cNvSpPr>
          <p:nvPr>
            <p:ph type="sldNum" sz="quarter" idx="12"/>
          </p:nvPr>
        </p:nvSpPr>
        <p:spPr/>
        <p:txBody>
          <a:bodyPr/>
          <a:lstStyle/>
          <a:p>
            <a:fld id="{6D4F282E-8E0F-42E4-88D0-1A33274414B9}" type="slidenum">
              <a:rPr lang="en-US" smtClean="0"/>
              <a:t>‹#›</a:t>
            </a:fld>
            <a:endParaRPr lang="en-US"/>
          </a:p>
        </p:txBody>
      </p:sp>
    </p:spTree>
    <p:extLst>
      <p:ext uri="{BB962C8B-B14F-4D97-AF65-F5344CB8AC3E}">
        <p14:creationId xmlns:p14="http://schemas.microsoft.com/office/powerpoint/2010/main" val="188152210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B699CD-4AB2-2A98-667F-F872082403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EBC47B-DF58-3151-2FE4-6AA82B93C9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CDCF7-27C4-1996-EFB9-D690B24CD3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6059B4-96DC-44F8-93BA-CDED4FBE6BC8}" type="datetimeFigureOut">
              <a:rPr lang="en-US" smtClean="0"/>
              <a:t>10/24/2026</a:t>
            </a:fld>
            <a:endParaRPr lang="en-US"/>
          </a:p>
        </p:txBody>
      </p:sp>
      <p:sp>
        <p:nvSpPr>
          <p:cNvPr id="5" name="Footer Placeholder 4">
            <a:extLst>
              <a:ext uri="{FF2B5EF4-FFF2-40B4-BE49-F238E27FC236}">
                <a16:creationId xmlns:a16="http://schemas.microsoft.com/office/drawing/2014/main" id="{D53C9CD6-2FA0-65C1-F804-432E739D1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076C6E-A2A0-A6DB-863A-D52EB05A94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4F282E-8E0F-42E4-88D0-1A33274414B9}" type="slidenum">
              <a:rPr lang="en-US" smtClean="0"/>
              <a:t>‹#›</a:t>
            </a:fld>
            <a:endParaRPr lang="en-US"/>
          </a:p>
        </p:txBody>
      </p:sp>
      <p:sp>
        <p:nvSpPr>
          <p:cNvPr id="8" name="TextBox 7">
            <a:extLst>
              <a:ext uri="{FF2B5EF4-FFF2-40B4-BE49-F238E27FC236}">
                <a16:creationId xmlns:a16="http://schemas.microsoft.com/office/drawing/2014/main" id="{FE5E3CA2-EEAC-A41B-5B2F-DBD9C6BEE84D}"/>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347451102"/>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8.jp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8.jp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3.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8.jp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13.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7.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1828800"/>
            <a:ext cx="8778240" cy="2011680"/>
          </a:xfrm>
        </p:spPr>
        <p:txBody>
          <a:bodyPr wrap="square" lIns="0" tIns="0" rIns="0" bIns="0" anchor="t"/>
          <a:lstStyle/>
          <a:p>
            <a:r>
              <a:rPr sz="4400" b="1" dirty="0">
                <a:solidFill>
                  <a:srgbClr val="FFFFFF"/>
                </a:solidFill>
                <a:latin typeface="Arial"/>
              </a:rPr>
              <a:t>Securing how </a:t>
            </a:r>
            <a:r>
              <a:rPr lang="en-US" sz="4400" b="1" dirty="0">
                <a:solidFill>
                  <a:srgbClr val="FFFFFF"/>
                </a:solidFill>
                <a:latin typeface="Arial"/>
              </a:rPr>
              <a:t>E-bikes LTD</a:t>
            </a:r>
            <a:r>
              <a:rPr sz="4400" b="1" dirty="0">
                <a:solidFill>
                  <a:srgbClr val="FFFFFF"/>
                </a:solidFill>
                <a:latin typeface="Arial"/>
              </a:rPr>
              <a:t> connects people to applications</a:t>
            </a:r>
          </a:p>
        </p:txBody>
      </p:sp>
      <p:sp>
        <p:nvSpPr>
          <p:cNvPr id="4" name="Subtitle"/>
          <p:cNvSpPr txBox="1"/>
          <p:nvPr/>
        </p:nvSpPr>
        <p:spPr>
          <a:xfrm>
            <a:off x="365760" y="3977639"/>
            <a:ext cx="8229600" cy="822960"/>
          </a:xfrm>
          <a:prstGeom prst="rect">
            <a:avLst/>
          </a:prstGeom>
          <a:noFill/>
        </p:spPr>
        <p:txBody>
          <a:bodyPr wrap="square" lIns="0" tIns="0" rIns="0" bIns="0" anchor="t">
            <a:spAutoFit/>
          </a:bodyPr>
          <a:lstStyle/>
          <a:p>
            <a:pPr algn="l"/>
            <a:r>
              <a:rPr sz="2000" b="0" i="0" dirty="0">
                <a:solidFill>
                  <a:srgbClr val="FFFFFF"/>
                </a:solidFill>
                <a:latin typeface="Arial"/>
              </a:rPr>
              <a:t>Cloudflare value proposition and Zero Trust: Access, Gateway, ZTNA, Cloudflare One Client and Browser Isolation</a:t>
            </a:r>
          </a:p>
        </p:txBody>
      </p:sp>
      <p:sp>
        <p:nvSpPr>
          <p:cNvPr id="5" name="Date line"/>
          <p:cNvSpPr txBox="1"/>
          <p:nvPr/>
        </p:nvSpPr>
        <p:spPr>
          <a:xfrm>
            <a:off x="365760" y="5760720"/>
            <a:ext cx="7315200" cy="246221"/>
          </a:xfrm>
          <a:prstGeom prst="rect">
            <a:avLst/>
          </a:prstGeom>
          <a:noFill/>
        </p:spPr>
        <p:txBody>
          <a:bodyPr wrap="square" lIns="0" tIns="0" rIns="0" bIns="0" anchor="t">
            <a:spAutoFit/>
          </a:bodyPr>
          <a:lstStyle/>
          <a:p>
            <a:pPr algn="l"/>
            <a:r>
              <a:rPr lang="en-US" sz="1600" b="1" i="0" dirty="0">
                <a:solidFill>
                  <a:srgbClr val="1F1F1F"/>
                </a:solidFill>
                <a:latin typeface="Arial"/>
              </a:rPr>
              <a:t>Youssef Salem | Senior </a:t>
            </a:r>
            <a:r>
              <a:rPr sz="1600" b="1" i="0" dirty="0">
                <a:solidFill>
                  <a:srgbClr val="1F1F1F"/>
                </a:solidFill>
                <a:latin typeface="Arial"/>
              </a:rPr>
              <a:t>Customer </a:t>
            </a:r>
            <a:r>
              <a:rPr lang="en-US" sz="1600" b="1" dirty="0">
                <a:solidFill>
                  <a:srgbClr val="1F1F1F"/>
                </a:solidFill>
                <a:latin typeface="Arial"/>
              </a:rPr>
              <a:t>Engineer</a:t>
            </a:r>
            <a:r>
              <a:rPr sz="1600" b="1" i="0" dirty="0">
                <a:solidFill>
                  <a:srgbClr val="1F1F1F"/>
                </a:solidFill>
                <a:latin typeface="Arial"/>
              </a:rPr>
              <a:t>  |  </a:t>
            </a:r>
            <a:r>
              <a:rPr lang="en-US" sz="1600" b="1" i="0" dirty="0">
                <a:solidFill>
                  <a:srgbClr val="1F1F1F"/>
                </a:solidFill>
                <a:latin typeface="Arial"/>
              </a:rPr>
              <a:t>November</a:t>
            </a:r>
            <a:r>
              <a:rPr sz="1600" b="1" i="0" dirty="0">
                <a:solidFill>
                  <a:srgbClr val="1F1F1F"/>
                </a:solidFill>
                <a:latin typeface="Arial"/>
              </a:rP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5486400" cy="914400"/>
          </a:xfrm>
        </p:spPr>
        <p:txBody>
          <a:bodyPr wrap="square" lIns="0" tIns="0" rIns="0" bIns="0" anchor="t"/>
          <a:lstStyle/>
          <a:p>
            <a:r>
              <a:rPr sz="5400" b="1">
                <a:solidFill>
                  <a:srgbClr val="F6821F"/>
                </a:solidFill>
                <a:latin typeface="Arial"/>
              </a:rPr>
              <a:t>Agenda</a:t>
            </a:r>
          </a:p>
        </p:txBody>
      </p:sp>
      <p:sp>
        <p:nvSpPr>
          <p:cNvPr id="4" name="Agenda number 1"/>
          <p:cNvSpPr txBox="1"/>
          <p:nvPr/>
        </p:nvSpPr>
        <p:spPr>
          <a:xfrm>
            <a:off x="365760" y="1828800"/>
            <a:ext cx="457200" cy="548640"/>
          </a:xfrm>
          <a:prstGeom prst="rect">
            <a:avLst/>
          </a:prstGeom>
          <a:noFill/>
        </p:spPr>
        <p:txBody>
          <a:bodyPr wrap="square" lIns="0" tIns="0" rIns="0" bIns="0" anchor="ctr">
            <a:spAutoFit/>
          </a:bodyPr>
          <a:lstStyle/>
          <a:p>
            <a:pPr algn="l"/>
            <a:r>
              <a:rPr sz="2400" b="1" i="0">
                <a:solidFill>
                  <a:srgbClr val="6B7355"/>
                </a:solidFill>
                <a:latin typeface="Arial"/>
              </a:rPr>
              <a:t>1</a:t>
            </a:r>
          </a:p>
        </p:txBody>
      </p:sp>
      <p:sp>
        <p:nvSpPr>
          <p:cNvPr id="5" name="Agenda item 1"/>
          <p:cNvSpPr txBox="1"/>
          <p:nvPr/>
        </p:nvSpPr>
        <p:spPr>
          <a:xfrm>
            <a:off x="1097280" y="1933843"/>
            <a:ext cx="6035040" cy="338554"/>
          </a:xfrm>
          <a:prstGeom prst="rect">
            <a:avLst/>
          </a:prstGeom>
          <a:noFill/>
        </p:spPr>
        <p:txBody>
          <a:bodyPr wrap="square" lIns="0" tIns="0" rIns="0" bIns="0" anchor="ctr">
            <a:spAutoFit/>
          </a:bodyPr>
          <a:lstStyle/>
          <a:p>
            <a:pPr algn="l"/>
            <a:r>
              <a:rPr sz="2200" b="0" i="0" dirty="0">
                <a:solidFill>
                  <a:srgbClr val="1F1F1F"/>
                </a:solidFill>
                <a:latin typeface="Arial"/>
              </a:rPr>
              <a:t>What we understood about </a:t>
            </a:r>
            <a:r>
              <a:rPr lang="en-US" sz="2200" b="0" i="0" dirty="0">
                <a:solidFill>
                  <a:srgbClr val="1F1F1F"/>
                </a:solidFill>
                <a:latin typeface="Arial"/>
              </a:rPr>
              <a:t>E-bikes</a:t>
            </a:r>
            <a:endParaRPr sz="2200" b="0" i="0" dirty="0">
              <a:solidFill>
                <a:srgbClr val="1F1F1F"/>
              </a:solidFill>
              <a:latin typeface="Arial"/>
            </a:endParaRPr>
          </a:p>
        </p:txBody>
      </p:sp>
      <p:sp>
        <p:nvSpPr>
          <p:cNvPr id="7" name="Agenda number 2"/>
          <p:cNvSpPr txBox="1"/>
          <p:nvPr/>
        </p:nvSpPr>
        <p:spPr>
          <a:xfrm>
            <a:off x="365760" y="2542032"/>
            <a:ext cx="457200" cy="548640"/>
          </a:xfrm>
          <a:prstGeom prst="rect">
            <a:avLst/>
          </a:prstGeom>
          <a:noFill/>
        </p:spPr>
        <p:txBody>
          <a:bodyPr wrap="square" lIns="0" tIns="0" rIns="0" bIns="0" anchor="ctr">
            <a:spAutoFit/>
          </a:bodyPr>
          <a:lstStyle/>
          <a:p>
            <a:pPr algn="l"/>
            <a:r>
              <a:rPr sz="2400" b="1" i="0">
                <a:solidFill>
                  <a:srgbClr val="6B7355"/>
                </a:solidFill>
                <a:latin typeface="Arial"/>
              </a:rPr>
              <a:t>2</a:t>
            </a:r>
          </a:p>
        </p:txBody>
      </p:sp>
      <p:sp>
        <p:nvSpPr>
          <p:cNvPr id="8" name="Agenda item 2"/>
          <p:cNvSpPr txBox="1"/>
          <p:nvPr/>
        </p:nvSpPr>
        <p:spPr>
          <a:xfrm>
            <a:off x="1097280" y="2542032"/>
            <a:ext cx="6035040" cy="548640"/>
          </a:xfrm>
          <a:prstGeom prst="rect">
            <a:avLst/>
          </a:prstGeom>
          <a:noFill/>
        </p:spPr>
        <p:txBody>
          <a:bodyPr wrap="square" lIns="0" tIns="0" rIns="0" bIns="0" anchor="ctr">
            <a:spAutoFit/>
          </a:bodyPr>
          <a:lstStyle/>
          <a:p>
            <a:pPr algn="l"/>
            <a:r>
              <a:rPr sz="2200" b="0" i="0">
                <a:solidFill>
                  <a:srgbClr val="1F1F1F"/>
                </a:solidFill>
                <a:latin typeface="Arial"/>
              </a:rPr>
              <a:t>Why Cloudflare</a:t>
            </a:r>
          </a:p>
        </p:txBody>
      </p:sp>
      <p:sp>
        <p:nvSpPr>
          <p:cNvPr id="10" name="Agenda number 3"/>
          <p:cNvSpPr txBox="1"/>
          <p:nvPr/>
        </p:nvSpPr>
        <p:spPr>
          <a:xfrm>
            <a:off x="365760" y="3255264"/>
            <a:ext cx="457200" cy="548640"/>
          </a:xfrm>
          <a:prstGeom prst="rect">
            <a:avLst/>
          </a:prstGeom>
          <a:noFill/>
        </p:spPr>
        <p:txBody>
          <a:bodyPr wrap="square" lIns="0" tIns="0" rIns="0" bIns="0" anchor="ctr">
            <a:spAutoFit/>
          </a:bodyPr>
          <a:lstStyle/>
          <a:p>
            <a:pPr algn="l"/>
            <a:r>
              <a:rPr sz="2400" b="1" i="0">
                <a:solidFill>
                  <a:srgbClr val="6B7355"/>
                </a:solidFill>
                <a:latin typeface="Arial"/>
              </a:rPr>
              <a:t>3</a:t>
            </a:r>
          </a:p>
        </p:txBody>
      </p:sp>
      <p:sp>
        <p:nvSpPr>
          <p:cNvPr id="11" name="Agenda item 3"/>
          <p:cNvSpPr txBox="1"/>
          <p:nvPr/>
        </p:nvSpPr>
        <p:spPr>
          <a:xfrm>
            <a:off x="1097280" y="3255264"/>
            <a:ext cx="6035040" cy="548640"/>
          </a:xfrm>
          <a:prstGeom prst="rect">
            <a:avLst/>
          </a:prstGeom>
          <a:noFill/>
        </p:spPr>
        <p:txBody>
          <a:bodyPr wrap="square" lIns="0" tIns="0" rIns="0" bIns="0" anchor="ctr">
            <a:spAutoFit/>
          </a:bodyPr>
          <a:lstStyle/>
          <a:p>
            <a:pPr algn="l"/>
            <a:r>
              <a:rPr sz="2200" b="0" i="0">
                <a:solidFill>
                  <a:srgbClr val="1F1F1F"/>
                </a:solidFill>
                <a:latin typeface="Arial"/>
              </a:rPr>
              <a:t>The Cloudflare One platform</a:t>
            </a:r>
          </a:p>
        </p:txBody>
      </p:sp>
      <p:sp>
        <p:nvSpPr>
          <p:cNvPr id="13" name="Agenda number 4"/>
          <p:cNvSpPr txBox="1"/>
          <p:nvPr/>
        </p:nvSpPr>
        <p:spPr>
          <a:xfrm>
            <a:off x="365760" y="3968496"/>
            <a:ext cx="457200" cy="548640"/>
          </a:xfrm>
          <a:prstGeom prst="rect">
            <a:avLst/>
          </a:prstGeom>
          <a:noFill/>
        </p:spPr>
        <p:txBody>
          <a:bodyPr wrap="square" lIns="0" tIns="0" rIns="0" bIns="0" anchor="ctr">
            <a:spAutoFit/>
          </a:bodyPr>
          <a:lstStyle/>
          <a:p>
            <a:pPr algn="l"/>
            <a:r>
              <a:rPr sz="2400" b="1" i="0">
                <a:solidFill>
                  <a:srgbClr val="6B7355"/>
                </a:solidFill>
                <a:latin typeface="Arial"/>
              </a:rPr>
              <a:t>4</a:t>
            </a:r>
          </a:p>
        </p:txBody>
      </p:sp>
      <p:sp>
        <p:nvSpPr>
          <p:cNvPr id="14" name="Agenda item 4"/>
          <p:cNvSpPr txBox="1"/>
          <p:nvPr/>
        </p:nvSpPr>
        <p:spPr>
          <a:xfrm>
            <a:off x="1097280" y="3968496"/>
            <a:ext cx="6035040" cy="548640"/>
          </a:xfrm>
          <a:prstGeom prst="rect">
            <a:avLst/>
          </a:prstGeom>
          <a:noFill/>
        </p:spPr>
        <p:txBody>
          <a:bodyPr wrap="square" lIns="0" tIns="0" rIns="0" bIns="0" anchor="ctr">
            <a:spAutoFit/>
          </a:bodyPr>
          <a:lstStyle/>
          <a:p>
            <a:pPr algn="l"/>
            <a:r>
              <a:rPr sz="2200" b="0" i="0">
                <a:solidFill>
                  <a:srgbClr val="1F1F1F"/>
                </a:solidFill>
                <a:latin typeface="Arial"/>
              </a:rPr>
              <a:t>Zero Trust access: Access, Tunnel and ZTNA</a:t>
            </a:r>
          </a:p>
        </p:txBody>
      </p:sp>
      <p:sp>
        <p:nvSpPr>
          <p:cNvPr id="16" name="Agenda number 5"/>
          <p:cNvSpPr txBox="1"/>
          <p:nvPr/>
        </p:nvSpPr>
        <p:spPr>
          <a:xfrm>
            <a:off x="365760" y="4681728"/>
            <a:ext cx="457200" cy="548640"/>
          </a:xfrm>
          <a:prstGeom prst="rect">
            <a:avLst/>
          </a:prstGeom>
          <a:noFill/>
        </p:spPr>
        <p:txBody>
          <a:bodyPr wrap="square" lIns="0" tIns="0" rIns="0" bIns="0" anchor="ctr">
            <a:spAutoFit/>
          </a:bodyPr>
          <a:lstStyle/>
          <a:p>
            <a:pPr algn="l"/>
            <a:r>
              <a:rPr sz="2400" b="1" i="0">
                <a:solidFill>
                  <a:srgbClr val="6B7355"/>
                </a:solidFill>
                <a:latin typeface="Arial"/>
              </a:rPr>
              <a:t>5</a:t>
            </a:r>
          </a:p>
        </p:txBody>
      </p:sp>
      <p:sp>
        <p:nvSpPr>
          <p:cNvPr id="17" name="Agenda item 5"/>
          <p:cNvSpPr txBox="1"/>
          <p:nvPr/>
        </p:nvSpPr>
        <p:spPr>
          <a:xfrm>
            <a:off x="1097280" y="4681728"/>
            <a:ext cx="6035040" cy="548640"/>
          </a:xfrm>
          <a:prstGeom prst="rect">
            <a:avLst/>
          </a:prstGeom>
          <a:noFill/>
        </p:spPr>
        <p:txBody>
          <a:bodyPr wrap="square" lIns="0" tIns="0" rIns="0" bIns="0" anchor="ctr">
            <a:spAutoFit/>
          </a:bodyPr>
          <a:lstStyle/>
          <a:p>
            <a:pPr algn="l"/>
            <a:r>
              <a:rPr sz="2200" b="0" i="0">
                <a:solidFill>
                  <a:srgbClr val="1F1F1F"/>
                </a:solidFill>
                <a:latin typeface="Arial"/>
              </a:rPr>
              <a:t>Gateway, the Client and Browser Isolation</a:t>
            </a:r>
          </a:p>
        </p:txBody>
      </p:sp>
      <p:sp>
        <p:nvSpPr>
          <p:cNvPr id="19" name="Agenda number 6"/>
          <p:cNvSpPr txBox="1"/>
          <p:nvPr/>
        </p:nvSpPr>
        <p:spPr>
          <a:xfrm>
            <a:off x="365760" y="5394960"/>
            <a:ext cx="457200" cy="548640"/>
          </a:xfrm>
          <a:prstGeom prst="rect">
            <a:avLst/>
          </a:prstGeom>
          <a:noFill/>
        </p:spPr>
        <p:txBody>
          <a:bodyPr wrap="square" lIns="0" tIns="0" rIns="0" bIns="0" anchor="ctr">
            <a:spAutoFit/>
          </a:bodyPr>
          <a:lstStyle/>
          <a:p>
            <a:pPr algn="l"/>
            <a:r>
              <a:rPr sz="2400" b="1" i="0">
                <a:solidFill>
                  <a:srgbClr val="6B7355"/>
                </a:solidFill>
                <a:latin typeface="Arial"/>
              </a:rPr>
              <a:t>6</a:t>
            </a:r>
          </a:p>
        </p:txBody>
      </p:sp>
      <p:sp>
        <p:nvSpPr>
          <p:cNvPr id="20" name="Agenda item 6"/>
          <p:cNvSpPr txBox="1"/>
          <p:nvPr/>
        </p:nvSpPr>
        <p:spPr>
          <a:xfrm>
            <a:off x="1097280" y="5394960"/>
            <a:ext cx="6035040" cy="548640"/>
          </a:xfrm>
          <a:prstGeom prst="rect">
            <a:avLst/>
          </a:prstGeom>
          <a:noFill/>
        </p:spPr>
        <p:txBody>
          <a:bodyPr wrap="square" lIns="0" tIns="0" rIns="0" bIns="0" anchor="ctr">
            <a:spAutoFit/>
          </a:bodyPr>
          <a:lstStyle/>
          <a:p>
            <a:pPr algn="l"/>
            <a:r>
              <a:rPr sz="2200" b="0" i="0">
                <a:solidFill>
                  <a:srgbClr val="1F1F1F"/>
                </a:solidFill>
                <a:latin typeface="Arial"/>
              </a:rPr>
              <a:t>Scenario, roadmap and next steps</a:t>
            </a:r>
          </a:p>
        </p:txBody>
      </p:sp>
      <p:sp>
        <p:nvSpPr>
          <p:cNvPr id="22"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lang="en-US" sz="2800" b="1" dirty="0">
                <a:solidFill>
                  <a:srgbClr val="1F1F1F"/>
                </a:solidFill>
                <a:latin typeface="Arial"/>
              </a:rPr>
              <a:t>E-Bike’s</a:t>
            </a:r>
            <a:r>
              <a:rPr sz="2800" b="1" dirty="0">
                <a:solidFill>
                  <a:srgbClr val="1F1F1F"/>
                </a:solidFill>
                <a:latin typeface="Arial"/>
              </a:rPr>
              <a:t> challenges today</a:t>
            </a:r>
          </a:p>
        </p:txBody>
      </p:sp>
      <p:sp>
        <p:nvSpPr>
          <p:cNvPr id="4" name="Icon circle"/>
          <p:cNvSpPr/>
          <p:nvPr/>
        </p:nvSpPr>
        <p:spPr>
          <a:xfrm>
            <a:off x="411480" y="1783080"/>
            <a:ext cx="685800" cy="68580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Icon FaLock"/>
          <p:cNvPicPr>
            <a:picLocks noChangeAspect="1"/>
          </p:cNvPicPr>
          <p:nvPr/>
        </p:nvPicPr>
        <p:blipFill>
          <a:blip r:embed="rId4"/>
          <a:stretch>
            <a:fillRect/>
          </a:stretch>
        </p:blipFill>
        <p:spPr>
          <a:xfrm>
            <a:off x="562356" y="1933955"/>
            <a:ext cx="384048" cy="384048"/>
          </a:xfrm>
          <a:prstGeom prst="rect">
            <a:avLst/>
          </a:prstGeom>
        </p:spPr>
      </p:pic>
      <p:sp>
        <p:nvSpPr>
          <p:cNvPr id="6" name="Challenge 1 heading"/>
          <p:cNvSpPr txBox="1"/>
          <p:nvPr/>
        </p:nvSpPr>
        <p:spPr>
          <a:xfrm>
            <a:off x="1325880" y="1764792"/>
            <a:ext cx="7040880" cy="365760"/>
          </a:xfrm>
          <a:prstGeom prst="rect">
            <a:avLst/>
          </a:prstGeom>
          <a:noFill/>
        </p:spPr>
        <p:txBody>
          <a:bodyPr wrap="square" lIns="0" tIns="0" rIns="0" bIns="0" anchor="t">
            <a:spAutoFit/>
          </a:bodyPr>
          <a:lstStyle/>
          <a:p>
            <a:pPr algn="l"/>
            <a:r>
              <a:rPr sz="1900" b="1" i="0">
                <a:solidFill>
                  <a:srgbClr val="1F1F1F"/>
                </a:solidFill>
                <a:latin typeface="Arial"/>
              </a:rPr>
              <a:t>VPN friction and risk</a:t>
            </a:r>
          </a:p>
        </p:txBody>
      </p:sp>
      <p:sp>
        <p:nvSpPr>
          <p:cNvPr id="7" name="Challenge 1 text"/>
          <p:cNvSpPr txBox="1"/>
          <p:nvPr/>
        </p:nvSpPr>
        <p:spPr>
          <a:xfrm>
            <a:off x="1325880" y="2148840"/>
            <a:ext cx="7040880" cy="594360"/>
          </a:xfrm>
          <a:prstGeom prst="rect">
            <a:avLst/>
          </a:prstGeom>
          <a:noFill/>
        </p:spPr>
        <p:txBody>
          <a:bodyPr wrap="square" lIns="0" tIns="0" rIns="0" bIns="0" anchor="t">
            <a:spAutoFit/>
          </a:bodyPr>
          <a:lstStyle/>
          <a:p>
            <a:pPr algn="l"/>
            <a:r>
              <a:rPr sz="1500" b="0" i="0">
                <a:solidFill>
                  <a:srgbClr val="595959"/>
                </a:solidFill>
                <a:latin typeface="Arial"/>
              </a:rPr>
              <a:t>Broad network access once connected, slow logins and backhauled traffic.</a:t>
            </a:r>
          </a:p>
        </p:txBody>
      </p:sp>
      <p:sp>
        <p:nvSpPr>
          <p:cNvPr id="8" name="Icon circle"/>
          <p:cNvSpPr/>
          <p:nvPr/>
        </p:nvSpPr>
        <p:spPr>
          <a:xfrm>
            <a:off x="411480" y="2880360"/>
            <a:ext cx="685800" cy="68580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con FaFish"/>
          <p:cNvPicPr>
            <a:picLocks noChangeAspect="1"/>
          </p:cNvPicPr>
          <p:nvPr/>
        </p:nvPicPr>
        <p:blipFill>
          <a:blip r:embed="rId5"/>
          <a:stretch>
            <a:fillRect/>
          </a:stretch>
        </p:blipFill>
        <p:spPr>
          <a:xfrm>
            <a:off x="562356" y="3031236"/>
            <a:ext cx="384048" cy="384048"/>
          </a:xfrm>
          <a:prstGeom prst="rect">
            <a:avLst/>
          </a:prstGeom>
        </p:spPr>
      </p:pic>
      <p:sp>
        <p:nvSpPr>
          <p:cNvPr id="10" name="Challenge 2 heading"/>
          <p:cNvSpPr txBox="1"/>
          <p:nvPr/>
        </p:nvSpPr>
        <p:spPr>
          <a:xfrm>
            <a:off x="1325880" y="2862072"/>
            <a:ext cx="7040880" cy="365760"/>
          </a:xfrm>
          <a:prstGeom prst="rect">
            <a:avLst/>
          </a:prstGeom>
          <a:noFill/>
        </p:spPr>
        <p:txBody>
          <a:bodyPr wrap="square" lIns="0" tIns="0" rIns="0" bIns="0" anchor="t">
            <a:spAutoFit/>
          </a:bodyPr>
          <a:lstStyle/>
          <a:p>
            <a:pPr algn="l"/>
            <a:r>
              <a:rPr sz="1900" b="1" i="0">
                <a:solidFill>
                  <a:srgbClr val="1F1F1F"/>
                </a:solidFill>
                <a:latin typeface="Arial"/>
              </a:rPr>
              <a:t>Web and phishing threats</a:t>
            </a:r>
          </a:p>
        </p:txBody>
      </p:sp>
      <p:sp>
        <p:nvSpPr>
          <p:cNvPr id="11" name="Challenge 2 text"/>
          <p:cNvSpPr txBox="1"/>
          <p:nvPr/>
        </p:nvSpPr>
        <p:spPr>
          <a:xfrm>
            <a:off x="1325880" y="3246120"/>
            <a:ext cx="7040880" cy="594360"/>
          </a:xfrm>
          <a:prstGeom prst="rect">
            <a:avLst/>
          </a:prstGeom>
          <a:noFill/>
        </p:spPr>
        <p:txBody>
          <a:bodyPr wrap="square" lIns="0" tIns="0" rIns="0" bIns="0" anchor="t">
            <a:spAutoFit/>
          </a:bodyPr>
          <a:lstStyle/>
          <a:p>
            <a:pPr algn="l"/>
            <a:r>
              <a:rPr sz="1500" b="0" i="0">
                <a:solidFill>
                  <a:srgbClr val="595959"/>
                </a:solidFill>
                <a:latin typeface="Arial"/>
              </a:rPr>
              <a:t>Users browse from home, hotels and airports with limited protection and visibility.</a:t>
            </a:r>
          </a:p>
        </p:txBody>
      </p:sp>
      <p:sp>
        <p:nvSpPr>
          <p:cNvPr id="12" name="Icon circle"/>
          <p:cNvSpPr/>
          <p:nvPr/>
        </p:nvSpPr>
        <p:spPr>
          <a:xfrm>
            <a:off x="411480" y="3977639"/>
            <a:ext cx="685800" cy="68580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con FaUserFriends"/>
          <p:cNvPicPr>
            <a:picLocks noChangeAspect="1"/>
          </p:cNvPicPr>
          <p:nvPr/>
        </p:nvPicPr>
        <p:blipFill>
          <a:blip r:embed="rId6"/>
          <a:stretch>
            <a:fillRect/>
          </a:stretch>
        </p:blipFill>
        <p:spPr>
          <a:xfrm>
            <a:off x="562356" y="4128515"/>
            <a:ext cx="384048" cy="384048"/>
          </a:xfrm>
          <a:prstGeom prst="rect">
            <a:avLst/>
          </a:prstGeom>
        </p:spPr>
      </p:pic>
      <p:sp>
        <p:nvSpPr>
          <p:cNvPr id="14" name="Challenge 3 heading"/>
          <p:cNvSpPr txBox="1"/>
          <p:nvPr/>
        </p:nvSpPr>
        <p:spPr>
          <a:xfrm>
            <a:off x="1325880" y="3959352"/>
            <a:ext cx="7040880" cy="365760"/>
          </a:xfrm>
          <a:prstGeom prst="rect">
            <a:avLst/>
          </a:prstGeom>
          <a:noFill/>
        </p:spPr>
        <p:txBody>
          <a:bodyPr wrap="square" lIns="0" tIns="0" rIns="0" bIns="0" anchor="t">
            <a:spAutoFit/>
          </a:bodyPr>
          <a:lstStyle/>
          <a:p>
            <a:pPr algn="l"/>
            <a:r>
              <a:rPr sz="1900" b="1" i="0">
                <a:solidFill>
                  <a:srgbClr val="1F1F1F"/>
                </a:solidFill>
                <a:latin typeface="Arial"/>
              </a:rPr>
              <a:t>Contractor and partner access</a:t>
            </a:r>
          </a:p>
        </p:txBody>
      </p:sp>
      <p:sp>
        <p:nvSpPr>
          <p:cNvPr id="15" name="Challenge 3 text"/>
          <p:cNvSpPr txBox="1"/>
          <p:nvPr/>
        </p:nvSpPr>
        <p:spPr>
          <a:xfrm>
            <a:off x="1325880" y="4343400"/>
            <a:ext cx="7040880" cy="594360"/>
          </a:xfrm>
          <a:prstGeom prst="rect">
            <a:avLst/>
          </a:prstGeom>
          <a:noFill/>
        </p:spPr>
        <p:txBody>
          <a:bodyPr wrap="square" lIns="0" tIns="0" rIns="0" bIns="0" anchor="t">
            <a:spAutoFit/>
          </a:bodyPr>
          <a:lstStyle/>
          <a:p>
            <a:pPr algn="l"/>
            <a:r>
              <a:rPr sz="1500" b="0" i="0">
                <a:solidFill>
                  <a:srgbClr val="595959"/>
                </a:solidFill>
                <a:latin typeface="Arial"/>
              </a:rPr>
              <a:t>Third parties need specific apps, but use devices you do not manage.</a:t>
            </a:r>
          </a:p>
        </p:txBody>
      </p:sp>
      <p:sp>
        <p:nvSpPr>
          <p:cNvPr id="16" name="Icon circle"/>
          <p:cNvSpPr/>
          <p:nvPr/>
        </p:nvSpPr>
        <p:spPr>
          <a:xfrm>
            <a:off x="411480" y="5074920"/>
            <a:ext cx="685800" cy="68580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con FaLayerGroup"/>
          <p:cNvPicPr>
            <a:picLocks noChangeAspect="1"/>
          </p:cNvPicPr>
          <p:nvPr/>
        </p:nvPicPr>
        <p:blipFill>
          <a:blip r:embed="rId7"/>
          <a:stretch>
            <a:fillRect/>
          </a:stretch>
        </p:blipFill>
        <p:spPr>
          <a:xfrm>
            <a:off x="562356" y="5225796"/>
            <a:ext cx="384048" cy="384048"/>
          </a:xfrm>
          <a:prstGeom prst="rect">
            <a:avLst/>
          </a:prstGeom>
        </p:spPr>
      </p:pic>
      <p:sp>
        <p:nvSpPr>
          <p:cNvPr id="18" name="Challenge 4 heading"/>
          <p:cNvSpPr txBox="1"/>
          <p:nvPr/>
        </p:nvSpPr>
        <p:spPr>
          <a:xfrm>
            <a:off x="1325880" y="5056632"/>
            <a:ext cx="7040880" cy="365760"/>
          </a:xfrm>
          <a:prstGeom prst="rect">
            <a:avLst/>
          </a:prstGeom>
          <a:noFill/>
        </p:spPr>
        <p:txBody>
          <a:bodyPr wrap="square" lIns="0" tIns="0" rIns="0" bIns="0" anchor="t">
            <a:spAutoFit/>
          </a:bodyPr>
          <a:lstStyle/>
          <a:p>
            <a:pPr algn="l"/>
            <a:r>
              <a:rPr sz="1900" b="1" i="0">
                <a:solidFill>
                  <a:srgbClr val="1F1F1F"/>
                </a:solidFill>
                <a:latin typeface="Arial"/>
              </a:rPr>
              <a:t>Tool sprawl</a:t>
            </a:r>
          </a:p>
        </p:txBody>
      </p:sp>
      <p:sp>
        <p:nvSpPr>
          <p:cNvPr id="19" name="Challenge 4 text"/>
          <p:cNvSpPr txBox="1"/>
          <p:nvPr/>
        </p:nvSpPr>
        <p:spPr>
          <a:xfrm>
            <a:off x="1325880" y="5440680"/>
            <a:ext cx="7040880" cy="594360"/>
          </a:xfrm>
          <a:prstGeom prst="rect">
            <a:avLst/>
          </a:prstGeom>
          <a:noFill/>
        </p:spPr>
        <p:txBody>
          <a:bodyPr wrap="square" lIns="0" tIns="0" rIns="0" bIns="0" anchor="t">
            <a:spAutoFit/>
          </a:bodyPr>
          <a:lstStyle/>
          <a:p>
            <a:pPr algn="l"/>
            <a:r>
              <a:rPr sz="1500" b="0" i="0">
                <a:solidFill>
                  <a:srgbClr val="595959"/>
                </a:solidFill>
                <a:latin typeface="Arial"/>
              </a:rPr>
              <a:t>VPN, proxy, firewall and CASB each have their own console, slowing response.</a:t>
            </a:r>
          </a:p>
        </p:txBody>
      </p:sp>
      <p:sp>
        <p:nvSpPr>
          <p:cNvPr id="20" name="Sidebar subhead"/>
          <p:cNvSpPr txBox="1"/>
          <p:nvPr/>
        </p:nvSpPr>
        <p:spPr>
          <a:xfrm>
            <a:off x="9189720" y="2011680"/>
            <a:ext cx="2651760" cy="365760"/>
          </a:xfrm>
          <a:prstGeom prst="rect">
            <a:avLst/>
          </a:prstGeom>
          <a:noFill/>
        </p:spPr>
        <p:txBody>
          <a:bodyPr wrap="square" lIns="0" tIns="0" rIns="0" bIns="0" anchor="t">
            <a:spAutoFit/>
          </a:bodyPr>
          <a:lstStyle/>
          <a:p>
            <a:pPr algn="l"/>
            <a:r>
              <a:rPr sz="1800" b="1" i="0">
                <a:solidFill>
                  <a:srgbClr val="1F1F1F"/>
                </a:solidFill>
                <a:latin typeface="Arial"/>
              </a:rPr>
              <a:t>Profile (assumed)</a:t>
            </a:r>
          </a:p>
        </p:txBody>
      </p:sp>
      <p:sp>
        <p:nvSpPr>
          <p:cNvPr id="21" name="Sidebar bullets"/>
          <p:cNvSpPr txBox="1"/>
          <p:nvPr/>
        </p:nvSpPr>
        <p:spPr>
          <a:xfrm>
            <a:off x="9189720" y="2514600"/>
            <a:ext cx="2606040" cy="3017520"/>
          </a:xfrm>
          <a:prstGeom prst="rect">
            <a:avLst/>
          </a:prstGeom>
          <a:noFill/>
        </p:spPr>
        <p:txBody>
          <a:bodyPr wrap="square" lIns="0" tIns="0" rIns="0" bIns="0" anchor="t">
            <a:spAutoFit/>
          </a:bodyPr>
          <a:lstStyle/>
          <a:p>
            <a:pPr marL="228600" indent="-228600" algn="l">
              <a:spcAft>
                <a:spcPts val="700"/>
              </a:spcAft>
              <a:buFont typeface="Arial"/>
              <a:buChar char="•"/>
            </a:pPr>
            <a:r>
              <a:rPr sz="1300" b="0" i="0">
                <a:solidFill>
                  <a:srgbClr val="1F1F1F"/>
                </a:solidFill>
                <a:latin typeface="Arial"/>
              </a:rPr>
              <a:t>6,500 employees</a:t>
            </a:r>
          </a:p>
          <a:p>
            <a:pPr marL="228600" indent="-228600" algn="l">
              <a:spcAft>
                <a:spcPts val="700"/>
              </a:spcAft>
              <a:buFont typeface="Arial"/>
              <a:buChar char="•"/>
            </a:pPr>
            <a:r>
              <a:rPr sz="1300" b="0" i="0">
                <a:solidFill>
                  <a:srgbClr val="1F1F1F"/>
                </a:solidFill>
                <a:latin typeface="Arial"/>
              </a:rPr>
              <a:t>40 sites, 12 countries</a:t>
            </a:r>
          </a:p>
          <a:p>
            <a:pPr marL="228600" indent="-228600" algn="l">
              <a:spcAft>
                <a:spcPts val="700"/>
              </a:spcAft>
              <a:buFont typeface="Arial"/>
              <a:buChar char="•"/>
            </a:pPr>
            <a:r>
              <a:rPr sz="1300" b="0" i="0">
                <a:solidFill>
                  <a:srgbClr val="1F1F1F"/>
                </a:solidFill>
                <a:latin typeface="Arial"/>
              </a:rPr>
              <a:t>Hybrid workforce</a:t>
            </a:r>
          </a:p>
          <a:p>
            <a:pPr marL="228600" indent="-228600" algn="l">
              <a:spcAft>
                <a:spcPts val="700"/>
              </a:spcAft>
              <a:buFont typeface="Arial"/>
              <a:buChar char="•"/>
            </a:pPr>
            <a:r>
              <a:rPr sz="1300" b="0" i="0">
                <a:solidFill>
                  <a:srgbClr val="1F1F1F"/>
                </a:solidFill>
                <a:latin typeface="Arial"/>
              </a:rPr>
              <a:t>~150 SaaS apps, ~35 private apps</a:t>
            </a:r>
          </a:p>
          <a:p>
            <a:pPr marL="228600" indent="-228600" algn="l">
              <a:spcAft>
                <a:spcPts val="700"/>
              </a:spcAft>
              <a:buFont typeface="Arial"/>
              <a:buChar char="•"/>
            </a:pPr>
            <a:r>
              <a:rPr sz="1300" b="0" i="0">
                <a:solidFill>
                  <a:srgbClr val="1F1F1F"/>
                </a:solidFill>
                <a:latin typeface="Arial"/>
              </a:rPr>
              <a:t>1,200 contractors and partners</a:t>
            </a:r>
          </a:p>
          <a:p>
            <a:pPr marL="228600" indent="-228600" algn="l">
              <a:spcAft>
                <a:spcPts val="700"/>
              </a:spcAft>
              <a:buFont typeface="Arial"/>
              <a:buChar char="•"/>
            </a:pPr>
            <a:r>
              <a:rPr sz="1300" b="0" i="0">
                <a:solidFill>
                  <a:srgbClr val="1F1F1F"/>
                </a:solidFill>
                <a:latin typeface="Arial"/>
              </a:rPr>
              <a:t>Entra ID and MDM in place</a:t>
            </a:r>
          </a:p>
        </p:txBody>
      </p:sp>
      <p:sp>
        <p:nvSpPr>
          <p:cNvPr id="23"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Cloudflare: the connectivity cloud</a:t>
            </a:r>
          </a:p>
        </p:txBody>
      </p:sp>
      <p:sp>
        <p:nvSpPr>
          <p:cNvPr id="4" name="Stat card 1"/>
          <p:cNvSpPr/>
          <p:nvPr/>
        </p:nvSpPr>
        <p:spPr>
          <a:xfrm>
            <a:off x="411480" y="1691640"/>
            <a:ext cx="2743200" cy="13258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at 1"/>
          <p:cNvSpPr txBox="1"/>
          <p:nvPr/>
        </p:nvSpPr>
        <p:spPr>
          <a:xfrm>
            <a:off x="594360" y="1783080"/>
            <a:ext cx="2377440" cy="640080"/>
          </a:xfrm>
          <a:prstGeom prst="rect">
            <a:avLst/>
          </a:prstGeom>
          <a:noFill/>
        </p:spPr>
        <p:txBody>
          <a:bodyPr wrap="square" lIns="0" tIns="0" rIns="0" bIns="0" anchor="ctr">
            <a:spAutoFit/>
          </a:bodyPr>
          <a:lstStyle/>
          <a:p>
            <a:pPr algn="l"/>
            <a:r>
              <a:rPr sz="3600" b="1" i="0">
                <a:solidFill>
                  <a:srgbClr val="F6821F"/>
                </a:solidFill>
                <a:latin typeface="Arial"/>
              </a:rPr>
              <a:t>335</a:t>
            </a:r>
          </a:p>
        </p:txBody>
      </p:sp>
      <p:sp>
        <p:nvSpPr>
          <p:cNvPr id="6" name="Stat label 1"/>
          <p:cNvSpPr txBox="1"/>
          <p:nvPr/>
        </p:nvSpPr>
        <p:spPr>
          <a:xfrm>
            <a:off x="594360" y="2423160"/>
            <a:ext cx="2377440" cy="502920"/>
          </a:xfrm>
          <a:prstGeom prst="rect">
            <a:avLst/>
          </a:prstGeom>
          <a:noFill/>
        </p:spPr>
        <p:txBody>
          <a:bodyPr wrap="square" lIns="0" tIns="0" rIns="0" bIns="0" anchor="t">
            <a:spAutoFit/>
          </a:bodyPr>
          <a:lstStyle/>
          <a:p>
            <a:pPr algn="l"/>
            <a:r>
              <a:rPr sz="1400" b="0" i="0">
                <a:solidFill>
                  <a:srgbClr val="1F1F1F"/>
                </a:solidFill>
                <a:latin typeface="Arial"/>
              </a:rPr>
              <a:t>cities in 125+ countries</a:t>
            </a:r>
          </a:p>
        </p:txBody>
      </p:sp>
      <p:sp>
        <p:nvSpPr>
          <p:cNvPr id="7" name="Stat card 2"/>
          <p:cNvSpPr/>
          <p:nvPr/>
        </p:nvSpPr>
        <p:spPr>
          <a:xfrm>
            <a:off x="3291840" y="1691640"/>
            <a:ext cx="2743200" cy="13258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tat 2"/>
          <p:cNvSpPr txBox="1"/>
          <p:nvPr/>
        </p:nvSpPr>
        <p:spPr>
          <a:xfrm>
            <a:off x="3474720" y="1783080"/>
            <a:ext cx="2377440" cy="640080"/>
          </a:xfrm>
          <a:prstGeom prst="rect">
            <a:avLst/>
          </a:prstGeom>
          <a:noFill/>
        </p:spPr>
        <p:txBody>
          <a:bodyPr wrap="square" lIns="0" tIns="0" rIns="0" bIns="0" anchor="ctr">
            <a:spAutoFit/>
          </a:bodyPr>
          <a:lstStyle/>
          <a:p>
            <a:pPr algn="l"/>
            <a:r>
              <a:rPr sz="3600" b="1" i="0">
                <a:solidFill>
                  <a:srgbClr val="F6821F"/>
                </a:solidFill>
                <a:latin typeface="Arial"/>
              </a:rPr>
              <a:t>534 Tbps</a:t>
            </a:r>
          </a:p>
        </p:txBody>
      </p:sp>
      <p:sp>
        <p:nvSpPr>
          <p:cNvPr id="9" name="Stat label 2"/>
          <p:cNvSpPr txBox="1"/>
          <p:nvPr/>
        </p:nvSpPr>
        <p:spPr>
          <a:xfrm>
            <a:off x="3474720" y="2423160"/>
            <a:ext cx="2377440" cy="502920"/>
          </a:xfrm>
          <a:prstGeom prst="rect">
            <a:avLst/>
          </a:prstGeom>
          <a:noFill/>
        </p:spPr>
        <p:txBody>
          <a:bodyPr wrap="square" lIns="0" tIns="0" rIns="0" bIns="0" anchor="t">
            <a:spAutoFit/>
          </a:bodyPr>
          <a:lstStyle/>
          <a:p>
            <a:pPr algn="l"/>
            <a:r>
              <a:rPr sz="1400" b="0" i="0">
                <a:solidFill>
                  <a:srgbClr val="1F1F1F"/>
                </a:solidFill>
                <a:latin typeface="Arial"/>
              </a:rPr>
              <a:t>network capacity</a:t>
            </a:r>
          </a:p>
        </p:txBody>
      </p:sp>
      <p:sp>
        <p:nvSpPr>
          <p:cNvPr id="10" name="Stat card 3"/>
          <p:cNvSpPr/>
          <p:nvPr/>
        </p:nvSpPr>
        <p:spPr>
          <a:xfrm>
            <a:off x="6172200" y="1691640"/>
            <a:ext cx="2743200" cy="13258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at 3"/>
          <p:cNvSpPr txBox="1"/>
          <p:nvPr/>
        </p:nvSpPr>
        <p:spPr>
          <a:xfrm>
            <a:off x="6355080" y="1783080"/>
            <a:ext cx="2377440" cy="640080"/>
          </a:xfrm>
          <a:prstGeom prst="rect">
            <a:avLst/>
          </a:prstGeom>
          <a:noFill/>
        </p:spPr>
        <p:txBody>
          <a:bodyPr wrap="square" lIns="0" tIns="0" rIns="0" bIns="0" anchor="ctr">
            <a:spAutoFit/>
          </a:bodyPr>
          <a:lstStyle/>
          <a:p>
            <a:pPr algn="l"/>
            <a:r>
              <a:rPr sz="3600" b="1" i="0">
                <a:solidFill>
                  <a:srgbClr val="F6821F"/>
                </a:solidFill>
                <a:latin typeface="Arial"/>
              </a:rPr>
              <a:t>95%</a:t>
            </a:r>
          </a:p>
        </p:txBody>
      </p:sp>
      <p:sp>
        <p:nvSpPr>
          <p:cNvPr id="12" name="Stat label 3"/>
          <p:cNvSpPr txBox="1"/>
          <p:nvPr/>
        </p:nvSpPr>
        <p:spPr>
          <a:xfrm>
            <a:off x="6355080" y="2423160"/>
            <a:ext cx="2377440" cy="502920"/>
          </a:xfrm>
          <a:prstGeom prst="rect">
            <a:avLst/>
          </a:prstGeom>
          <a:noFill/>
        </p:spPr>
        <p:txBody>
          <a:bodyPr wrap="square" lIns="0" tIns="0" rIns="0" bIns="0" anchor="t">
            <a:spAutoFit/>
          </a:bodyPr>
          <a:lstStyle/>
          <a:p>
            <a:pPr algn="l"/>
            <a:r>
              <a:rPr sz="1400" b="0" i="0">
                <a:solidFill>
                  <a:srgbClr val="1F1F1F"/>
                </a:solidFill>
                <a:latin typeface="Arial"/>
              </a:rPr>
              <a:t>of Internet users within ~50 ms</a:t>
            </a:r>
          </a:p>
        </p:txBody>
      </p:sp>
      <p:sp>
        <p:nvSpPr>
          <p:cNvPr id="13" name="Stat card 4"/>
          <p:cNvSpPr/>
          <p:nvPr/>
        </p:nvSpPr>
        <p:spPr>
          <a:xfrm>
            <a:off x="9052559" y="1691640"/>
            <a:ext cx="2743200" cy="13258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tat 4"/>
          <p:cNvSpPr txBox="1"/>
          <p:nvPr/>
        </p:nvSpPr>
        <p:spPr>
          <a:xfrm>
            <a:off x="9235439" y="1783080"/>
            <a:ext cx="2377440" cy="640080"/>
          </a:xfrm>
          <a:prstGeom prst="rect">
            <a:avLst/>
          </a:prstGeom>
          <a:noFill/>
        </p:spPr>
        <p:txBody>
          <a:bodyPr wrap="square" lIns="0" tIns="0" rIns="0" bIns="0" anchor="ctr">
            <a:spAutoFit/>
          </a:bodyPr>
          <a:lstStyle/>
          <a:p>
            <a:pPr algn="l"/>
            <a:r>
              <a:rPr sz="3600" b="1" i="0">
                <a:solidFill>
                  <a:srgbClr val="F6821F"/>
                </a:solidFill>
                <a:latin typeface="Arial"/>
              </a:rPr>
              <a:t>13,000+</a:t>
            </a:r>
          </a:p>
        </p:txBody>
      </p:sp>
      <p:sp>
        <p:nvSpPr>
          <p:cNvPr id="15" name="Stat label 4"/>
          <p:cNvSpPr txBox="1"/>
          <p:nvPr/>
        </p:nvSpPr>
        <p:spPr>
          <a:xfrm>
            <a:off x="9235439" y="2423160"/>
            <a:ext cx="2377440" cy="502920"/>
          </a:xfrm>
          <a:prstGeom prst="rect">
            <a:avLst/>
          </a:prstGeom>
          <a:noFill/>
        </p:spPr>
        <p:txBody>
          <a:bodyPr wrap="square" lIns="0" tIns="0" rIns="0" bIns="0" anchor="t">
            <a:spAutoFit/>
          </a:bodyPr>
          <a:lstStyle/>
          <a:p>
            <a:pPr algn="l"/>
            <a:r>
              <a:rPr sz="1400" b="0" i="0">
                <a:solidFill>
                  <a:srgbClr val="1F1F1F"/>
                </a:solidFill>
                <a:latin typeface="Arial"/>
              </a:rPr>
              <a:t>networks connected directly</a:t>
            </a:r>
          </a:p>
        </p:txBody>
      </p:sp>
      <p:sp>
        <p:nvSpPr>
          <p:cNvPr id="16" name="Subhead"/>
          <p:cNvSpPr txBox="1"/>
          <p:nvPr/>
        </p:nvSpPr>
        <p:spPr>
          <a:xfrm>
            <a:off x="411480" y="3200400"/>
            <a:ext cx="7315200" cy="365760"/>
          </a:xfrm>
          <a:prstGeom prst="rect">
            <a:avLst/>
          </a:prstGeom>
          <a:noFill/>
        </p:spPr>
        <p:txBody>
          <a:bodyPr wrap="square" lIns="0" tIns="0" rIns="0" bIns="0" anchor="t">
            <a:spAutoFit/>
          </a:bodyPr>
          <a:lstStyle/>
          <a:p>
            <a:pPr algn="l"/>
            <a:r>
              <a:rPr sz="1800" b="1" i="0">
                <a:solidFill>
                  <a:srgbClr val="1F1F1F"/>
                </a:solidFill>
                <a:latin typeface="Arial"/>
              </a:rPr>
              <a:t>One network, four service groups</a:t>
            </a:r>
          </a:p>
        </p:txBody>
      </p:sp>
      <p:sp>
        <p:nvSpPr>
          <p:cNvPr id="17" name="Pillar 1"/>
          <p:cNvSpPr/>
          <p:nvPr/>
        </p:nvSpPr>
        <p:spPr>
          <a:xfrm>
            <a:off x="411480" y="3657600"/>
            <a:ext cx="2743200" cy="2331720"/>
          </a:xfrm>
          <a:prstGeom prst="roundRect">
            <a:avLst>
              <a:gd name="adj" fmla="val 6000"/>
            </a:avLst>
          </a:prstGeom>
          <a:solidFill>
            <a:srgbClr val="FFFFFF"/>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Icon circle"/>
          <p:cNvSpPr/>
          <p:nvPr/>
        </p:nvSpPr>
        <p:spPr>
          <a:xfrm>
            <a:off x="594360" y="384048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FaGlobe"/>
          <p:cNvPicPr>
            <a:picLocks noChangeAspect="1"/>
          </p:cNvPicPr>
          <p:nvPr/>
        </p:nvPicPr>
        <p:blipFill>
          <a:blip r:embed="rId4"/>
          <a:stretch>
            <a:fillRect/>
          </a:stretch>
        </p:blipFill>
        <p:spPr>
          <a:xfrm>
            <a:off x="719084" y="3965204"/>
            <a:ext cx="317479" cy="317479"/>
          </a:xfrm>
          <a:prstGeom prst="rect">
            <a:avLst/>
          </a:prstGeom>
        </p:spPr>
      </p:pic>
      <p:sp>
        <p:nvSpPr>
          <p:cNvPr id="20" name="Pillar 1 title"/>
          <p:cNvSpPr txBox="1"/>
          <p:nvPr/>
        </p:nvSpPr>
        <p:spPr>
          <a:xfrm>
            <a:off x="594360" y="4526280"/>
            <a:ext cx="2377440" cy="365760"/>
          </a:xfrm>
          <a:prstGeom prst="rect">
            <a:avLst/>
          </a:prstGeom>
          <a:noFill/>
        </p:spPr>
        <p:txBody>
          <a:bodyPr wrap="square" lIns="0" tIns="0" rIns="0" bIns="0" anchor="t">
            <a:spAutoFit/>
          </a:bodyPr>
          <a:lstStyle/>
          <a:p>
            <a:pPr algn="l"/>
            <a:r>
              <a:rPr sz="1600" b="1" i="0">
                <a:solidFill>
                  <a:srgbClr val="1F1F1F"/>
                </a:solidFill>
                <a:latin typeface="Arial"/>
              </a:rPr>
              <a:t>Application Services</a:t>
            </a:r>
          </a:p>
        </p:txBody>
      </p:sp>
      <p:sp>
        <p:nvSpPr>
          <p:cNvPr id="21" name="Pillar 1 text"/>
          <p:cNvSpPr txBox="1"/>
          <p:nvPr/>
        </p:nvSpPr>
        <p:spPr>
          <a:xfrm>
            <a:off x="594360" y="4937760"/>
            <a:ext cx="2377440" cy="1005840"/>
          </a:xfrm>
          <a:prstGeom prst="rect">
            <a:avLst/>
          </a:prstGeom>
          <a:noFill/>
        </p:spPr>
        <p:txBody>
          <a:bodyPr wrap="square" lIns="0" tIns="0" rIns="0" bIns="0" anchor="t">
            <a:spAutoFit/>
          </a:bodyPr>
          <a:lstStyle/>
          <a:p>
            <a:pPr algn="l"/>
            <a:r>
              <a:rPr sz="1300" b="0" i="0">
                <a:solidFill>
                  <a:srgbClr val="595959"/>
                </a:solidFill>
                <a:latin typeface="Arial"/>
              </a:rPr>
              <a:t>Protect and accelerate public sites and APIs: CDN, DDoS, WAF, bots.</a:t>
            </a:r>
          </a:p>
        </p:txBody>
      </p:sp>
      <p:sp>
        <p:nvSpPr>
          <p:cNvPr id="22" name="Pillar 2"/>
          <p:cNvSpPr/>
          <p:nvPr/>
        </p:nvSpPr>
        <p:spPr>
          <a:xfrm>
            <a:off x="3291840" y="3657600"/>
            <a:ext cx="2743200" cy="2331720"/>
          </a:xfrm>
          <a:prstGeom prst="roundRect">
            <a:avLst>
              <a:gd name="adj" fmla="val 6000"/>
            </a:avLst>
          </a:prstGeom>
          <a:solidFill>
            <a:srgbClr val="FFFFFF"/>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con circle"/>
          <p:cNvSpPr/>
          <p:nvPr/>
        </p:nvSpPr>
        <p:spPr>
          <a:xfrm>
            <a:off x="3474720" y="384048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Icon FaNetworkWired"/>
          <p:cNvPicPr>
            <a:picLocks noChangeAspect="1"/>
          </p:cNvPicPr>
          <p:nvPr/>
        </p:nvPicPr>
        <p:blipFill>
          <a:blip r:embed="rId5"/>
          <a:stretch>
            <a:fillRect/>
          </a:stretch>
        </p:blipFill>
        <p:spPr>
          <a:xfrm>
            <a:off x="3599444" y="3965204"/>
            <a:ext cx="317479" cy="317479"/>
          </a:xfrm>
          <a:prstGeom prst="rect">
            <a:avLst/>
          </a:prstGeom>
        </p:spPr>
      </p:pic>
      <p:sp>
        <p:nvSpPr>
          <p:cNvPr id="25" name="Pillar 2 title"/>
          <p:cNvSpPr txBox="1"/>
          <p:nvPr/>
        </p:nvSpPr>
        <p:spPr>
          <a:xfrm>
            <a:off x="3474720" y="4526280"/>
            <a:ext cx="2377440" cy="365760"/>
          </a:xfrm>
          <a:prstGeom prst="rect">
            <a:avLst/>
          </a:prstGeom>
          <a:noFill/>
        </p:spPr>
        <p:txBody>
          <a:bodyPr wrap="square" lIns="0" tIns="0" rIns="0" bIns="0" anchor="t">
            <a:spAutoFit/>
          </a:bodyPr>
          <a:lstStyle/>
          <a:p>
            <a:pPr algn="l"/>
            <a:r>
              <a:rPr sz="1600" b="1" i="0">
                <a:solidFill>
                  <a:srgbClr val="1F1F1F"/>
                </a:solidFill>
                <a:latin typeface="Arial"/>
              </a:rPr>
              <a:t>Network Services</a:t>
            </a:r>
          </a:p>
        </p:txBody>
      </p:sp>
      <p:sp>
        <p:nvSpPr>
          <p:cNvPr id="26" name="Pillar 2 text"/>
          <p:cNvSpPr txBox="1"/>
          <p:nvPr/>
        </p:nvSpPr>
        <p:spPr>
          <a:xfrm>
            <a:off x="3474720" y="4937760"/>
            <a:ext cx="2377440" cy="1005840"/>
          </a:xfrm>
          <a:prstGeom prst="rect">
            <a:avLst/>
          </a:prstGeom>
          <a:noFill/>
        </p:spPr>
        <p:txBody>
          <a:bodyPr wrap="square" lIns="0" tIns="0" rIns="0" bIns="0" anchor="t">
            <a:spAutoFit/>
          </a:bodyPr>
          <a:lstStyle/>
          <a:p>
            <a:pPr algn="l"/>
            <a:r>
              <a:rPr sz="1300" b="0" i="0">
                <a:solidFill>
                  <a:srgbClr val="595959"/>
                </a:solidFill>
                <a:latin typeface="Arial"/>
              </a:rPr>
              <a:t>Protect and connect networks: Magic Transit, Cloudflare WAN, Spectrum.</a:t>
            </a:r>
          </a:p>
        </p:txBody>
      </p:sp>
      <p:sp>
        <p:nvSpPr>
          <p:cNvPr id="27" name="Pillar 3"/>
          <p:cNvSpPr/>
          <p:nvPr/>
        </p:nvSpPr>
        <p:spPr>
          <a:xfrm>
            <a:off x="6172200" y="3657600"/>
            <a:ext cx="2743200" cy="233172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con circle"/>
          <p:cNvSpPr/>
          <p:nvPr/>
        </p:nvSpPr>
        <p:spPr>
          <a:xfrm>
            <a:off x="6355080" y="3840480"/>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on FaUserShield"/>
          <p:cNvPicPr>
            <a:picLocks noChangeAspect="1"/>
          </p:cNvPicPr>
          <p:nvPr/>
        </p:nvPicPr>
        <p:blipFill>
          <a:blip r:embed="rId6"/>
          <a:stretch>
            <a:fillRect/>
          </a:stretch>
        </p:blipFill>
        <p:spPr>
          <a:xfrm>
            <a:off x="6479804" y="3965204"/>
            <a:ext cx="317479" cy="317479"/>
          </a:xfrm>
          <a:prstGeom prst="rect">
            <a:avLst/>
          </a:prstGeom>
        </p:spPr>
      </p:pic>
      <p:sp>
        <p:nvSpPr>
          <p:cNvPr id="30" name="Pillar 3 title"/>
          <p:cNvSpPr txBox="1"/>
          <p:nvPr/>
        </p:nvSpPr>
        <p:spPr>
          <a:xfrm>
            <a:off x="6355080" y="4526280"/>
            <a:ext cx="2377440" cy="365760"/>
          </a:xfrm>
          <a:prstGeom prst="rect">
            <a:avLst/>
          </a:prstGeom>
          <a:noFill/>
        </p:spPr>
        <p:txBody>
          <a:bodyPr wrap="square" lIns="0" tIns="0" rIns="0" bIns="0" anchor="t">
            <a:spAutoFit/>
          </a:bodyPr>
          <a:lstStyle/>
          <a:p>
            <a:pPr algn="l"/>
            <a:r>
              <a:rPr sz="1600" b="1" i="0">
                <a:solidFill>
                  <a:srgbClr val="FFFFFF"/>
                </a:solidFill>
                <a:latin typeface="Arial"/>
              </a:rPr>
              <a:t>Cloudflare One</a:t>
            </a:r>
          </a:p>
        </p:txBody>
      </p:sp>
      <p:sp>
        <p:nvSpPr>
          <p:cNvPr id="31" name="Pillar 3 text"/>
          <p:cNvSpPr txBox="1"/>
          <p:nvPr/>
        </p:nvSpPr>
        <p:spPr>
          <a:xfrm>
            <a:off x="6355080" y="4937760"/>
            <a:ext cx="2377440" cy="1005840"/>
          </a:xfrm>
          <a:prstGeom prst="rect">
            <a:avLst/>
          </a:prstGeom>
          <a:noFill/>
        </p:spPr>
        <p:txBody>
          <a:bodyPr wrap="square" lIns="0" tIns="0" rIns="0" bIns="0" anchor="t">
            <a:spAutoFit/>
          </a:bodyPr>
          <a:lstStyle/>
          <a:p>
            <a:pPr algn="l"/>
            <a:r>
              <a:rPr sz="1300" b="0" i="0">
                <a:solidFill>
                  <a:srgbClr val="FFFFFF"/>
                </a:solidFill>
                <a:latin typeface="Arial"/>
              </a:rPr>
              <a:t>Secure workforce, devices and internal apps. Our focus today.</a:t>
            </a:r>
          </a:p>
        </p:txBody>
      </p:sp>
      <p:sp>
        <p:nvSpPr>
          <p:cNvPr id="32" name="Pillar 4"/>
          <p:cNvSpPr/>
          <p:nvPr/>
        </p:nvSpPr>
        <p:spPr>
          <a:xfrm>
            <a:off x="9052559" y="3657600"/>
            <a:ext cx="2743200" cy="2331720"/>
          </a:xfrm>
          <a:prstGeom prst="roundRect">
            <a:avLst>
              <a:gd name="adj" fmla="val 6000"/>
            </a:avLst>
          </a:prstGeom>
          <a:solidFill>
            <a:srgbClr val="FFFFFF"/>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con circle"/>
          <p:cNvSpPr/>
          <p:nvPr/>
        </p:nvSpPr>
        <p:spPr>
          <a:xfrm>
            <a:off x="9235439" y="384048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on FaCodeBranch"/>
          <p:cNvPicPr>
            <a:picLocks noChangeAspect="1"/>
          </p:cNvPicPr>
          <p:nvPr/>
        </p:nvPicPr>
        <p:blipFill>
          <a:blip r:embed="rId7"/>
          <a:stretch>
            <a:fillRect/>
          </a:stretch>
        </p:blipFill>
        <p:spPr>
          <a:xfrm>
            <a:off x="9360164" y="3965204"/>
            <a:ext cx="317479" cy="317479"/>
          </a:xfrm>
          <a:prstGeom prst="rect">
            <a:avLst/>
          </a:prstGeom>
        </p:spPr>
      </p:pic>
      <p:sp>
        <p:nvSpPr>
          <p:cNvPr id="35" name="Pillar 4 title"/>
          <p:cNvSpPr txBox="1"/>
          <p:nvPr/>
        </p:nvSpPr>
        <p:spPr>
          <a:xfrm>
            <a:off x="9235439" y="4526280"/>
            <a:ext cx="2377440" cy="365760"/>
          </a:xfrm>
          <a:prstGeom prst="rect">
            <a:avLst/>
          </a:prstGeom>
          <a:noFill/>
        </p:spPr>
        <p:txBody>
          <a:bodyPr wrap="square" lIns="0" tIns="0" rIns="0" bIns="0" anchor="t">
            <a:spAutoFit/>
          </a:bodyPr>
          <a:lstStyle/>
          <a:p>
            <a:pPr algn="l"/>
            <a:r>
              <a:rPr sz="1600" b="1" i="0">
                <a:solidFill>
                  <a:srgbClr val="1F1F1F"/>
                </a:solidFill>
                <a:latin typeface="Arial"/>
              </a:rPr>
              <a:t>Developer Platform</a:t>
            </a:r>
          </a:p>
        </p:txBody>
      </p:sp>
      <p:sp>
        <p:nvSpPr>
          <p:cNvPr id="36" name="Pillar 4 text"/>
          <p:cNvSpPr txBox="1"/>
          <p:nvPr/>
        </p:nvSpPr>
        <p:spPr>
          <a:xfrm>
            <a:off x="9235439" y="4937760"/>
            <a:ext cx="2377440" cy="1005840"/>
          </a:xfrm>
          <a:prstGeom prst="rect">
            <a:avLst/>
          </a:prstGeom>
          <a:noFill/>
        </p:spPr>
        <p:txBody>
          <a:bodyPr wrap="square" lIns="0" tIns="0" rIns="0" bIns="0" anchor="t">
            <a:spAutoFit/>
          </a:bodyPr>
          <a:lstStyle/>
          <a:p>
            <a:pPr algn="l"/>
            <a:r>
              <a:rPr sz="1300" b="0" i="0">
                <a:solidFill>
                  <a:srgbClr val="595959"/>
                </a:solidFill>
                <a:latin typeface="Arial"/>
              </a:rPr>
              <a:t>Build at the edge: Workers, R2, D1, Workers AI.</a:t>
            </a:r>
          </a:p>
        </p:txBody>
      </p:sp>
      <p:sp>
        <p:nvSpPr>
          <p:cNvPr id="37" name="Source"/>
          <p:cNvSpPr txBox="1"/>
          <p:nvPr/>
        </p:nvSpPr>
        <p:spPr>
          <a:xfrm>
            <a:off x="411480" y="6144768"/>
            <a:ext cx="10058400" cy="274320"/>
          </a:xfrm>
          <a:prstGeom prst="rect">
            <a:avLst/>
          </a:prstGeom>
          <a:noFill/>
        </p:spPr>
        <p:txBody>
          <a:bodyPr wrap="square" lIns="0" tIns="0" rIns="0" bIns="0" anchor="t">
            <a:spAutoFit/>
          </a:bodyPr>
          <a:lstStyle/>
          <a:p>
            <a:pPr algn="l"/>
            <a:r>
              <a:rPr sz="1000" b="0" i="0">
                <a:solidFill>
                  <a:srgbClr val="595959"/>
                </a:solidFill>
                <a:latin typeface="Arial"/>
              </a:rPr>
              <a:t>Source: Cloudflare Q2 2026 investor presentation; cloudflare.com/network</a:t>
            </a:r>
          </a:p>
        </p:txBody>
      </p:sp>
      <p:sp>
        <p:nvSpPr>
          <p:cNvPr id="38"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Why Cloudflare is different</a:t>
            </a:r>
          </a:p>
        </p:txBody>
      </p:sp>
      <p:sp>
        <p:nvSpPr>
          <p:cNvPr id="4" name="Header traditional"/>
          <p:cNvSpPr/>
          <p:nvPr/>
        </p:nvSpPr>
        <p:spPr>
          <a:xfrm>
            <a:off x="2560320" y="1645920"/>
            <a:ext cx="4297680" cy="502920"/>
          </a:xfrm>
          <a:prstGeom prst="roundRect">
            <a:avLst>
              <a:gd name="adj" fmla="val 6000"/>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i="0">
                <a:solidFill>
                  <a:srgbClr val="1F1F1F"/>
                </a:solidFill>
                <a:latin typeface="Arial"/>
              </a:rPr>
              <a:t>Traditional stack</a:t>
            </a:r>
          </a:p>
        </p:txBody>
      </p:sp>
      <p:sp>
        <p:nvSpPr>
          <p:cNvPr id="5" name="Header Cloudflare"/>
          <p:cNvSpPr/>
          <p:nvPr/>
        </p:nvSpPr>
        <p:spPr>
          <a:xfrm>
            <a:off x="6995160" y="1645920"/>
            <a:ext cx="4800600" cy="50292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i="0">
                <a:solidFill>
                  <a:srgbClr val="FFFFFF"/>
                </a:solidFill>
                <a:latin typeface="Arial"/>
              </a:rPr>
              <a:t>Cloudflare One</a:t>
            </a:r>
          </a:p>
        </p:txBody>
      </p:sp>
      <p:sp>
        <p:nvSpPr>
          <p:cNvPr id="6" name="Row 1 band"/>
          <p:cNvSpPr/>
          <p:nvPr/>
        </p:nvSpPr>
        <p:spPr>
          <a:xfrm>
            <a:off x="411480" y="2240280"/>
            <a:ext cx="11384280" cy="658368"/>
          </a:xfrm>
          <a:prstGeom prst="roundRect">
            <a:avLst>
              <a:gd name="adj" fmla="val 1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w 1 label"/>
          <p:cNvSpPr txBox="1"/>
          <p:nvPr/>
        </p:nvSpPr>
        <p:spPr>
          <a:xfrm>
            <a:off x="548640" y="2240280"/>
            <a:ext cx="1920240" cy="658368"/>
          </a:xfrm>
          <a:prstGeom prst="rect">
            <a:avLst/>
          </a:prstGeom>
          <a:noFill/>
        </p:spPr>
        <p:txBody>
          <a:bodyPr wrap="square" lIns="0" tIns="0" rIns="0" bIns="0" anchor="ctr">
            <a:spAutoFit/>
          </a:bodyPr>
          <a:lstStyle/>
          <a:p>
            <a:pPr algn="l"/>
            <a:r>
              <a:rPr sz="1400" b="1" i="0">
                <a:solidFill>
                  <a:srgbClr val="1F1F1F"/>
                </a:solidFill>
                <a:latin typeface="Arial"/>
              </a:rPr>
              <a:t>Architecture</a:t>
            </a:r>
          </a:p>
        </p:txBody>
      </p:sp>
      <p:sp>
        <p:nvSpPr>
          <p:cNvPr id="8" name="Row 1 traditional"/>
          <p:cNvSpPr txBox="1"/>
          <p:nvPr/>
        </p:nvSpPr>
        <p:spPr>
          <a:xfrm>
            <a:off x="2697480" y="2240280"/>
            <a:ext cx="4023360" cy="658368"/>
          </a:xfrm>
          <a:prstGeom prst="rect">
            <a:avLst/>
          </a:prstGeom>
          <a:noFill/>
        </p:spPr>
        <p:txBody>
          <a:bodyPr wrap="square" lIns="0" tIns="0" rIns="0" bIns="0" anchor="ctr">
            <a:spAutoFit/>
          </a:bodyPr>
          <a:lstStyle/>
          <a:p>
            <a:pPr algn="l"/>
            <a:r>
              <a:rPr sz="1350" b="0" i="0">
                <a:solidFill>
                  <a:srgbClr val="595959"/>
                </a:solidFill>
                <a:latin typeface="Arial"/>
              </a:rPr>
              <a:t>Separate VPN, proxy, firewall and CASB products</a:t>
            </a:r>
          </a:p>
        </p:txBody>
      </p:sp>
      <p:sp>
        <p:nvSpPr>
          <p:cNvPr id="9" name="Row 1 Cloudflare"/>
          <p:cNvSpPr txBox="1"/>
          <p:nvPr/>
        </p:nvSpPr>
        <p:spPr>
          <a:xfrm>
            <a:off x="7132320" y="2240280"/>
            <a:ext cx="4526280" cy="658368"/>
          </a:xfrm>
          <a:prstGeom prst="rect">
            <a:avLst/>
          </a:prstGeom>
          <a:noFill/>
        </p:spPr>
        <p:txBody>
          <a:bodyPr wrap="square" lIns="0" tIns="0" rIns="0" bIns="0" anchor="ctr">
            <a:spAutoFit/>
          </a:bodyPr>
          <a:lstStyle/>
          <a:p>
            <a:pPr algn="l"/>
            <a:r>
              <a:rPr sz="1350" b="1" i="0">
                <a:solidFill>
                  <a:srgbClr val="1F1F1F"/>
                </a:solidFill>
                <a:latin typeface="Arial"/>
              </a:rPr>
              <a:t>One platform, one network, one policy engine</a:t>
            </a:r>
          </a:p>
        </p:txBody>
      </p:sp>
      <p:sp>
        <p:nvSpPr>
          <p:cNvPr id="10" name="Row 2 band"/>
          <p:cNvSpPr/>
          <p:nvPr/>
        </p:nvSpPr>
        <p:spPr>
          <a:xfrm>
            <a:off x="411480" y="2971800"/>
            <a:ext cx="11384280"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w 2 label"/>
          <p:cNvSpPr txBox="1"/>
          <p:nvPr/>
        </p:nvSpPr>
        <p:spPr>
          <a:xfrm>
            <a:off x="548640" y="2971800"/>
            <a:ext cx="1920240" cy="658368"/>
          </a:xfrm>
          <a:prstGeom prst="rect">
            <a:avLst/>
          </a:prstGeom>
          <a:noFill/>
        </p:spPr>
        <p:txBody>
          <a:bodyPr wrap="square" lIns="0" tIns="0" rIns="0" bIns="0" anchor="ctr">
            <a:spAutoFit/>
          </a:bodyPr>
          <a:lstStyle/>
          <a:p>
            <a:pPr algn="l"/>
            <a:r>
              <a:rPr sz="1400" b="1" i="0">
                <a:solidFill>
                  <a:srgbClr val="1F1F1F"/>
                </a:solidFill>
                <a:latin typeface="Arial"/>
              </a:rPr>
              <a:t>Traffic path</a:t>
            </a:r>
          </a:p>
        </p:txBody>
      </p:sp>
      <p:sp>
        <p:nvSpPr>
          <p:cNvPr id="12" name="Row 2 traditional"/>
          <p:cNvSpPr txBox="1"/>
          <p:nvPr/>
        </p:nvSpPr>
        <p:spPr>
          <a:xfrm>
            <a:off x="2697480" y="2971800"/>
            <a:ext cx="4023360" cy="658368"/>
          </a:xfrm>
          <a:prstGeom prst="rect">
            <a:avLst/>
          </a:prstGeom>
          <a:noFill/>
        </p:spPr>
        <p:txBody>
          <a:bodyPr wrap="square" lIns="0" tIns="0" rIns="0" bIns="0" anchor="ctr">
            <a:spAutoFit/>
          </a:bodyPr>
          <a:lstStyle/>
          <a:p>
            <a:pPr algn="l"/>
            <a:r>
              <a:rPr sz="1350" b="0" i="0">
                <a:solidFill>
                  <a:srgbClr val="595959"/>
                </a:solidFill>
                <a:latin typeface="Arial"/>
              </a:rPr>
              <a:t>Backhauled to a few central data centres</a:t>
            </a:r>
          </a:p>
        </p:txBody>
      </p:sp>
      <p:sp>
        <p:nvSpPr>
          <p:cNvPr id="13" name="Row 2 Cloudflare"/>
          <p:cNvSpPr txBox="1"/>
          <p:nvPr/>
        </p:nvSpPr>
        <p:spPr>
          <a:xfrm>
            <a:off x="7132320" y="2971800"/>
            <a:ext cx="4526280" cy="658368"/>
          </a:xfrm>
          <a:prstGeom prst="rect">
            <a:avLst/>
          </a:prstGeom>
          <a:noFill/>
        </p:spPr>
        <p:txBody>
          <a:bodyPr wrap="square" lIns="0" tIns="0" rIns="0" bIns="0" anchor="ctr">
            <a:spAutoFit/>
          </a:bodyPr>
          <a:lstStyle/>
          <a:p>
            <a:pPr algn="l"/>
            <a:r>
              <a:rPr sz="1350" b="1" i="0">
                <a:solidFill>
                  <a:srgbClr val="1F1F1F"/>
                </a:solidFill>
                <a:latin typeface="Arial"/>
              </a:rPr>
              <a:t>Inspected at the edge nearest the user</a:t>
            </a:r>
          </a:p>
        </p:txBody>
      </p:sp>
      <p:sp>
        <p:nvSpPr>
          <p:cNvPr id="14" name="Row 3 band"/>
          <p:cNvSpPr/>
          <p:nvPr/>
        </p:nvSpPr>
        <p:spPr>
          <a:xfrm>
            <a:off x="411480" y="3703320"/>
            <a:ext cx="11384280" cy="658368"/>
          </a:xfrm>
          <a:prstGeom prst="roundRect">
            <a:avLst>
              <a:gd name="adj" fmla="val 1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w 3 label"/>
          <p:cNvSpPr txBox="1"/>
          <p:nvPr/>
        </p:nvSpPr>
        <p:spPr>
          <a:xfrm>
            <a:off x="548640" y="3703320"/>
            <a:ext cx="1920240" cy="658368"/>
          </a:xfrm>
          <a:prstGeom prst="rect">
            <a:avLst/>
          </a:prstGeom>
          <a:noFill/>
        </p:spPr>
        <p:txBody>
          <a:bodyPr wrap="square" lIns="0" tIns="0" rIns="0" bIns="0" anchor="ctr">
            <a:spAutoFit/>
          </a:bodyPr>
          <a:lstStyle/>
          <a:p>
            <a:pPr algn="l"/>
            <a:r>
              <a:rPr sz="1400" b="1" i="0">
                <a:solidFill>
                  <a:srgbClr val="1F1F1F"/>
                </a:solidFill>
                <a:latin typeface="Arial"/>
              </a:rPr>
              <a:t>Access model</a:t>
            </a:r>
          </a:p>
        </p:txBody>
      </p:sp>
      <p:sp>
        <p:nvSpPr>
          <p:cNvPr id="16" name="Row 3 traditional"/>
          <p:cNvSpPr txBox="1"/>
          <p:nvPr/>
        </p:nvSpPr>
        <p:spPr>
          <a:xfrm>
            <a:off x="2697480" y="3703320"/>
            <a:ext cx="4023360" cy="658368"/>
          </a:xfrm>
          <a:prstGeom prst="rect">
            <a:avLst/>
          </a:prstGeom>
          <a:noFill/>
        </p:spPr>
        <p:txBody>
          <a:bodyPr wrap="square" lIns="0" tIns="0" rIns="0" bIns="0" anchor="ctr">
            <a:spAutoFit/>
          </a:bodyPr>
          <a:lstStyle/>
          <a:p>
            <a:pPr algn="l"/>
            <a:r>
              <a:rPr sz="1350" b="0" i="0">
                <a:solidFill>
                  <a:srgbClr val="595959"/>
                </a:solidFill>
                <a:latin typeface="Arial"/>
              </a:rPr>
              <a:t>Network-level trust once connected</a:t>
            </a:r>
          </a:p>
        </p:txBody>
      </p:sp>
      <p:sp>
        <p:nvSpPr>
          <p:cNvPr id="17" name="Row 3 Cloudflare"/>
          <p:cNvSpPr txBox="1"/>
          <p:nvPr/>
        </p:nvSpPr>
        <p:spPr>
          <a:xfrm>
            <a:off x="7132320" y="3703320"/>
            <a:ext cx="4526280" cy="658368"/>
          </a:xfrm>
          <a:prstGeom prst="rect">
            <a:avLst/>
          </a:prstGeom>
          <a:noFill/>
        </p:spPr>
        <p:txBody>
          <a:bodyPr wrap="square" lIns="0" tIns="0" rIns="0" bIns="0" anchor="ctr">
            <a:spAutoFit/>
          </a:bodyPr>
          <a:lstStyle/>
          <a:p>
            <a:pPr algn="l"/>
            <a:r>
              <a:rPr sz="1350" b="1" i="0">
                <a:solidFill>
                  <a:srgbClr val="1F1F1F"/>
                </a:solidFill>
                <a:latin typeface="Arial"/>
              </a:rPr>
              <a:t>Per-request checks on identity and device; deny by default</a:t>
            </a:r>
          </a:p>
        </p:txBody>
      </p:sp>
      <p:sp>
        <p:nvSpPr>
          <p:cNvPr id="18" name="Row 4 band"/>
          <p:cNvSpPr/>
          <p:nvPr/>
        </p:nvSpPr>
        <p:spPr>
          <a:xfrm>
            <a:off x="411480" y="4434840"/>
            <a:ext cx="11384280" cy="65836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w 4 label"/>
          <p:cNvSpPr txBox="1"/>
          <p:nvPr/>
        </p:nvSpPr>
        <p:spPr>
          <a:xfrm>
            <a:off x="548640" y="4434840"/>
            <a:ext cx="1920240" cy="658368"/>
          </a:xfrm>
          <a:prstGeom prst="rect">
            <a:avLst/>
          </a:prstGeom>
          <a:noFill/>
        </p:spPr>
        <p:txBody>
          <a:bodyPr wrap="square" lIns="0" tIns="0" rIns="0" bIns="0" anchor="ctr">
            <a:spAutoFit/>
          </a:bodyPr>
          <a:lstStyle/>
          <a:p>
            <a:pPr algn="l"/>
            <a:r>
              <a:rPr sz="1400" b="1" i="0">
                <a:solidFill>
                  <a:srgbClr val="1F1F1F"/>
                </a:solidFill>
                <a:latin typeface="Arial"/>
              </a:rPr>
              <a:t>Operations</a:t>
            </a:r>
          </a:p>
        </p:txBody>
      </p:sp>
      <p:sp>
        <p:nvSpPr>
          <p:cNvPr id="20" name="Row 4 traditional"/>
          <p:cNvSpPr txBox="1"/>
          <p:nvPr/>
        </p:nvSpPr>
        <p:spPr>
          <a:xfrm>
            <a:off x="2697480" y="4434840"/>
            <a:ext cx="4023360" cy="658368"/>
          </a:xfrm>
          <a:prstGeom prst="rect">
            <a:avLst/>
          </a:prstGeom>
          <a:noFill/>
        </p:spPr>
        <p:txBody>
          <a:bodyPr wrap="square" lIns="0" tIns="0" rIns="0" bIns="0" anchor="ctr">
            <a:spAutoFit/>
          </a:bodyPr>
          <a:lstStyle/>
          <a:p>
            <a:pPr algn="l"/>
            <a:r>
              <a:rPr sz="1350" b="0" i="0">
                <a:solidFill>
                  <a:srgbClr val="595959"/>
                </a:solidFill>
                <a:latin typeface="Arial"/>
              </a:rPr>
              <a:t>Many consoles, vendors and contracts</a:t>
            </a:r>
          </a:p>
        </p:txBody>
      </p:sp>
      <p:sp>
        <p:nvSpPr>
          <p:cNvPr id="21" name="Row 4 Cloudflare"/>
          <p:cNvSpPr txBox="1"/>
          <p:nvPr/>
        </p:nvSpPr>
        <p:spPr>
          <a:xfrm>
            <a:off x="7132320" y="4434840"/>
            <a:ext cx="4526280" cy="658368"/>
          </a:xfrm>
          <a:prstGeom prst="rect">
            <a:avLst/>
          </a:prstGeom>
          <a:noFill/>
        </p:spPr>
        <p:txBody>
          <a:bodyPr wrap="square" lIns="0" tIns="0" rIns="0" bIns="0" anchor="ctr">
            <a:spAutoFit/>
          </a:bodyPr>
          <a:lstStyle/>
          <a:p>
            <a:pPr algn="l"/>
            <a:r>
              <a:rPr sz="1350" b="1" i="0">
                <a:solidFill>
                  <a:srgbClr val="1F1F1F"/>
                </a:solidFill>
                <a:latin typeface="Arial"/>
              </a:rPr>
              <a:t>One control plane with API and Terraform automation</a:t>
            </a:r>
          </a:p>
        </p:txBody>
      </p:sp>
      <p:sp>
        <p:nvSpPr>
          <p:cNvPr id="22" name="Row 5 band"/>
          <p:cNvSpPr/>
          <p:nvPr/>
        </p:nvSpPr>
        <p:spPr>
          <a:xfrm>
            <a:off x="411480" y="5166360"/>
            <a:ext cx="11384280" cy="658368"/>
          </a:xfrm>
          <a:prstGeom prst="roundRect">
            <a:avLst>
              <a:gd name="adj" fmla="val 1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w 5 label"/>
          <p:cNvSpPr txBox="1"/>
          <p:nvPr/>
        </p:nvSpPr>
        <p:spPr>
          <a:xfrm>
            <a:off x="548640" y="5166360"/>
            <a:ext cx="1920240" cy="658368"/>
          </a:xfrm>
          <a:prstGeom prst="rect">
            <a:avLst/>
          </a:prstGeom>
          <a:noFill/>
        </p:spPr>
        <p:txBody>
          <a:bodyPr wrap="square" lIns="0" tIns="0" rIns="0" bIns="0" anchor="ctr">
            <a:spAutoFit/>
          </a:bodyPr>
          <a:lstStyle/>
          <a:p>
            <a:pPr algn="l"/>
            <a:r>
              <a:rPr sz="1400" b="1" i="0">
                <a:solidFill>
                  <a:srgbClr val="1F1F1F"/>
                </a:solidFill>
                <a:latin typeface="Arial"/>
              </a:rPr>
              <a:t>Time to value</a:t>
            </a:r>
          </a:p>
        </p:txBody>
      </p:sp>
      <p:sp>
        <p:nvSpPr>
          <p:cNvPr id="24" name="Row 5 traditional"/>
          <p:cNvSpPr txBox="1"/>
          <p:nvPr/>
        </p:nvSpPr>
        <p:spPr>
          <a:xfrm>
            <a:off x="2697480" y="5166360"/>
            <a:ext cx="4023360" cy="658368"/>
          </a:xfrm>
          <a:prstGeom prst="rect">
            <a:avLst/>
          </a:prstGeom>
          <a:noFill/>
        </p:spPr>
        <p:txBody>
          <a:bodyPr wrap="square" lIns="0" tIns="0" rIns="0" bIns="0" anchor="ctr">
            <a:spAutoFit/>
          </a:bodyPr>
          <a:lstStyle/>
          <a:p>
            <a:pPr algn="l"/>
            <a:r>
              <a:rPr sz="1350" b="0" i="0">
                <a:solidFill>
                  <a:srgbClr val="595959"/>
                </a:solidFill>
                <a:latin typeface="Arial"/>
              </a:rPr>
              <a:t>Hardware and routing projects</a:t>
            </a:r>
          </a:p>
        </p:txBody>
      </p:sp>
      <p:sp>
        <p:nvSpPr>
          <p:cNvPr id="25" name="Row 5 Cloudflare"/>
          <p:cNvSpPr txBox="1"/>
          <p:nvPr/>
        </p:nvSpPr>
        <p:spPr>
          <a:xfrm>
            <a:off x="7132320" y="5166360"/>
            <a:ext cx="4526280" cy="658368"/>
          </a:xfrm>
          <a:prstGeom prst="rect">
            <a:avLst/>
          </a:prstGeom>
          <a:noFill/>
        </p:spPr>
        <p:txBody>
          <a:bodyPr wrap="square" lIns="0" tIns="0" rIns="0" bIns="0" anchor="ctr">
            <a:spAutoFit/>
          </a:bodyPr>
          <a:lstStyle/>
          <a:p>
            <a:pPr algn="l"/>
            <a:r>
              <a:rPr sz="1350" b="1" i="0">
                <a:solidFill>
                  <a:srgbClr val="1F1F1F"/>
                </a:solidFill>
                <a:latin typeface="Arial"/>
              </a:rPr>
              <a:t>Software on-ramps; start with DNS filtering in days</a:t>
            </a:r>
          </a:p>
        </p:txBody>
      </p:sp>
      <p:sp>
        <p:nvSpPr>
          <p:cNvPr id="26" name="Threat callout"/>
          <p:cNvSpPr txBox="1"/>
          <p:nvPr/>
        </p:nvSpPr>
        <p:spPr>
          <a:xfrm>
            <a:off x="411480" y="6035040"/>
            <a:ext cx="11338560" cy="320040"/>
          </a:xfrm>
          <a:prstGeom prst="rect">
            <a:avLst/>
          </a:prstGeom>
          <a:noFill/>
        </p:spPr>
        <p:txBody>
          <a:bodyPr wrap="square" lIns="0" tIns="0" rIns="0" bIns="0" anchor="t">
            <a:spAutoFit/>
          </a:bodyPr>
          <a:lstStyle/>
          <a:p>
            <a:pPr algn="l"/>
            <a:r>
              <a:rPr sz="1400" b="1" i="0">
                <a:solidFill>
                  <a:srgbClr val="F6821F"/>
                </a:solidFill>
                <a:latin typeface="Arial"/>
              </a:rPr>
              <a:t>234B+ </a:t>
            </a:r>
            <a:r>
              <a:rPr sz="1400" b="0" i="0">
                <a:solidFill>
                  <a:srgbClr val="1F1F1F"/>
                </a:solidFill>
                <a:latin typeface="Arial"/>
              </a:rPr>
              <a:t>cyber threats blocked per day on the network, feeding shared threat intelligence</a:t>
            </a:r>
          </a:p>
        </p:txBody>
      </p:sp>
      <p:sp>
        <p:nvSpPr>
          <p:cNvPr id="27"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Cloudflare One architecture</a:t>
            </a:r>
          </a:p>
        </p:txBody>
      </p:sp>
      <p:sp>
        <p:nvSpPr>
          <p:cNvPr id="4" name="Column label"/>
          <p:cNvSpPr txBox="1"/>
          <p:nvPr/>
        </p:nvSpPr>
        <p:spPr>
          <a:xfrm>
            <a:off x="411480" y="1481328"/>
            <a:ext cx="2743200" cy="274320"/>
          </a:xfrm>
          <a:prstGeom prst="rect">
            <a:avLst/>
          </a:prstGeom>
          <a:noFill/>
        </p:spPr>
        <p:txBody>
          <a:bodyPr wrap="square" lIns="0" tIns="0" rIns="0" bIns="0" anchor="t">
            <a:spAutoFit/>
          </a:bodyPr>
          <a:lstStyle/>
          <a:p>
            <a:pPr algn="l"/>
            <a:r>
              <a:rPr sz="1100" b="1" i="0">
                <a:solidFill>
                  <a:srgbClr val="595959"/>
                </a:solidFill>
                <a:latin typeface="Arial"/>
              </a:rPr>
              <a:t>CONNECT USERS AND SITES</a:t>
            </a:r>
          </a:p>
        </p:txBody>
      </p:sp>
      <p:sp>
        <p:nvSpPr>
          <p:cNvPr id="5" name="Column label"/>
          <p:cNvSpPr txBox="1"/>
          <p:nvPr/>
        </p:nvSpPr>
        <p:spPr>
          <a:xfrm>
            <a:off x="3749039" y="1481328"/>
            <a:ext cx="4663440" cy="274320"/>
          </a:xfrm>
          <a:prstGeom prst="rect">
            <a:avLst/>
          </a:prstGeom>
          <a:noFill/>
        </p:spPr>
        <p:txBody>
          <a:bodyPr wrap="square" lIns="0" tIns="0" rIns="0" bIns="0" anchor="t">
            <a:spAutoFit/>
          </a:bodyPr>
          <a:lstStyle/>
          <a:p>
            <a:pPr algn="l"/>
            <a:r>
              <a:rPr sz="1100" b="1" i="0">
                <a:solidFill>
                  <a:srgbClr val="595959"/>
                </a:solidFill>
                <a:latin typeface="Arial"/>
              </a:rPr>
              <a:t>CLOUDFLARE ONE</a:t>
            </a:r>
          </a:p>
        </p:txBody>
      </p:sp>
      <p:sp>
        <p:nvSpPr>
          <p:cNvPr id="6" name="Column label"/>
          <p:cNvSpPr txBox="1"/>
          <p:nvPr/>
        </p:nvSpPr>
        <p:spPr>
          <a:xfrm>
            <a:off x="9006840" y="1481328"/>
            <a:ext cx="2788920" cy="274320"/>
          </a:xfrm>
          <a:prstGeom prst="rect">
            <a:avLst/>
          </a:prstGeom>
          <a:noFill/>
        </p:spPr>
        <p:txBody>
          <a:bodyPr wrap="square" lIns="0" tIns="0" rIns="0" bIns="0" anchor="t">
            <a:spAutoFit/>
          </a:bodyPr>
          <a:lstStyle/>
          <a:p>
            <a:pPr algn="l"/>
            <a:r>
              <a:rPr sz="1100" b="1" i="0">
                <a:solidFill>
                  <a:srgbClr val="595959"/>
                </a:solidFill>
                <a:latin typeface="Arial"/>
              </a:rPr>
              <a:t>REACH APPLICATIONS</a:t>
            </a:r>
          </a:p>
        </p:txBody>
      </p:sp>
      <p:sp>
        <p:nvSpPr>
          <p:cNvPr id="7" name="On-ramp 1"/>
          <p:cNvSpPr/>
          <p:nvPr/>
        </p:nvSpPr>
        <p:spPr>
          <a:xfrm>
            <a:off x="411480" y="1874519"/>
            <a:ext cx="274320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Icon circle"/>
          <p:cNvSpPr/>
          <p:nvPr/>
        </p:nvSpPr>
        <p:spPr>
          <a:xfrm>
            <a:off x="566928" y="2176272"/>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Icon FaLaptop"/>
          <p:cNvPicPr>
            <a:picLocks noChangeAspect="1"/>
          </p:cNvPicPr>
          <p:nvPr/>
        </p:nvPicPr>
        <p:blipFill>
          <a:blip r:embed="rId4"/>
          <a:stretch>
            <a:fillRect/>
          </a:stretch>
        </p:blipFill>
        <p:spPr>
          <a:xfrm>
            <a:off x="691652" y="2300996"/>
            <a:ext cx="317479" cy="317479"/>
          </a:xfrm>
          <a:prstGeom prst="rect">
            <a:avLst/>
          </a:prstGeom>
        </p:spPr>
      </p:pic>
      <p:sp>
        <p:nvSpPr>
          <p:cNvPr id="10" name="On-ramp 1 title"/>
          <p:cNvSpPr txBox="1"/>
          <p:nvPr/>
        </p:nvSpPr>
        <p:spPr>
          <a:xfrm>
            <a:off x="1280160" y="2148839"/>
            <a:ext cx="1828800" cy="320040"/>
          </a:xfrm>
          <a:prstGeom prst="rect">
            <a:avLst/>
          </a:prstGeom>
          <a:noFill/>
        </p:spPr>
        <p:txBody>
          <a:bodyPr wrap="square" lIns="0" tIns="0" rIns="0" bIns="0" anchor="t">
            <a:spAutoFit/>
          </a:bodyPr>
          <a:lstStyle/>
          <a:p>
            <a:pPr algn="l"/>
            <a:r>
              <a:rPr sz="1400" b="1" i="0">
                <a:solidFill>
                  <a:srgbClr val="1F1F1F"/>
                </a:solidFill>
                <a:latin typeface="Arial"/>
              </a:rPr>
              <a:t>Cloudflare One Client</a:t>
            </a:r>
          </a:p>
        </p:txBody>
      </p:sp>
      <p:sp>
        <p:nvSpPr>
          <p:cNvPr id="11" name="On-ramp 1 text"/>
          <p:cNvSpPr txBox="1"/>
          <p:nvPr/>
        </p:nvSpPr>
        <p:spPr>
          <a:xfrm>
            <a:off x="1280160" y="2496312"/>
            <a:ext cx="1828800" cy="365760"/>
          </a:xfrm>
          <a:prstGeom prst="rect">
            <a:avLst/>
          </a:prstGeom>
          <a:noFill/>
        </p:spPr>
        <p:txBody>
          <a:bodyPr wrap="square" lIns="0" tIns="0" rIns="0" bIns="0" anchor="t">
            <a:spAutoFit/>
          </a:bodyPr>
          <a:lstStyle/>
          <a:p>
            <a:pPr algn="l"/>
            <a:r>
              <a:rPr sz="1200" b="0" i="0">
                <a:solidFill>
                  <a:srgbClr val="595959"/>
                </a:solidFill>
                <a:latin typeface="Arial"/>
              </a:rPr>
              <a:t>Laptops and phones</a:t>
            </a:r>
          </a:p>
        </p:txBody>
      </p:sp>
      <p:sp>
        <p:nvSpPr>
          <p:cNvPr id="12" name="On-ramp 2"/>
          <p:cNvSpPr/>
          <p:nvPr/>
        </p:nvSpPr>
        <p:spPr>
          <a:xfrm>
            <a:off x="411480" y="3246120"/>
            <a:ext cx="274320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con circle"/>
          <p:cNvSpPr/>
          <p:nvPr/>
        </p:nvSpPr>
        <p:spPr>
          <a:xfrm>
            <a:off x="566928" y="3547872"/>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Icon FaGlobe"/>
          <p:cNvPicPr>
            <a:picLocks noChangeAspect="1"/>
          </p:cNvPicPr>
          <p:nvPr/>
        </p:nvPicPr>
        <p:blipFill>
          <a:blip r:embed="rId5"/>
          <a:stretch>
            <a:fillRect/>
          </a:stretch>
        </p:blipFill>
        <p:spPr>
          <a:xfrm>
            <a:off x="691652" y="3672596"/>
            <a:ext cx="317479" cy="317479"/>
          </a:xfrm>
          <a:prstGeom prst="rect">
            <a:avLst/>
          </a:prstGeom>
        </p:spPr>
      </p:pic>
      <p:sp>
        <p:nvSpPr>
          <p:cNvPr id="15" name="On-ramp 2 title"/>
          <p:cNvSpPr txBox="1"/>
          <p:nvPr/>
        </p:nvSpPr>
        <p:spPr>
          <a:xfrm>
            <a:off x="1280160" y="3520439"/>
            <a:ext cx="1828800" cy="320040"/>
          </a:xfrm>
          <a:prstGeom prst="rect">
            <a:avLst/>
          </a:prstGeom>
          <a:noFill/>
        </p:spPr>
        <p:txBody>
          <a:bodyPr wrap="square" lIns="0" tIns="0" rIns="0" bIns="0" anchor="t">
            <a:spAutoFit/>
          </a:bodyPr>
          <a:lstStyle/>
          <a:p>
            <a:pPr algn="l"/>
            <a:r>
              <a:rPr sz="1400" b="1" i="0">
                <a:solidFill>
                  <a:srgbClr val="1F1F1F"/>
                </a:solidFill>
                <a:latin typeface="Arial"/>
              </a:rPr>
              <a:t>Clientless browser</a:t>
            </a:r>
          </a:p>
        </p:txBody>
      </p:sp>
      <p:sp>
        <p:nvSpPr>
          <p:cNvPr id="16" name="On-ramp 2 text"/>
          <p:cNvSpPr txBox="1"/>
          <p:nvPr/>
        </p:nvSpPr>
        <p:spPr>
          <a:xfrm>
            <a:off x="1280160" y="3867911"/>
            <a:ext cx="1828800" cy="365760"/>
          </a:xfrm>
          <a:prstGeom prst="rect">
            <a:avLst/>
          </a:prstGeom>
          <a:noFill/>
        </p:spPr>
        <p:txBody>
          <a:bodyPr wrap="square" lIns="0" tIns="0" rIns="0" bIns="0" anchor="t">
            <a:spAutoFit/>
          </a:bodyPr>
          <a:lstStyle/>
          <a:p>
            <a:pPr algn="l"/>
            <a:r>
              <a:rPr sz="1200" b="0" i="0">
                <a:solidFill>
                  <a:srgbClr val="595959"/>
                </a:solidFill>
                <a:latin typeface="Arial"/>
              </a:rPr>
              <a:t>Contractors and BYOD</a:t>
            </a:r>
          </a:p>
        </p:txBody>
      </p:sp>
      <p:sp>
        <p:nvSpPr>
          <p:cNvPr id="17" name="On-ramp 3"/>
          <p:cNvSpPr/>
          <p:nvPr/>
        </p:nvSpPr>
        <p:spPr>
          <a:xfrm>
            <a:off x="411480" y="4617720"/>
            <a:ext cx="274320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Icon circle"/>
          <p:cNvSpPr/>
          <p:nvPr/>
        </p:nvSpPr>
        <p:spPr>
          <a:xfrm>
            <a:off x="566928" y="4919472"/>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FaBuilding"/>
          <p:cNvPicPr>
            <a:picLocks noChangeAspect="1"/>
          </p:cNvPicPr>
          <p:nvPr/>
        </p:nvPicPr>
        <p:blipFill>
          <a:blip r:embed="rId6"/>
          <a:stretch>
            <a:fillRect/>
          </a:stretch>
        </p:blipFill>
        <p:spPr>
          <a:xfrm>
            <a:off x="691652" y="5044196"/>
            <a:ext cx="317479" cy="317479"/>
          </a:xfrm>
          <a:prstGeom prst="rect">
            <a:avLst/>
          </a:prstGeom>
        </p:spPr>
      </p:pic>
      <p:sp>
        <p:nvSpPr>
          <p:cNvPr id="20" name="On-ramp 3 title"/>
          <p:cNvSpPr txBox="1"/>
          <p:nvPr/>
        </p:nvSpPr>
        <p:spPr>
          <a:xfrm>
            <a:off x="1280160" y="4892040"/>
            <a:ext cx="1828800" cy="320040"/>
          </a:xfrm>
          <a:prstGeom prst="rect">
            <a:avLst/>
          </a:prstGeom>
          <a:noFill/>
        </p:spPr>
        <p:txBody>
          <a:bodyPr wrap="square" lIns="0" tIns="0" rIns="0" bIns="0" anchor="t">
            <a:spAutoFit/>
          </a:bodyPr>
          <a:lstStyle/>
          <a:p>
            <a:pPr algn="l"/>
            <a:r>
              <a:rPr sz="1400" b="1" i="0">
                <a:solidFill>
                  <a:srgbClr val="1F1F1F"/>
                </a:solidFill>
                <a:latin typeface="Arial"/>
              </a:rPr>
              <a:t>Cloudflare WAN</a:t>
            </a:r>
          </a:p>
        </p:txBody>
      </p:sp>
      <p:sp>
        <p:nvSpPr>
          <p:cNvPr id="21" name="On-ramp 3 text"/>
          <p:cNvSpPr txBox="1"/>
          <p:nvPr/>
        </p:nvSpPr>
        <p:spPr>
          <a:xfrm>
            <a:off x="1280160" y="5239512"/>
            <a:ext cx="1828800" cy="365760"/>
          </a:xfrm>
          <a:prstGeom prst="rect">
            <a:avLst/>
          </a:prstGeom>
          <a:noFill/>
        </p:spPr>
        <p:txBody>
          <a:bodyPr wrap="square" lIns="0" tIns="0" rIns="0" bIns="0" anchor="t">
            <a:spAutoFit/>
          </a:bodyPr>
          <a:lstStyle/>
          <a:p>
            <a:pPr algn="l"/>
            <a:r>
              <a:rPr sz="1200" b="0" i="0">
                <a:solidFill>
                  <a:srgbClr val="595959"/>
                </a:solidFill>
                <a:latin typeface="Arial"/>
              </a:rPr>
              <a:t>Branches and data centres</a:t>
            </a:r>
          </a:p>
        </p:txBody>
      </p:sp>
      <p:sp>
        <p:nvSpPr>
          <p:cNvPr id="22" name="Cloudflare network"/>
          <p:cNvSpPr/>
          <p:nvPr/>
        </p:nvSpPr>
        <p:spPr>
          <a:xfrm>
            <a:off x="3749039" y="1874519"/>
            <a:ext cx="4663440" cy="3931920"/>
          </a:xfrm>
          <a:prstGeom prst="roundRect">
            <a:avLst>
              <a:gd name="adj" fmla="val 4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Network title"/>
          <p:cNvSpPr txBox="1"/>
          <p:nvPr/>
        </p:nvSpPr>
        <p:spPr>
          <a:xfrm>
            <a:off x="3977639" y="2011680"/>
            <a:ext cx="4206240" cy="365760"/>
          </a:xfrm>
          <a:prstGeom prst="rect">
            <a:avLst/>
          </a:prstGeom>
          <a:noFill/>
        </p:spPr>
        <p:txBody>
          <a:bodyPr wrap="square" lIns="0" tIns="0" rIns="0" bIns="0" anchor="t">
            <a:spAutoFit/>
          </a:bodyPr>
          <a:lstStyle/>
          <a:p>
            <a:pPr algn="l"/>
            <a:r>
              <a:rPr sz="1900" b="1" i="0">
                <a:solidFill>
                  <a:srgbClr val="FFFFFF"/>
                </a:solidFill>
                <a:latin typeface="Arial"/>
              </a:rPr>
              <a:t>Cloudflare global network</a:t>
            </a:r>
          </a:p>
        </p:txBody>
      </p:sp>
      <p:sp>
        <p:nvSpPr>
          <p:cNvPr id="24" name="Network subtitle"/>
          <p:cNvSpPr txBox="1"/>
          <p:nvPr/>
        </p:nvSpPr>
        <p:spPr>
          <a:xfrm>
            <a:off x="3977639" y="2423160"/>
            <a:ext cx="4206240" cy="274320"/>
          </a:xfrm>
          <a:prstGeom prst="rect">
            <a:avLst/>
          </a:prstGeom>
          <a:noFill/>
        </p:spPr>
        <p:txBody>
          <a:bodyPr wrap="square" lIns="0" tIns="0" rIns="0" bIns="0" anchor="t">
            <a:spAutoFit/>
          </a:bodyPr>
          <a:lstStyle/>
          <a:p>
            <a:pPr algn="l"/>
            <a:r>
              <a:rPr sz="1200" b="0" i="0">
                <a:solidFill>
                  <a:srgbClr val="FFFFFF"/>
                </a:solidFill>
                <a:latin typeface="Arial"/>
              </a:rPr>
              <a:t>One network, one policy engine, 335 cities</a:t>
            </a:r>
          </a:p>
        </p:txBody>
      </p:sp>
      <p:sp>
        <p:nvSpPr>
          <p:cNvPr id="25" name="Service chip 1"/>
          <p:cNvSpPr/>
          <p:nvPr/>
        </p:nvSpPr>
        <p:spPr>
          <a:xfrm>
            <a:off x="3977639" y="2834640"/>
            <a:ext cx="20116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1F1F1F"/>
                </a:solidFill>
                <a:latin typeface="Arial"/>
              </a:rPr>
              <a:t>Access</a:t>
            </a:r>
          </a:p>
          <a:p>
            <a:pPr algn="ctr"/>
            <a:r>
              <a:rPr sz="1100" b="0" i="0">
                <a:solidFill>
                  <a:srgbClr val="595959"/>
                </a:solidFill>
                <a:latin typeface="Arial"/>
              </a:rPr>
              <a:t>ZTNA</a:t>
            </a:r>
          </a:p>
        </p:txBody>
      </p:sp>
      <p:sp>
        <p:nvSpPr>
          <p:cNvPr id="26" name="Service chip 2"/>
          <p:cNvSpPr/>
          <p:nvPr/>
        </p:nvSpPr>
        <p:spPr>
          <a:xfrm>
            <a:off x="6172200" y="2834640"/>
            <a:ext cx="20116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1F1F1F"/>
                </a:solidFill>
                <a:latin typeface="Arial"/>
              </a:rPr>
              <a:t>Gateway</a:t>
            </a:r>
          </a:p>
          <a:p>
            <a:pPr algn="ctr"/>
            <a:r>
              <a:rPr sz="1100" b="0" i="0">
                <a:solidFill>
                  <a:srgbClr val="595959"/>
                </a:solidFill>
                <a:latin typeface="Arial"/>
              </a:rPr>
              <a:t>SWG, DNS, firewall</a:t>
            </a:r>
          </a:p>
        </p:txBody>
      </p:sp>
      <p:sp>
        <p:nvSpPr>
          <p:cNvPr id="27" name="Service chip 3"/>
          <p:cNvSpPr/>
          <p:nvPr/>
        </p:nvSpPr>
        <p:spPr>
          <a:xfrm>
            <a:off x="3977639" y="3703320"/>
            <a:ext cx="20116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1F1F1F"/>
                </a:solidFill>
                <a:latin typeface="Arial"/>
              </a:rPr>
              <a:t>Browser Isolation</a:t>
            </a:r>
          </a:p>
          <a:p>
            <a:pPr algn="ctr"/>
            <a:r>
              <a:rPr sz="1100" b="0" i="0">
                <a:solidFill>
                  <a:srgbClr val="595959"/>
                </a:solidFill>
                <a:latin typeface="Arial"/>
              </a:rPr>
              <a:t>Remote browser</a:t>
            </a:r>
          </a:p>
        </p:txBody>
      </p:sp>
      <p:sp>
        <p:nvSpPr>
          <p:cNvPr id="28" name="Service chip 4"/>
          <p:cNvSpPr/>
          <p:nvPr/>
        </p:nvSpPr>
        <p:spPr>
          <a:xfrm>
            <a:off x="6172200" y="3703320"/>
            <a:ext cx="2011680" cy="74980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1F1F1F"/>
                </a:solidFill>
                <a:latin typeface="Arial"/>
              </a:rPr>
              <a:t>Cloudflare One Client</a:t>
            </a:r>
          </a:p>
          <a:p>
            <a:pPr algn="ctr"/>
            <a:r>
              <a:rPr sz="1100" b="0" i="0">
                <a:solidFill>
                  <a:srgbClr val="595959"/>
                </a:solidFill>
                <a:latin typeface="Arial"/>
              </a:rPr>
              <a:t>Posture and tunnel</a:t>
            </a:r>
          </a:p>
        </p:txBody>
      </p:sp>
      <p:sp>
        <p:nvSpPr>
          <p:cNvPr id="29" name="Service chip 5"/>
          <p:cNvSpPr/>
          <p:nvPr/>
        </p:nvSpPr>
        <p:spPr>
          <a:xfrm>
            <a:off x="3977639" y="4572000"/>
            <a:ext cx="2011680" cy="749808"/>
          </a:xfrm>
          <a:prstGeom prst="roundRect">
            <a:avLst>
              <a:gd name="adj" fmla="val 12000"/>
            </a:avLst>
          </a:prstGeom>
          <a:solidFill>
            <a:srgbClr val="FFD6B0"/>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1F1F1F"/>
                </a:solidFill>
                <a:latin typeface="Arial"/>
              </a:rPr>
              <a:t>DLP and CASB</a:t>
            </a:r>
          </a:p>
          <a:p>
            <a:pPr algn="ctr"/>
            <a:r>
              <a:rPr sz="1100" b="0" i="0">
                <a:solidFill>
                  <a:srgbClr val="595959"/>
                </a:solidFill>
                <a:latin typeface="Arial"/>
              </a:rPr>
              <a:t>Data protection</a:t>
            </a:r>
          </a:p>
        </p:txBody>
      </p:sp>
      <p:sp>
        <p:nvSpPr>
          <p:cNvPr id="30" name="Service chip 6"/>
          <p:cNvSpPr/>
          <p:nvPr/>
        </p:nvSpPr>
        <p:spPr>
          <a:xfrm>
            <a:off x="6172200" y="4572000"/>
            <a:ext cx="2011680" cy="749808"/>
          </a:xfrm>
          <a:prstGeom prst="roundRect">
            <a:avLst>
              <a:gd name="adj" fmla="val 12000"/>
            </a:avLst>
          </a:prstGeom>
          <a:solidFill>
            <a:srgbClr val="FFD6B0"/>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1F1F1F"/>
                </a:solidFill>
                <a:latin typeface="Arial"/>
              </a:rPr>
              <a:t>Email security</a:t>
            </a:r>
          </a:p>
          <a:p>
            <a:pPr algn="ctr"/>
            <a:r>
              <a:rPr sz="1100" b="0" i="0">
                <a:solidFill>
                  <a:srgbClr val="595959"/>
                </a:solidFill>
                <a:latin typeface="Arial"/>
              </a:rPr>
              <a:t>Phishing defence</a:t>
            </a:r>
          </a:p>
        </p:txBody>
      </p:sp>
      <p:sp>
        <p:nvSpPr>
          <p:cNvPr id="31" name="Legend"/>
          <p:cNvSpPr txBox="1"/>
          <p:nvPr/>
        </p:nvSpPr>
        <p:spPr>
          <a:xfrm>
            <a:off x="3977639" y="5468112"/>
            <a:ext cx="4206240" cy="274320"/>
          </a:xfrm>
          <a:prstGeom prst="rect">
            <a:avLst/>
          </a:prstGeom>
          <a:noFill/>
        </p:spPr>
        <p:txBody>
          <a:bodyPr wrap="square" lIns="0" tIns="0" rIns="0" bIns="0" anchor="t">
            <a:spAutoFit/>
          </a:bodyPr>
          <a:lstStyle/>
          <a:p>
            <a:pPr algn="l"/>
            <a:r>
              <a:rPr sz="1100" b="0" i="0">
                <a:solidFill>
                  <a:srgbClr val="FFFFFF"/>
                </a:solidFill>
                <a:latin typeface="Arial"/>
              </a:rPr>
              <a:t>White = covered today</a:t>
            </a:r>
          </a:p>
        </p:txBody>
      </p:sp>
      <p:sp>
        <p:nvSpPr>
          <p:cNvPr id="32" name="Destination 1"/>
          <p:cNvSpPr/>
          <p:nvPr/>
        </p:nvSpPr>
        <p:spPr>
          <a:xfrm>
            <a:off x="9006840" y="1874519"/>
            <a:ext cx="278892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con circle"/>
          <p:cNvSpPr/>
          <p:nvPr/>
        </p:nvSpPr>
        <p:spPr>
          <a:xfrm>
            <a:off x="9162288" y="2176272"/>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on FaServer"/>
          <p:cNvPicPr>
            <a:picLocks noChangeAspect="1"/>
          </p:cNvPicPr>
          <p:nvPr/>
        </p:nvPicPr>
        <p:blipFill>
          <a:blip r:embed="rId7"/>
          <a:stretch>
            <a:fillRect/>
          </a:stretch>
        </p:blipFill>
        <p:spPr>
          <a:xfrm>
            <a:off x="9287012" y="2300996"/>
            <a:ext cx="317479" cy="317479"/>
          </a:xfrm>
          <a:prstGeom prst="rect">
            <a:avLst/>
          </a:prstGeom>
        </p:spPr>
      </p:pic>
      <p:sp>
        <p:nvSpPr>
          <p:cNvPr id="35" name="Destination 1 title"/>
          <p:cNvSpPr txBox="1"/>
          <p:nvPr/>
        </p:nvSpPr>
        <p:spPr>
          <a:xfrm>
            <a:off x="9875520" y="2148839"/>
            <a:ext cx="1874519" cy="320040"/>
          </a:xfrm>
          <a:prstGeom prst="rect">
            <a:avLst/>
          </a:prstGeom>
          <a:noFill/>
        </p:spPr>
        <p:txBody>
          <a:bodyPr wrap="square" lIns="0" tIns="0" rIns="0" bIns="0" anchor="t">
            <a:spAutoFit/>
          </a:bodyPr>
          <a:lstStyle/>
          <a:p>
            <a:pPr algn="l"/>
            <a:r>
              <a:rPr sz="1400" b="1" i="0">
                <a:solidFill>
                  <a:srgbClr val="1F1F1F"/>
                </a:solidFill>
                <a:latin typeface="Arial"/>
              </a:rPr>
              <a:t>Private apps</a:t>
            </a:r>
          </a:p>
        </p:txBody>
      </p:sp>
      <p:sp>
        <p:nvSpPr>
          <p:cNvPr id="36" name="Destination 1 text"/>
          <p:cNvSpPr txBox="1"/>
          <p:nvPr/>
        </p:nvSpPr>
        <p:spPr>
          <a:xfrm>
            <a:off x="9875520" y="2496312"/>
            <a:ext cx="1874519" cy="365760"/>
          </a:xfrm>
          <a:prstGeom prst="rect">
            <a:avLst/>
          </a:prstGeom>
          <a:noFill/>
        </p:spPr>
        <p:txBody>
          <a:bodyPr wrap="square" lIns="0" tIns="0" rIns="0" bIns="0" anchor="t">
            <a:spAutoFit/>
          </a:bodyPr>
          <a:lstStyle/>
          <a:p>
            <a:pPr algn="l"/>
            <a:r>
              <a:rPr sz="1200" b="0" i="0">
                <a:solidFill>
                  <a:srgbClr val="595959"/>
                </a:solidFill>
                <a:latin typeface="Arial"/>
              </a:rPr>
              <a:t>Connected by Tunnel</a:t>
            </a:r>
          </a:p>
        </p:txBody>
      </p:sp>
      <p:sp>
        <p:nvSpPr>
          <p:cNvPr id="37" name="Destination 2"/>
          <p:cNvSpPr/>
          <p:nvPr/>
        </p:nvSpPr>
        <p:spPr>
          <a:xfrm>
            <a:off x="9006840" y="3246120"/>
            <a:ext cx="278892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Icon circle"/>
          <p:cNvSpPr/>
          <p:nvPr/>
        </p:nvSpPr>
        <p:spPr>
          <a:xfrm>
            <a:off x="9162288" y="3547872"/>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Icon FaCloud"/>
          <p:cNvPicPr>
            <a:picLocks noChangeAspect="1"/>
          </p:cNvPicPr>
          <p:nvPr/>
        </p:nvPicPr>
        <p:blipFill>
          <a:blip r:embed="rId8"/>
          <a:stretch>
            <a:fillRect/>
          </a:stretch>
        </p:blipFill>
        <p:spPr>
          <a:xfrm>
            <a:off x="9287012" y="3672596"/>
            <a:ext cx="317479" cy="317479"/>
          </a:xfrm>
          <a:prstGeom prst="rect">
            <a:avLst/>
          </a:prstGeom>
        </p:spPr>
      </p:pic>
      <p:sp>
        <p:nvSpPr>
          <p:cNvPr id="40" name="Destination 2 title"/>
          <p:cNvSpPr txBox="1"/>
          <p:nvPr/>
        </p:nvSpPr>
        <p:spPr>
          <a:xfrm>
            <a:off x="9875520" y="3520439"/>
            <a:ext cx="1874519" cy="320040"/>
          </a:xfrm>
          <a:prstGeom prst="rect">
            <a:avLst/>
          </a:prstGeom>
          <a:noFill/>
        </p:spPr>
        <p:txBody>
          <a:bodyPr wrap="square" lIns="0" tIns="0" rIns="0" bIns="0" anchor="t">
            <a:spAutoFit/>
          </a:bodyPr>
          <a:lstStyle/>
          <a:p>
            <a:pPr algn="l"/>
            <a:r>
              <a:rPr sz="1400" b="1" i="0">
                <a:solidFill>
                  <a:srgbClr val="1F1F1F"/>
                </a:solidFill>
                <a:latin typeface="Arial"/>
              </a:rPr>
              <a:t>SaaS apps</a:t>
            </a:r>
          </a:p>
        </p:txBody>
      </p:sp>
      <p:sp>
        <p:nvSpPr>
          <p:cNvPr id="41" name="Destination 2 text"/>
          <p:cNvSpPr txBox="1"/>
          <p:nvPr/>
        </p:nvSpPr>
        <p:spPr>
          <a:xfrm>
            <a:off x="9875520" y="3867911"/>
            <a:ext cx="1874519" cy="365760"/>
          </a:xfrm>
          <a:prstGeom prst="rect">
            <a:avLst/>
          </a:prstGeom>
          <a:noFill/>
        </p:spPr>
        <p:txBody>
          <a:bodyPr wrap="square" lIns="0" tIns="0" rIns="0" bIns="0" anchor="t">
            <a:spAutoFit/>
          </a:bodyPr>
          <a:lstStyle/>
          <a:p>
            <a:pPr algn="l"/>
            <a:r>
              <a:rPr sz="1200" b="0" i="0">
                <a:solidFill>
                  <a:srgbClr val="595959"/>
                </a:solidFill>
                <a:latin typeface="Arial"/>
              </a:rPr>
              <a:t>Microsoft 365, Salesforce</a:t>
            </a:r>
          </a:p>
        </p:txBody>
      </p:sp>
      <p:sp>
        <p:nvSpPr>
          <p:cNvPr id="42" name="Destination 3"/>
          <p:cNvSpPr/>
          <p:nvPr/>
        </p:nvSpPr>
        <p:spPr>
          <a:xfrm>
            <a:off x="9006840" y="4617720"/>
            <a:ext cx="278892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con circle"/>
          <p:cNvSpPr/>
          <p:nvPr/>
        </p:nvSpPr>
        <p:spPr>
          <a:xfrm>
            <a:off x="9162288" y="4919472"/>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Icon FaGlobe"/>
          <p:cNvPicPr>
            <a:picLocks noChangeAspect="1"/>
          </p:cNvPicPr>
          <p:nvPr/>
        </p:nvPicPr>
        <p:blipFill>
          <a:blip r:embed="rId5"/>
          <a:stretch>
            <a:fillRect/>
          </a:stretch>
        </p:blipFill>
        <p:spPr>
          <a:xfrm>
            <a:off x="9287012" y="5044196"/>
            <a:ext cx="317479" cy="317479"/>
          </a:xfrm>
          <a:prstGeom prst="rect">
            <a:avLst/>
          </a:prstGeom>
        </p:spPr>
      </p:pic>
      <p:sp>
        <p:nvSpPr>
          <p:cNvPr id="45" name="Destination 3 title"/>
          <p:cNvSpPr txBox="1"/>
          <p:nvPr/>
        </p:nvSpPr>
        <p:spPr>
          <a:xfrm>
            <a:off x="9875520" y="4892040"/>
            <a:ext cx="1874519" cy="320040"/>
          </a:xfrm>
          <a:prstGeom prst="rect">
            <a:avLst/>
          </a:prstGeom>
          <a:noFill/>
        </p:spPr>
        <p:txBody>
          <a:bodyPr wrap="square" lIns="0" tIns="0" rIns="0" bIns="0" anchor="t">
            <a:spAutoFit/>
          </a:bodyPr>
          <a:lstStyle/>
          <a:p>
            <a:pPr algn="l"/>
            <a:r>
              <a:rPr sz="1400" b="1" i="0">
                <a:solidFill>
                  <a:srgbClr val="1F1F1F"/>
                </a:solidFill>
                <a:latin typeface="Arial"/>
              </a:rPr>
              <a:t>The Internet</a:t>
            </a:r>
          </a:p>
        </p:txBody>
      </p:sp>
      <p:sp>
        <p:nvSpPr>
          <p:cNvPr id="46" name="Destination 3 text"/>
          <p:cNvSpPr txBox="1"/>
          <p:nvPr/>
        </p:nvSpPr>
        <p:spPr>
          <a:xfrm>
            <a:off x="9875520" y="5239512"/>
            <a:ext cx="1874519" cy="365760"/>
          </a:xfrm>
          <a:prstGeom prst="rect">
            <a:avLst/>
          </a:prstGeom>
          <a:noFill/>
        </p:spPr>
        <p:txBody>
          <a:bodyPr wrap="square" lIns="0" tIns="0" rIns="0" bIns="0" anchor="t">
            <a:spAutoFit/>
          </a:bodyPr>
          <a:lstStyle/>
          <a:p>
            <a:pPr algn="l"/>
            <a:r>
              <a:rPr sz="1200" b="0" i="0">
                <a:solidFill>
                  <a:srgbClr val="595959"/>
                </a:solidFill>
                <a:latin typeface="Arial"/>
              </a:rPr>
              <a:t>Filtered and isolated</a:t>
            </a:r>
          </a:p>
        </p:txBody>
      </p:sp>
      <p:cxnSp>
        <p:nvCxnSpPr>
          <p:cNvPr id="47" name="Arrow in"/>
          <p:cNvCxnSpPr/>
          <p:nvPr/>
        </p:nvCxnSpPr>
        <p:spPr>
          <a:xfrm>
            <a:off x="3200400" y="3840480"/>
            <a:ext cx="502920" cy="0"/>
          </a:xfrm>
          <a:prstGeom prst="line">
            <a:avLst/>
          </a:prstGeom>
          <a:ln w="2857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Arrow out"/>
          <p:cNvCxnSpPr/>
          <p:nvPr/>
        </p:nvCxnSpPr>
        <p:spPr>
          <a:xfrm>
            <a:off x="8458200" y="3840480"/>
            <a:ext cx="502920" cy="0"/>
          </a:xfrm>
          <a:prstGeom prst="line">
            <a:avLst/>
          </a:prstGeom>
          <a:ln w="2857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Zero Trust: every request is verified</a:t>
            </a:r>
          </a:p>
        </p:txBody>
      </p:sp>
      <p:sp>
        <p:nvSpPr>
          <p:cNvPr id="4" name="Step card 1"/>
          <p:cNvSpPr/>
          <p:nvPr/>
        </p:nvSpPr>
        <p:spPr>
          <a:xfrm>
            <a:off x="411480" y="1737360"/>
            <a:ext cx="2103120" cy="2240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ep 1"/>
          <p:cNvSpPr/>
          <p:nvPr/>
        </p:nvSpPr>
        <p:spPr>
          <a:xfrm>
            <a:off x="576072"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1</a:t>
            </a:r>
          </a:p>
        </p:txBody>
      </p:sp>
      <p:sp>
        <p:nvSpPr>
          <p:cNvPr id="6" name="Icon circle"/>
          <p:cNvSpPr/>
          <p:nvPr/>
        </p:nvSpPr>
        <p:spPr>
          <a:xfrm>
            <a:off x="1737360"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FaDesktop"/>
          <p:cNvPicPr>
            <a:picLocks noChangeAspect="1"/>
          </p:cNvPicPr>
          <p:nvPr/>
        </p:nvPicPr>
        <p:blipFill>
          <a:blip r:embed="rId4"/>
          <a:stretch>
            <a:fillRect/>
          </a:stretch>
        </p:blipFill>
        <p:spPr>
          <a:xfrm>
            <a:off x="1868119" y="1959559"/>
            <a:ext cx="332841" cy="332841"/>
          </a:xfrm>
          <a:prstGeom prst="rect">
            <a:avLst/>
          </a:prstGeom>
        </p:spPr>
      </p:pic>
      <p:sp>
        <p:nvSpPr>
          <p:cNvPr id="8" name="Step 1 title"/>
          <p:cNvSpPr txBox="1"/>
          <p:nvPr/>
        </p:nvSpPr>
        <p:spPr>
          <a:xfrm>
            <a:off x="576072" y="2606040"/>
            <a:ext cx="1783080" cy="320040"/>
          </a:xfrm>
          <a:prstGeom prst="rect">
            <a:avLst/>
          </a:prstGeom>
          <a:noFill/>
        </p:spPr>
        <p:txBody>
          <a:bodyPr wrap="square" lIns="0" tIns="0" rIns="0" bIns="0" anchor="t">
            <a:spAutoFit/>
          </a:bodyPr>
          <a:lstStyle/>
          <a:p>
            <a:pPr algn="l"/>
            <a:r>
              <a:rPr sz="1600" b="1" i="0">
                <a:solidFill>
                  <a:srgbClr val="1F1F1F"/>
                </a:solidFill>
                <a:latin typeface="Arial"/>
              </a:rPr>
              <a:t>Request</a:t>
            </a:r>
          </a:p>
        </p:txBody>
      </p:sp>
      <p:sp>
        <p:nvSpPr>
          <p:cNvPr id="9" name="Step 1 text"/>
          <p:cNvSpPr txBox="1"/>
          <p:nvPr/>
        </p:nvSpPr>
        <p:spPr>
          <a:xfrm>
            <a:off x="576072" y="2971800"/>
            <a:ext cx="1783080" cy="914400"/>
          </a:xfrm>
          <a:prstGeom prst="rect">
            <a:avLst/>
          </a:prstGeom>
          <a:noFill/>
        </p:spPr>
        <p:txBody>
          <a:bodyPr wrap="square" lIns="0" tIns="0" rIns="0" bIns="0" anchor="t">
            <a:spAutoFit/>
          </a:bodyPr>
          <a:lstStyle/>
          <a:p>
            <a:pPr algn="l"/>
            <a:r>
              <a:rPr sz="1300" b="0" i="0">
                <a:solidFill>
                  <a:srgbClr val="595959"/>
                </a:solidFill>
                <a:latin typeface="Arial"/>
              </a:rPr>
              <a:t>User opens an internal app</a:t>
            </a:r>
          </a:p>
        </p:txBody>
      </p:sp>
      <p:cxnSp>
        <p:nvCxnSpPr>
          <p:cNvPr id="10" name="Step arrow"/>
          <p:cNvCxnSpPr/>
          <p:nvPr/>
        </p:nvCxnSpPr>
        <p:spPr>
          <a:xfrm>
            <a:off x="2532888" y="283464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tep card 2"/>
          <p:cNvSpPr/>
          <p:nvPr/>
        </p:nvSpPr>
        <p:spPr>
          <a:xfrm>
            <a:off x="2715768" y="1737360"/>
            <a:ext cx="2103120" cy="2240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ep 2"/>
          <p:cNvSpPr/>
          <p:nvPr/>
        </p:nvSpPr>
        <p:spPr>
          <a:xfrm>
            <a:off x="2880360"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2</a:t>
            </a:r>
          </a:p>
        </p:txBody>
      </p:sp>
      <p:sp>
        <p:nvSpPr>
          <p:cNvPr id="13" name="Icon circle"/>
          <p:cNvSpPr/>
          <p:nvPr/>
        </p:nvSpPr>
        <p:spPr>
          <a:xfrm>
            <a:off x="4041648"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Icon FaUserLock"/>
          <p:cNvPicPr>
            <a:picLocks noChangeAspect="1"/>
          </p:cNvPicPr>
          <p:nvPr/>
        </p:nvPicPr>
        <p:blipFill>
          <a:blip r:embed="rId5"/>
          <a:stretch>
            <a:fillRect/>
          </a:stretch>
        </p:blipFill>
        <p:spPr>
          <a:xfrm>
            <a:off x="4172407" y="1959559"/>
            <a:ext cx="332841" cy="332841"/>
          </a:xfrm>
          <a:prstGeom prst="rect">
            <a:avLst/>
          </a:prstGeom>
        </p:spPr>
      </p:pic>
      <p:sp>
        <p:nvSpPr>
          <p:cNvPr id="15" name="Step 2 title"/>
          <p:cNvSpPr txBox="1"/>
          <p:nvPr/>
        </p:nvSpPr>
        <p:spPr>
          <a:xfrm>
            <a:off x="2880360" y="2606040"/>
            <a:ext cx="1783080" cy="320040"/>
          </a:xfrm>
          <a:prstGeom prst="rect">
            <a:avLst/>
          </a:prstGeom>
          <a:noFill/>
        </p:spPr>
        <p:txBody>
          <a:bodyPr wrap="square" lIns="0" tIns="0" rIns="0" bIns="0" anchor="t">
            <a:spAutoFit/>
          </a:bodyPr>
          <a:lstStyle/>
          <a:p>
            <a:pPr algn="l"/>
            <a:r>
              <a:rPr sz="1600" b="1" i="0">
                <a:solidFill>
                  <a:srgbClr val="1F1F1F"/>
                </a:solidFill>
                <a:latin typeface="Arial"/>
              </a:rPr>
              <a:t>Identity</a:t>
            </a:r>
          </a:p>
        </p:txBody>
      </p:sp>
      <p:sp>
        <p:nvSpPr>
          <p:cNvPr id="16" name="Step 2 text"/>
          <p:cNvSpPr txBox="1"/>
          <p:nvPr/>
        </p:nvSpPr>
        <p:spPr>
          <a:xfrm>
            <a:off x="2880360" y="2971800"/>
            <a:ext cx="1783080" cy="914400"/>
          </a:xfrm>
          <a:prstGeom prst="rect">
            <a:avLst/>
          </a:prstGeom>
          <a:noFill/>
        </p:spPr>
        <p:txBody>
          <a:bodyPr wrap="square" lIns="0" tIns="0" rIns="0" bIns="0" anchor="t">
            <a:spAutoFit/>
          </a:bodyPr>
          <a:lstStyle/>
          <a:p>
            <a:pPr algn="l"/>
            <a:r>
              <a:rPr sz="1300" b="0" i="0">
                <a:solidFill>
                  <a:srgbClr val="595959"/>
                </a:solidFill>
                <a:latin typeface="Arial"/>
              </a:rPr>
              <a:t>IdP sign-in and multi-factor</a:t>
            </a:r>
          </a:p>
        </p:txBody>
      </p:sp>
      <p:cxnSp>
        <p:nvCxnSpPr>
          <p:cNvPr id="17" name="Step arrow"/>
          <p:cNvCxnSpPr/>
          <p:nvPr/>
        </p:nvCxnSpPr>
        <p:spPr>
          <a:xfrm>
            <a:off x="4837176" y="283464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tep card 3"/>
          <p:cNvSpPr/>
          <p:nvPr/>
        </p:nvSpPr>
        <p:spPr>
          <a:xfrm>
            <a:off x="5020056" y="1737360"/>
            <a:ext cx="2103120" cy="2240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ep 3"/>
          <p:cNvSpPr/>
          <p:nvPr/>
        </p:nvSpPr>
        <p:spPr>
          <a:xfrm>
            <a:off x="5184648"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3</a:t>
            </a:r>
          </a:p>
        </p:txBody>
      </p:sp>
      <p:sp>
        <p:nvSpPr>
          <p:cNvPr id="20" name="Icon circle"/>
          <p:cNvSpPr/>
          <p:nvPr/>
        </p:nvSpPr>
        <p:spPr>
          <a:xfrm>
            <a:off x="6345936"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Laptop"/>
          <p:cNvPicPr>
            <a:picLocks noChangeAspect="1"/>
          </p:cNvPicPr>
          <p:nvPr/>
        </p:nvPicPr>
        <p:blipFill>
          <a:blip r:embed="rId6"/>
          <a:stretch>
            <a:fillRect/>
          </a:stretch>
        </p:blipFill>
        <p:spPr>
          <a:xfrm>
            <a:off x="6476695" y="1959559"/>
            <a:ext cx="332841" cy="332841"/>
          </a:xfrm>
          <a:prstGeom prst="rect">
            <a:avLst/>
          </a:prstGeom>
        </p:spPr>
      </p:pic>
      <p:sp>
        <p:nvSpPr>
          <p:cNvPr id="22" name="Step 3 title"/>
          <p:cNvSpPr txBox="1"/>
          <p:nvPr/>
        </p:nvSpPr>
        <p:spPr>
          <a:xfrm>
            <a:off x="5184648" y="2606040"/>
            <a:ext cx="1783080" cy="320040"/>
          </a:xfrm>
          <a:prstGeom prst="rect">
            <a:avLst/>
          </a:prstGeom>
          <a:noFill/>
        </p:spPr>
        <p:txBody>
          <a:bodyPr wrap="square" lIns="0" tIns="0" rIns="0" bIns="0" anchor="t">
            <a:spAutoFit/>
          </a:bodyPr>
          <a:lstStyle/>
          <a:p>
            <a:pPr algn="l"/>
            <a:r>
              <a:rPr sz="1600" b="1" i="0">
                <a:solidFill>
                  <a:srgbClr val="1F1F1F"/>
                </a:solidFill>
                <a:latin typeface="Arial"/>
              </a:rPr>
              <a:t>Device</a:t>
            </a:r>
          </a:p>
        </p:txBody>
      </p:sp>
      <p:sp>
        <p:nvSpPr>
          <p:cNvPr id="23" name="Step 3 text"/>
          <p:cNvSpPr txBox="1"/>
          <p:nvPr/>
        </p:nvSpPr>
        <p:spPr>
          <a:xfrm>
            <a:off x="5184648" y="2971800"/>
            <a:ext cx="1783080" cy="914400"/>
          </a:xfrm>
          <a:prstGeom prst="rect">
            <a:avLst/>
          </a:prstGeom>
          <a:noFill/>
        </p:spPr>
        <p:txBody>
          <a:bodyPr wrap="square" lIns="0" tIns="0" rIns="0" bIns="0" anchor="t">
            <a:spAutoFit/>
          </a:bodyPr>
          <a:lstStyle/>
          <a:p>
            <a:pPr algn="l"/>
            <a:r>
              <a:rPr sz="1300" b="0" i="0">
                <a:solidFill>
                  <a:srgbClr val="595959"/>
                </a:solidFill>
                <a:latin typeface="Arial"/>
              </a:rPr>
              <a:t>Posture: managed, encrypted, patched</a:t>
            </a:r>
          </a:p>
        </p:txBody>
      </p:sp>
      <p:cxnSp>
        <p:nvCxnSpPr>
          <p:cNvPr id="24" name="Step arrow"/>
          <p:cNvCxnSpPr/>
          <p:nvPr/>
        </p:nvCxnSpPr>
        <p:spPr>
          <a:xfrm>
            <a:off x="7141464" y="283464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Step card 4"/>
          <p:cNvSpPr/>
          <p:nvPr/>
        </p:nvSpPr>
        <p:spPr>
          <a:xfrm>
            <a:off x="7324344" y="1737360"/>
            <a:ext cx="2103120" cy="2240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tep 4"/>
          <p:cNvSpPr/>
          <p:nvPr/>
        </p:nvSpPr>
        <p:spPr>
          <a:xfrm>
            <a:off x="7488936"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4</a:t>
            </a:r>
          </a:p>
        </p:txBody>
      </p:sp>
      <p:sp>
        <p:nvSpPr>
          <p:cNvPr id="27" name="Icon circle"/>
          <p:cNvSpPr/>
          <p:nvPr/>
        </p:nvSpPr>
        <p:spPr>
          <a:xfrm>
            <a:off x="8650224"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FaRoute"/>
          <p:cNvPicPr>
            <a:picLocks noChangeAspect="1"/>
          </p:cNvPicPr>
          <p:nvPr/>
        </p:nvPicPr>
        <p:blipFill>
          <a:blip r:embed="rId7"/>
          <a:stretch>
            <a:fillRect/>
          </a:stretch>
        </p:blipFill>
        <p:spPr>
          <a:xfrm>
            <a:off x="8780983" y="1959559"/>
            <a:ext cx="332841" cy="332841"/>
          </a:xfrm>
          <a:prstGeom prst="rect">
            <a:avLst/>
          </a:prstGeom>
        </p:spPr>
      </p:pic>
      <p:sp>
        <p:nvSpPr>
          <p:cNvPr id="29" name="Step 4 title"/>
          <p:cNvSpPr txBox="1"/>
          <p:nvPr/>
        </p:nvSpPr>
        <p:spPr>
          <a:xfrm>
            <a:off x="7488936" y="2606040"/>
            <a:ext cx="1783080" cy="320040"/>
          </a:xfrm>
          <a:prstGeom prst="rect">
            <a:avLst/>
          </a:prstGeom>
          <a:noFill/>
        </p:spPr>
        <p:txBody>
          <a:bodyPr wrap="square" lIns="0" tIns="0" rIns="0" bIns="0" anchor="t">
            <a:spAutoFit/>
          </a:bodyPr>
          <a:lstStyle/>
          <a:p>
            <a:pPr algn="l"/>
            <a:r>
              <a:rPr sz="1600" b="1" i="0">
                <a:solidFill>
                  <a:srgbClr val="1F1F1F"/>
                </a:solidFill>
                <a:latin typeface="Arial"/>
              </a:rPr>
              <a:t>Context</a:t>
            </a:r>
          </a:p>
        </p:txBody>
      </p:sp>
      <p:sp>
        <p:nvSpPr>
          <p:cNvPr id="30" name="Step 4 text"/>
          <p:cNvSpPr txBox="1"/>
          <p:nvPr/>
        </p:nvSpPr>
        <p:spPr>
          <a:xfrm>
            <a:off x="7488936" y="2971800"/>
            <a:ext cx="1783080" cy="914400"/>
          </a:xfrm>
          <a:prstGeom prst="rect">
            <a:avLst/>
          </a:prstGeom>
          <a:noFill/>
        </p:spPr>
        <p:txBody>
          <a:bodyPr wrap="square" lIns="0" tIns="0" rIns="0" bIns="0" anchor="t">
            <a:spAutoFit/>
          </a:bodyPr>
          <a:lstStyle/>
          <a:p>
            <a:pPr algn="l"/>
            <a:r>
              <a:rPr sz="1300" b="0" i="0">
                <a:solidFill>
                  <a:srgbClr val="595959"/>
                </a:solidFill>
                <a:latin typeface="Arial"/>
              </a:rPr>
              <a:t>Location, risk and app sensitivity</a:t>
            </a:r>
          </a:p>
        </p:txBody>
      </p:sp>
      <p:cxnSp>
        <p:nvCxnSpPr>
          <p:cNvPr id="31" name="Step arrow"/>
          <p:cNvCxnSpPr/>
          <p:nvPr/>
        </p:nvCxnSpPr>
        <p:spPr>
          <a:xfrm>
            <a:off x="9445752" y="283464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Step card 5"/>
          <p:cNvSpPr/>
          <p:nvPr/>
        </p:nvSpPr>
        <p:spPr>
          <a:xfrm>
            <a:off x="9628632" y="1737360"/>
            <a:ext cx="2103120" cy="2240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5"/>
          <p:cNvSpPr/>
          <p:nvPr/>
        </p:nvSpPr>
        <p:spPr>
          <a:xfrm>
            <a:off x="9793224"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5</a:t>
            </a:r>
          </a:p>
        </p:txBody>
      </p:sp>
      <p:sp>
        <p:nvSpPr>
          <p:cNvPr id="34" name="Icon circle"/>
          <p:cNvSpPr/>
          <p:nvPr/>
        </p:nvSpPr>
        <p:spPr>
          <a:xfrm>
            <a:off x="10954511"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Icon FaCheckCircle"/>
          <p:cNvPicPr>
            <a:picLocks noChangeAspect="1"/>
          </p:cNvPicPr>
          <p:nvPr/>
        </p:nvPicPr>
        <p:blipFill>
          <a:blip r:embed="rId8"/>
          <a:stretch>
            <a:fillRect/>
          </a:stretch>
        </p:blipFill>
        <p:spPr>
          <a:xfrm>
            <a:off x="11085271" y="1959559"/>
            <a:ext cx="332841" cy="332841"/>
          </a:xfrm>
          <a:prstGeom prst="rect">
            <a:avLst/>
          </a:prstGeom>
        </p:spPr>
      </p:pic>
      <p:sp>
        <p:nvSpPr>
          <p:cNvPr id="36" name="Step 5 title"/>
          <p:cNvSpPr txBox="1"/>
          <p:nvPr/>
        </p:nvSpPr>
        <p:spPr>
          <a:xfrm>
            <a:off x="9793224" y="2606040"/>
            <a:ext cx="1783080" cy="320040"/>
          </a:xfrm>
          <a:prstGeom prst="rect">
            <a:avLst/>
          </a:prstGeom>
          <a:noFill/>
        </p:spPr>
        <p:txBody>
          <a:bodyPr wrap="square" lIns="0" tIns="0" rIns="0" bIns="0" anchor="t">
            <a:spAutoFit/>
          </a:bodyPr>
          <a:lstStyle/>
          <a:p>
            <a:pPr algn="l"/>
            <a:r>
              <a:rPr sz="1600" b="1" i="0">
                <a:solidFill>
                  <a:srgbClr val="1F1F1F"/>
                </a:solidFill>
                <a:latin typeface="Arial"/>
              </a:rPr>
              <a:t>Decision</a:t>
            </a:r>
          </a:p>
        </p:txBody>
      </p:sp>
      <p:sp>
        <p:nvSpPr>
          <p:cNvPr id="37" name="Step 5 text"/>
          <p:cNvSpPr txBox="1"/>
          <p:nvPr/>
        </p:nvSpPr>
        <p:spPr>
          <a:xfrm>
            <a:off x="9793224" y="2971800"/>
            <a:ext cx="1783080" cy="914400"/>
          </a:xfrm>
          <a:prstGeom prst="rect">
            <a:avLst/>
          </a:prstGeom>
          <a:noFill/>
        </p:spPr>
        <p:txBody>
          <a:bodyPr wrap="square" lIns="0" tIns="0" rIns="0" bIns="0" anchor="t">
            <a:spAutoFit/>
          </a:bodyPr>
          <a:lstStyle/>
          <a:p>
            <a:pPr algn="l"/>
            <a:r>
              <a:rPr sz="1300" b="0" i="0">
                <a:solidFill>
                  <a:srgbClr val="595959"/>
                </a:solidFill>
                <a:latin typeface="Arial"/>
              </a:rPr>
              <a:t>Allow, isolate or block, then log</a:t>
            </a:r>
          </a:p>
        </p:txBody>
      </p:sp>
      <p:sp>
        <p:nvSpPr>
          <p:cNvPr id="38" name="Principle 1"/>
          <p:cNvSpPr/>
          <p:nvPr/>
        </p:nvSpPr>
        <p:spPr>
          <a:xfrm>
            <a:off x="411480" y="4343400"/>
            <a:ext cx="3703320" cy="160020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con circle"/>
          <p:cNvSpPr/>
          <p:nvPr/>
        </p:nvSpPr>
        <p:spPr>
          <a:xfrm>
            <a:off x="612648" y="4544568"/>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FaEye"/>
          <p:cNvPicPr>
            <a:picLocks noChangeAspect="1"/>
          </p:cNvPicPr>
          <p:nvPr/>
        </p:nvPicPr>
        <p:blipFill>
          <a:blip r:embed="rId9"/>
          <a:stretch>
            <a:fillRect/>
          </a:stretch>
        </p:blipFill>
        <p:spPr>
          <a:xfrm>
            <a:off x="737372" y="4669292"/>
            <a:ext cx="317479" cy="317479"/>
          </a:xfrm>
          <a:prstGeom prst="rect">
            <a:avLst/>
          </a:prstGeom>
        </p:spPr>
      </p:pic>
      <p:sp>
        <p:nvSpPr>
          <p:cNvPr id="41" name="Principle 1 title"/>
          <p:cNvSpPr txBox="1"/>
          <p:nvPr/>
        </p:nvSpPr>
        <p:spPr>
          <a:xfrm>
            <a:off x="1371600" y="4544568"/>
            <a:ext cx="2606040" cy="365760"/>
          </a:xfrm>
          <a:prstGeom prst="rect">
            <a:avLst/>
          </a:prstGeom>
          <a:noFill/>
        </p:spPr>
        <p:txBody>
          <a:bodyPr wrap="square" lIns="0" tIns="0" rIns="0" bIns="0" anchor="t">
            <a:spAutoFit/>
          </a:bodyPr>
          <a:lstStyle/>
          <a:p>
            <a:pPr algn="l"/>
            <a:r>
              <a:rPr sz="1700" b="1" i="0">
                <a:solidFill>
                  <a:srgbClr val="FFFFFF"/>
                </a:solidFill>
                <a:latin typeface="Arial"/>
              </a:rPr>
              <a:t>Verify explicitly</a:t>
            </a:r>
          </a:p>
        </p:txBody>
      </p:sp>
      <p:sp>
        <p:nvSpPr>
          <p:cNvPr id="42" name="Principle 1 text"/>
          <p:cNvSpPr txBox="1"/>
          <p:nvPr/>
        </p:nvSpPr>
        <p:spPr>
          <a:xfrm>
            <a:off x="1371600" y="4956048"/>
            <a:ext cx="2606040" cy="914400"/>
          </a:xfrm>
          <a:prstGeom prst="rect">
            <a:avLst/>
          </a:prstGeom>
          <a:noFill/>
        </p:spPr>
        <p:txBody>
          <a:bodyPr wrap="square" lIns="0" tIns="0" rIns="0" bIns="0" anchor="t">
            <a:spAutoFit/>
          </a:bodyPr>
          <a:lstStyle/>
          <a:p>
            <a:pPr algn="l"/>
            <a:r>
              <a:rPr sz="1350" b="0" i="0">
                <a:solidFill>
                  <a:srgbClr val="FFFFFF"/>
                </a:solidFill>
                <a:latin typeface="Arial"/>
              </a:rPr>
              <a:t>Identity, device and location checked on every request</a:t>
            </a:r>
          </a:p>
        </p:txBody>
      </p:sp>
      <p:sp>
        <p:nvSpPr>
          <p:cNvPr id="43" name="Principle 2"/>
          <p:cNvSpPr/>
          <p:nvPr/>
        </p:nvSpPr>
        <p:spPr>
          <a:xfrm>
            <a:off x="4251960" y="4343400"/>
            <a:ext cx="3703320" cy="160020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con circle"/>
          <p:cNvSpPr/>
          <p:nvPr/>
        </p:nvSpPr>
        <p:spPr>
          <a:xfrm>
            <a:off x="4453128" y="4544568"/>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Icon FaKey"/>
          <p:cNvPicPr>
            <a:picLocks noChangeAspect="1"/>
          </p:cNvPicPr>
          <p:nvPr/>
        </p:nvPicPr>
        <p:blipFill>
          <a:blip r:embed="rId10"/>
          <a:stretch>
            <a:fillRect/>
          </a:stretch>
        </p:blipFill>
        <p:spPr>
          <a:xfrm>
            <a:off x="4577852" y="4669292"/>
            <a:ext cx="317479" cy="317479"/>
          </a:xfrm>
          <a:prstGeom prst="rect">
            <a:avLst/>
          </a:prstGeom>
        </p:spPr>
      </p:pic>
      <p:sp>
        <p:nvSpPr>
          <p:cNvPr id="46" name="Principle 2 title"/>
          <p:cNvSpPr txBox="1"/>
          <p:nvPr/>
        </p:nvSpPr>
        <p:spPr>
          <a:xfrm>
            <a:off x="5212080" y="4544568"/>
            <a:ext cx="2606040" cy="365760"/>
          </a:xfrm>
          <a:prstGeom prst="rect">
            <a:avLst/>
          </a:prstGeom>
          <a:noFill/>
        </p:spPr>
        <p:txBody>
          <a:bodyPr wrap="square" lIns="0" tIns="0" rIns="0" bIns="0" anchor="t">
            <a:spAutoFit/>
          </a:bodyPr>
          <a:lstStyle/>
          <a:p>
            <a:pPr algn="l"/>
            <a:r>
              <a:rPr sz="1700" b="1" i="0">
                <a:solidFill>
                  <a:srgbClr val="FFFFFF"/>
                </a:solidFill>
                <a:latin typeface="Arial"/>
              </a:rPr>
              <a:t>Least privilege</a:t>
            </a:r>
          </a:p>
        </p:txBody>
      </p:sp>
      <p:sp>
        <p:nvSpPr>
          <p:cNvPr id="47" name="Principle 2 text"/>
          <p:cNvSpPr txBox="1"/>
          <p:nvPr/>
        </p:nvSpPr>
        <p:spPr>
          <a:xfrm>
            <a:off x="5212080" y="4956048"/>
            <a:ext cx="2606040" cy="914400"/>
          </a:xfrm>
          <a:prstGeom prst="rect">
            <a:avLst/>
          </a:prstGeom>
          <a:noFill/>
        </p:spPr>
        <p:txBody>
          <a:bodyPr wrap="square" lIns="0" tIns="0" rIns="0" bIns="0" anchor="t">
            <a:spAutoFit/>
          </a:bodyPr>
          <a:lstStyle/>
          <a:p>
            <a:pPr algn="l"/>
            <a:r>
              <a:rPr sz="1350" b="0" i="0">
                <a:solidFill>
                  <a:srgbClr val="FFFFFF"/>
                </a:solidFill>
                <a:latin typeface="Arial"/>
              </a:rPr>
              <a:t>Access to one application, not the whole network</a:t>
            </a:r>
          </a:p>
        </p:txBody>
      </p:sp>
      <p:sp>
        <p:nvSpPr>
          <p:cNvPr id="48" name="Principle 3"/>
          <p:cNvSpPr/>
          <p:nvPr/>
        </p:nvSpPr>
        <p:spPr>
          <a:xfrm>
            <a:off x="8092440" y="4343400"/>
            <a:ext cx="3703320" cy="160020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con circle"/>
          <p:cNvSpPr/>
          <p:nvPr/>
        </p:nvSpPr>
        <p:spPr>
          <a:xfrm>
            <a:off x="8293608" y="4544568"/>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Icon FaShieldAlt"/>
          <p:cNvPicPr>
            <a:picLocks noChangeAspect="1"/>
          </p:cNvPicPr>
          <p:nvPr/>
        </p:nvPicPr>
        <p:blipFill>
          <a:blip r:embed="rId11"/>
          <a:stretch>
            <a:fillRect/>
          </a:stretch>
        </p:blipFill>
        <p:spPr>
          <a:xfrm>
            <a:off x="8418332" y="4669292"/>
            <a:ext cx="317479" cy="317479"/>
          </a:xfrm>
          <a:prstGeom prst="rect">
            <a:avLst/>
          </a:prstGeom>
        </p:spPr>
      </p:pic>
      <p:sp>
        <p:nvSpPr>
          <p:cNvPr id="51" name="Principle 3 title"/>
          <p:cNvSpPr txBox="1"/>
          <p:nvPr/>
        </p:nvSpPr>
        <p:spPr>
          <a:xfrm>
            <a:off x="9052560" y="4544568"/>
            <a:ext cx="2606040" cy="365760"/>
          </a:xfrm>
          <a:prstGeom prst="rect">
            <a:avLst/>
          </a:prstGeom>
          <a:noFill/>
        </p:spPr>
        <p:txBody>
          <a:bodyPr wrap="square" lIns="0" tIns="0" rIns="0" bIns="0" anchor="t">
            <a:spAutoFit/>
          </a:bodyPr>
          <a:lstStyle/>
          <a:p>
            <a:pPr algn="l"/>
            <a:r>
              <a:rPr sz="1700" b="1" i="0">
                <a:solidFill>
                  <a:srgbClr val="FFFFFF"/>
                </a:solidFill>
                <a:latin typeface="Arial"/>
              </a:rPr>
              <a:t>Assume breach</a:t>
            </a:r>
          </a:p>
        </p:txBody>
      </p:sp>
      <p:sp>
        <p:nvSpPr>
          <p:cNvPr id="52" name="Principle 3 text"/>
          <p:cNvSpPr txBox="1"/>
          <p:nvPr/>
        </p:nvSpPr>
        <p:spPr>
          <a:xfrm>
            <a:off x="9052560" y="4956048"/>
            <a:ext cx="2606040" cy="914400"/>
          </a:xfrm>
          <a:prstGeom prst="rect">
            <a:avLst/>
          </a:prstGeom>
          <a:noFill/>
        </p:spPr>
        <p:txBody>
          <a:bodyPr wrap="square" lIns="0" tIns="0" rIns="0" bIns="0" anchor="t">
            <a:spAutoFit/>
          </a:bodyPr>
          <a:lstStyle/>
          <a:p>
            <a:pPr algn="l"/>
            <a:r>
              <a:rPr sz="1350" b="0" i="0">
                <a:solidFill>
                  <a:srgbClr val="FFFFFF"/>
                </a:solidFill>
                <a:latin typeface="Arial"/>
              </a:rPr>
              <a:t>Limit the blast radius and log every decision</a:t>
            </a:r>
          </a:p>
        </p:txBody>
      </p:sp>
      <p:sp>
        <p:nvSpPr>
          <p:cNvPr id="53"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Replace the VPN with ZTNA: Access and Tunnel</a:t>
            </a:r>
          </a:p>
        </p:txBody>
      </p:sp>
      <p:sp>
        <p:nvSpPr>
          <p:cNvPr id="4" name="Card VPN today"/>
          <p:cNvSpPr/>
          <p:nvPr/>
        </p:nvSpPr>
        <p:spPr>
          <a:xfrm>
            <a:off x="411480" y="1691640"/>
            <a:ext cx="5577840" cy="4434840"/>
          </a:xfrm>
          <a:prstGeom prst="roundRect">
            <a:avLst>
              <a:gd name="adj" fmla="val 6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VPN heading"/>
          <p:cNvSpPr txBox="1"/>
          <p:nvPr/>
        </p:nvSpPr>
        <p:spPr>
          <a:xfrm>
            <a:off x="640080" y="1810512"/>
            <a:ext cx="5120640" cy="365760"/>
          </a:xfrm>
          <a:prstGeom prst="rect">
            <a:avLst/>
          </a:prstGeom>
          <a:noFill/>
        </p:spPr>
        <p:txBody>
          <a:bodyPr wrap="square" lIns="0" tIns="0" rIns="0" bIns="0" anchor="t">
            <a:spAutoFit/>
          </a:bodyPr>
          <a:lstStyle/>
          <a:p>
            <a:pPr algn="l"/>
            <a:r>
              <a:rPr sz="1900" b="1" i="0">
                <a:solidFill>
                  <a:srgbClr val="1F1F1F"/>
                </a:solidFill>
                <a:latin typeface="Arial"/>
              </a:rPr>
              <a:t>VPN today</a:t>
            </a:r>
          </a:p>
        </p:txBody>
      </p:sp>
      <p:sp>
        <p:nvSpPr>
          <p:cNvPr id="6" name="Icon circle"/>
          <p:cNvSpPr/>
          <p:nvPr/>
        </p:nvSpPr>
        <p:spPr>
          <a:xfrm>
            <a:off x="640080" y="2971800"/>
            <a:ext cx="640080" cy="640080"/>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FaUsers"/>
          <p:cNvPicPr>
            <a:picLocks noChangeAspect="1"/>
          </p:cNvPicPr>
          <p:nvPr/>
        </p:nvPicPr>
        <p:blipFill>
          <a:blip r:embed="rId4"/>
          <a:stretch>
            <a:fillRect/>
          </a:stretch>
        </p:blipFill>
        <p:spPr>
          <a:xfrm>
            <a:off x="780897" y="3112617"/>
            <a:ext cx="358444" cy="358444"/>
          </a:xfrm>
          <a:prstGeom prst="rect">
            <a:avLst/>
          </a:prstGeom>
        </p:spPr>
      </p:pic>
      <p:cxnSp>
        <p:nvCxnSpPr>
          <p:cNvPr id="8" name="Arrow"/>
          <p:cNvCxnSpPr/>
          <p:nvPr/>
        </p:nvCxnSpPr>
        <p:spPr>
          <a:xfrm>
            <a:off x="1325880" y="3291840"/>
            <a:ext cx="365760" cy="0"/>
          </a:xfrm>
          <a:prstGeom prst="line">
            <a:avLst/>
          </a:prstGeom>
          <a:ln w="285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VPN gateway"/>
          <p:cNvSpPr/>
          <p:nvPr/>
        </p:nvSpPr>
        <p:spPr>
          <a:xfrm>
            <a:off x="1737360" y="2926080"/>
            <a:ext cx="1188720" cy="731520"/>
          </a:xfrm>
          <a:prstGeom prst="roundRect">
            <a:avLst>
              <a:gd name="adj" fmla="val 6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FFFFFF"/>
                </a:solidFill>
                <a:latin typeface="Arial"/>
              </a:rPr>
              <a:t>VPN gateway</a:t>
            </a:r>
          </a:p>
        </p:txBody>
      </p:sp>
      <p:cxnSp>
        <p:nvCxnSpPr>
          <p:cNvPr id="10" name="Arrow"/>
          <p:cNvCxnSpPr/>
          <p:nvPr/>
        </p:nvCxnSpPr>
        <p:spPr>
          <a:xfrm>
            <a:off x="2971800" y="3291840"/>
            <a:ext cx="411480" cy="0"/>
          </a:xfrm>
          <a:prstGeom prst="line">
            <a:avLst/>
          </a:prstGeom>
          <a:ln w="285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lat network"/>
          <p:cNvSpPr/>
          <p:nvPr/>
        </p:nvSpPr>
        <p:spPr>
          <a:xfrm>
            <a:off x="3429000" y="2331720"/>
            <a:ext cx="2331720" cy="1920240"/>
          </a:xfrm>
          <a:prstGeom prst="roundRect">
            <a:avLst>
              <a:gd name="adj" fmla="val 6000"/>
            </a:avLst>
          </a:prstGeom>
          <a:solidFill>
            <a:srgbClr val="FFFFFF"/>
          </a:solid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lat network label"/>
          <p:cNvSpPr txBox="1"/>
          <p:nvPr/>
        </p:nvSpPr>
        <p:spPr>
          <a:xfrm>
            <a:off x="3520440" y="2377440"/>
            <a:ext cx="2148840" cy="274320"/>
          </a:xfrm>
          <a:prstGeom prst="rect">
            <a:avLst/>
          </a:prstGeom>
          <a:noFill/>
        </p:spPr>
        <p:txBody>
          <a:bodyPr wrap="square" lIns="0" tIns="0" rIns="0" bIns="0" anchor="t">
            <a:spAutoFit/>
          </a:bodyPr>
          <a:lstStyle/>
          <a:p>
            <a:pPr algn="ctr"/>
            <a:r>
              <a:rPr sz="1100" b="1" i="0">
                <a:solidFill>
                  <a:srgbClr val="595959"/>
                </a:solidFill>
                <a:latin typeface="Arial"/>
              </a:rPr>
              <a:t>Flat corporate network</a:t>
            </a:r>
          </a:p>
        </p:txBody>
      </p:sp>
      <p:sp>
        <p:nvSpPr>
          <p:cNvPr id="13" name="Internal app 1"/>
          <p:cNvSpPr/>
          <p:nvPr/>
        </p:nvSpPr>
        <p:spPr>
          <a:xfrm>
            <a:off x="3584448" y="2743200"/>
            <a:ext cx="960120" cy="548640"/>
          </a:xfrm>
          <a:prstGeom prst="roundRect">
            <a:avLst>
              <a:gd name="adj" fmla="val 12000"/>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ERP</a:t>
            </a:r>
          </a:p>
        </p:txBody>
      </p:sp>
      <p:sp>
        <p:nvSpPr>
          <p:cNvPr id="14" name="Internal app 2"/>
          <p:cNvSpPr/>
          <p:nvPr/>
        </p:nvSpPr>
        <p:spPr>
          <a:xfrm>
            <a:off x="4626864" y="2743200"/>
            <a:ext cx="960120" cy="548640"/>
          </a:xfrm>
          <a:prstGeom prst="roundRect">
            <a:avLst>
              <a:gd name="adj" fmla="val 12000"/>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HR</a:t>
            </a:r>
          </a:p>
        </p:txBody>
      </p:sp>
      <p:sp>
        <p:nvSpPr>
          <p:cNvPr id="15" name="Internal app 3"/>
          <p:cNvSpPr/>
          <p:nvPr/>
        </p:nvSpPr>
        <p:spPr>
          <a:xfrm>
            <a:off x="3584448" y="3429000"/>
            <a:ext cx="960120" cy="548640"/>
          </a:xfrm>
          <a:prstGeom prst="roundRect">
            <a:avLst>
              <a:gd name="adj" fmla="val 12000"/>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Files</a:t>
            </a:r>
          </a:p>
        </p:txBody>
      </p:sp>
      <p:sp>
        <p:nvSpPr>
          <p:cNvPr id="16" name="Internal app 4"/>
          <p:cNvSpPr/>
          <p:nvPr/>
        </p:nvSpPr>
        <p:spPr>
          <a:xfrm>
            <a:off x="4626864" y="3429000"/>
            <a:ext cx="960120" cy="548640"/>
          </a:xfrm>
          <a:prstGeom prst="roundRect">
            <a:avLst>
              <a:gd name="adj" fmla="val 12000"/>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Database</a:t>
            </a:r>
          </a:p>
        </p:txBody>
      </p:sp>
      <p:sp>
        <p:nvSpPr>
          <p:cNvPr id="17" name="VPN drawbacks"/>
          <p:cNvSpPr txBox="1"/>
          <p:nvPr/>
        </p:nvSpPr>
        <p:spPr>
          <a:xfrm>
            <a:off x="640080" y="4526280"/>
            <a:ext cx="5120640" cy="1554480"/>
          </a:xfrm>
          <a:prstGeom prst="rect">
            <a:avLst/>
          </a:prstGeom>
          <a:noFill/>
        </p:spPr>
        <p:txBody>
          <a:bodyPr wrap="square" lIns="0" tIns="0" rIns="0" bIns="0" anchor="t">
            <a:spAutoFit/>
          </a:bodyPr>
          <a:lstStyle/>
          <a:p>
            <a:pPr marL="228600" indent="-228600" algn="l">
              <a:spcAft>
                <a:spcPts val="700"/>
              </a:spcAft>
              <a:buFont typeface="Arial"/>
              <a:buChar char="•"/>
            </a:pPr>
            <a:r>
              <a:rPr sz="1400" b="0" i="0">
                <a:solidFill>
                  <a:srgbClr val="1F1F1F"/>
                </a:solidFill>
                <a:latin typeface="Arial"/>
              </a:rPr>
              <a:t>Broad network access once connected</a:t>
            </a:r>
          </a:p>
          <a:p>
            <a:pPr marL="228600" indent="-228600" algn="l">
              <a:spcAft>
                <a:spcPts val="700"/>
              </a:spcAft>
              <a:buFont typeface="Arial"/>
              <a:buChar char="•"/>
            </a:pPr>
            <a:r>
              <a:rPr sz="1400" b="0" i="0">
                <a:solidFill>
                  <a:srgbClr val="1F1F1F"/>
                </a:solidFill>
                <a:latin typeface="Arial"/>
              </a:rPr>
              <a:t>Traffic hairpinned through a central hub</a:t>
            </a:r>
          </a:p>
          <a:p>
            <a:pPr marL="228600" indent="-228600" algn="l">
              <a:spcAft>
                <a:spcPts val="700"/>
              </a:spcAft>
              <a:buFont typeface="Arial"/>
              <a:buChar char="•"/>
            </a:pPr>
            <a:r>
              <a:rPr sz="1400" b="0" i="0">
                <a:solidFill>
                  <a:srgbClr val="1F1F1F"/>
                </a:solidFill>
                <a:latin typeface="Arial"/>
              </a:rPr>
              <a:t>Hard to extend to contractors</a:t>
            </a:r>
          </a:p>
        </p:txBody>
      </p:sp>
      <p:sp>
        <p:nvSpPr>
          <p:cNvPr id="18" name="Card Access plus Tunnel"/>
          <p:cNvSpPr/>
          <p:nvPr/>
        </p:nvSpPr>
        <p:spPr>
          <a:xfrm>
            <a:off x="6217920" y="1691640"/>
            <a:ext cx="5577840" cy="443484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ccess heading"/>
          <p:cNvSpPr txBox="1"/>
          <p:nvPr/>
        </p:nvSpPr>
        <p:spPr>
          <a:xfrm>
            <a:off x="6446520" y="1810512"/>
            <a:ext cx="5120640" cy="365760"/>
          </a:xfrm>
          <a:prstGeom prst="rect">
            <a:avLst/>
          </a:prstGeom>
          <a:noFill/>
        </p:spPr>
        <p:txBody>
          <a:bodyPr wrap="square" lIns="0" tIns="0" rIns="0" bIns="0" anchor="t">
            <a:spAutoFit/>
          </a:bodyPr>
          <a:lstStyle/>
          <a:p>
            <a:pPr algn="l"/>
            <a:r>
              <a:rPr sz="1900" b="1" i="0">
                <a:solidFill>
                  <a:srgbClr val="1F1F1F"/>
                </a:solidFill>
                <a:latin typeface="Arial"/>
              </a:rPr>
              <a:t>Cloudflare Access + Tunnel</a:t>
            </a:r>
          </a:p>
        </p:txBody>
      </p:sp>
      <p:sp>
        <p:nvSpPr>
          <p:cNvPr id="20" name="Icon circle"/>
          <p:cNvSpPr/>
          <p:nvPr/>
        </p:nvSpPr>
        <p:spPr>
          <a:xfrm>
            <a:off x="6446520" y="2971800"/>
            <a:ext cx="640080" cy="64008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Users"/>
          <p:cNvPicPr>
            <a:picLocks noChangeAspect="1"/>
          </p:cNvPicPr>
          <p:nvPr/>
        </p:nvPicPr>
        <p:blipFill>
          <a:blip r:embed="rId4"/>
          <a:stretch>
            <a:fillRect/>
          </a:stretch>
        </p:blipFill>
        <p:spPr>
          <a:xfrm>
            <a:off x="6587337" y="3112617"/>
            <a:ext cx="358444" cy="358444"/>
          </a:xfrm>
          <a:prstGeom prst="rect">
            <a:avLst/>
          </a:prstGeom>
        </p:spPr>
      </p:pic>
      <p:cxnSp>
        <p:nvCxnSpPr>
          <p:cNvPr id="22" name="Arrow"/>
          <p:cNvCxnSpPr/>
          <p:nvPr/>
        </p:nvCxnSpPr>
        <p:spPr>
          <a:xfrm>
            <a:off x="7132320" y="3291840"/>
            <a:ext cx="365759" cy="0"/>
          </a:xfrm>
          <a:prstGeom prst="line">
            <a:avLst/>
          </a:prstGeom>
          <a:ln w="2857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ccess box"/>
          <p:cNvSpPr/>
          <p:nvPr/>
        </p:nvSpPr>
        <p:spPr>
          <a:xfrm>
            <a:off x="7543800" y="2880360"/>
            <a:ext cx="1280160" cy="82296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FFFFFF"/>
                </a:solidFill>
                <a:latin typeface="Arial"/>
              </a:rPr>
              <a:t>Cloudflare Access</a:t>
            </a:r>
          </a:p>
        </p:txBody>
      </p:sp>
      <p:sp>
        <p:nvSpPr>
          <p:cNvPr id="24" name="Private app 1"/>
          <p:cNvSpPr/>
          <p:nvPr/>
        </p:nvSpPr>
        <p:spPr>
          <a:xfrm>
            <a:off x="9829800" y="2377440"/>
            <a:ext cx="1783080" cy="548640"/>
          </a:xfrm>
          <a:prstGeom prst="roundRect">
            <a:avLst>
              <a:gd name="adj" fmla="val 12000"/>
            </a:avLst>
          </a:prstGeom>
          <a:solidFill>
            <a:srgbClr val="FFFFFF"/>
          </a:solidFill>
          <a:ln w="9525">
            <a:solidFill>
              <a:srgbClr val="F6821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Finance ERP</a:t>
            </a:r>
          </a:p>
        </p:txBody>
      </p:sp>
      <p:cxnSp>
        <p:nvCxnSpPr>
          <p:cNvPr id="25" name="Per-app arrow"/>
          <p:cNvCxnSpPr/>
          <p:nvPr/>
        </p:nvCxnSpPr>
        <p:spPr>
          <a:xfrm flipV="1">
            <a:off x="8869680" y="2651760"/>
            <a:ext cx="914400" cy="640080"/>
          </a:xfrm>
          <a:prstGeom prst="line">
            <a:avLst/>
          </a:prstGeom>
          <a:ln w="2222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Private app 2"/>
          <p:cNvSpPr/>
          <p:nvPr/>
        </p:nvSpPr>
        <p:spPr>
          <a:xfrm>
            <a:off x="9829800" y="3063240"/>
            <a:ext cx="1783080" cy="548640"/>
          </a:xfrm>
          <a:prstGeom prst="roundRect">
            <a:avLst>
              <a:gd name="adj" fmla="val 12000"/>
            </a:avLst>
          </a:prstGeom>
          <a:solidFill>
            <a:srgbClr val="FFFFFF"/>
          </a:solidFill>
          <a:ln w="9525">
            <a:solidFill>
              <a:srgbClr val="F6821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HR portal</a:t>
            </a:r>
          </a:p>
        </p:txBody>
      </p:sp>
      <p:cxnSp>
        <p:nvCxnSpPr>
          <p:cNvPr id="27" name="Per-app arrow"/>
          <p:cNvCxnSpPr/>
          <p:nvPr/>
        </p:nvCxnSpPr>
        <p:spPr>
          <a:xfrm>
            <a:off x="8869680" y="3291840"/>
            <a:ext cx="914400" cy="45720"/>
          </a:xfrm>
          <a:prstGeom prst="line">
            <a:avLst/>
          </a:prstGeom>
          <a:ln w="2222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Private app 3"/>
          <p:cNvSpPr/>
          <p:nvPr/>
        </p:nvSpPr>
        <p:spPr>
          <a:xfrm>
            <a:off x="9829800" y="3749039"/>
            <a:ext cx="1783080" cy="548640"/>
          </a:xfrm>
          <a:prstGeom prst="roundRect">
            <a:avLst>
              <a:gd name="adj" fmla="val 12000"/>
            </a:avLst>
          </a:prstGeom>
          <a:solidFill>
            <a:srgbClr val="FFFFFF"/>
          </a:solidFill>
          <a:ln w="9525">
            <a:solidFill>
              <a:srgbClr val="F6821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Dev SSH</a:t>
            </a:r>
          </a:p>
        </p:txBody>
      </p:sp>
      <p:cxnSp>
        <p:nvCxnSpPr>
          <p:cNvPr id="29" name="Per-app arrow"/>
          <p:cNvCxnSpPr/>
          <p:nvPr/>
        </p:nvCxnSpPr>
        <p:spPr>
          <a:xfrm>
            <a:off x="8869680" y="3291840"/>
            <a:ext cx="914400" cy="731519"/>
          </a:xfrm>
          <a:prstGeom prst="line">
            <a:avLst/>
          </a:prstGeom>
          <a:ln w="2222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unnel note"/>
          <p:cNvSpPr txBox="1"/>
          <p:nvPr/>
        </p:nvSpPr>
        <p:spPr>
          <a:xfrm>
            <a:off x="8869680" y="4297680"/>
            <a:ext cx="2743200" cy="274320"/>
          </a:xfrm>
          <a:prstGeom prst="rect">
            <a:avLst/>
          </a:prstGeom>
          <a:noFill/>
        </p:spPr>
        <p:txBody>
          <a:bodyPr wrap="square" lIns="0" tIns="0" rIns="0" bIns="0" anchor="t">
            <a:spAutoFit/>
          </a:bodyPr>
          <a:lstStyle/>
          <a:p>
            <a:pPr algn="r"/>
            <a:r>
              <a:rPr sz="1100" b="0" i="0">
                <a:solidFill>
                  <a:srgbClr val="595959"/>
                </a:solidFill>
                <a:latin typeface="Arial"/>
              </a:rPr>
              <a:t>via Cloudflare Tunnel (outbound only)</a:t>
            </a:r>
          </a:p>
        </p:txBody>
      </p:sp>
      <p:sp>
        <p:nvSpPr>
          <p:cNvPr id="31" name="Access benefits"/>
          <p:cNvSpPr txBox="1"/>
          <p:nvPr/>
        </p:nvSpPr>
        <p:spPr>
          <a:xfrm>
            <a:off x="6446520" y="4800600"/>
            <a:ext cx="5120640" cy="1280160"/>
          </a:xfrm>
          <a:prstGeom prst="rect">
            <a:avLst/>
          </a:prstGeom>
          <a:noFill/>
        </p:spPr>
        <p:txBody>
          <a:bodyPr wrap="square" lIns="0" tIns="0" rIns="0" bIns="0" anchor="t">
            <a:spAutoFit/>
          </a:bodyPr>
          <a:lstStyle/>
          <a:p>
            <a:pPr marL="228600" indent="-228600" algn="l">
              <a:spcAft>
                <a:spcPts val="600"/>
              </a:spcAft>
              <a:buFont typeface="Arial"/>
              <a:buChar char="•"/>
            </a:pPr>
            <a:r>
              <a:rPr sz="1400" b="0" i="0">
                <a:solidFill>
                  <a:srgbClr val="1F1F1F"/>
                </a:solidFill>
                <a:latin typeface="Arial"/>
              </a:rPr>
              <a:t>One application at a time, checked per request</a:t>
            </a:r>
          </a:p>
          <a:p>
            <a:pPr marL="228600" indent="-228600" algn="l">
              <a:spcAft>
                <a:spcPts val="600"/>
              </a:spcAft>
              <a:buFont typeface="Arial"/>
              <a:buChar char="•"/>
            </a:pPr>
            <a:r>
              <a:rPr sz="1400" b="0" i="0">
                <a:solidFill>
                  <a:srgbClr val="1F1F1F"/>
                </a:solidFill>
                <a:latin typeface="Arial"/>
              </a:rPr>
              <a:t>No public IP and no inbound firewall ports</a:t>
            </a:r>
          </a:p>
          <a:p>
            <a:pPr marL="228600" indent="-228600" algn="l">
              <a:spcAft>
                <a:spcPts val="600"/>
              </a:spcAft>
              <a:buFont typeface="Arial"/>
              <a:buChar char="•"/>
            </a:pPr>
            <a:r>
              <a:rPr sz="1400" b="0" i="0">
                <a:solidFill>
                  <a:srgbClr val="1F1F1F"/>
                </a:solidFill>
                <a:latin typeface="Arial"/>
              </a:rPr>
              <a:t>Clientless option for contractors</a:t>
            </a:r>
          </a:p>
        </p:txBody>
      </p:sp>
      <p:sp>
        <p:nvSpPr>
          <p:cNvPr id="32"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8229600" cy="914400"/>
          </a:xfrm>
        </p:spPr>
        <p:txBody>
          <a:bodyPr wrap="square" lIns="0" tIns="0" rIns="0" bIns="0" anchor="t"/>
          <a:lstStyle/>
          <a:p>
            <a:r>
              <a:rPr sz="2600" b="1">
                <a:solidFill>
                  <a:srgbClr val="1F1F1F"/>
                </a:solidFill>
                <a:latin typeface="Arial"/>
              </a:rPr>
              <a:t>Access in practice: one policy per application</a:t>
            </a:r>
          </a:p>
        </p:txBody>
      </p:sp>
      <p:sp>
        <p:nvSpPr>
          <p:cNvPr id="4" name="Policy card"/>
          <p:cNvSpPr/>
          <p:nvPr/>
        </p:nvSpPr>
        <p:spPr>
          <a:xfrm>
            <a:off x="411480" y="1737360"/>
            <a:ext cx="8046720" cy="301752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olicy header"/>
          <p:cNvSpPr/>
          <p:nvPr/>
        </p:nvSpPr>
        <p:spPr>
          <a:xfrm>
            <a:off x="411480" y="1737360"/>
            <a:ext cx="8046720" cy="594360"/>
          </a:xfrm>
          <a:prstGeom prst="roundRect">
            <a:avLst>
              <a:gd name="adj" fmla="val 6000"/>
            </a:avLst>
          </a:prstGeom>
          <a:solidFill>
            <a:srgbClr val="FFF1E6"/>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olicy name"/>
          <p:cNvSpPr txBox="1"/>
          <p:nvPr/>
        </p:nvSpPr>
        <p:spPr>
          <a:xfrm>
            <a:off x="640080" y="1737360"/>
            <a:ext cx="4572000" cy="594360"/>
          </a:xfrm>
          <a:prstGeom prst="rect">
            <a:avLst/>
          </a:prstGeom>
          <a:noFill/>
        </p:spPr>
        <p:txBody>
          <a:bodyPr wrap="square" lIns="0" tIns="0" rIns="0" bIns="0" anchor="ctr">
            <a:spAutoFit/>
          </a:bodyPr>
          <a:lstStyle/>
          <a:p>
            <a:pPr algn="l"/>
            <a:r>
              <a:rPr sz="1700" b="1" i="0">
                <a:solidFill>
                  <a:srgbClr val="1F1F1F"/>
                </a:solidFill>
                <a:latin typeface="Arial"/>
              </a:rPr>
              <a:t>Policy: Finance ERP</a:t>
            </a:r>
          </a:p>
        </p:txBody>
      </p:sp>
      <p:sp>
        <p:nvSpPr>
          <p:cNvPr id="7" name="Action chip"/>
          <p:cNvSpPr/>
          <p:nvPr/>
        </p:nvSpPr>
        <p:spPr>
          <a:xfrm>
            <a:off x="7086600" y="1856231"/>
            <a:ext cx="1188720" cy="365760"/>
          </a:xfrm>
          <a:prstGeom prst="roundRect">
            <a:avLst>
              <a:gd name="adj" fmla="val 30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i="0">
                <a:solidFill>
                  <a:srgbClr val="FFFFFF"/>
                </a:solidFill>
                <a:latin typeface="Arial"/>
              </a:rPr>
              <a:t>ALLOW</a:t>
            </a:r>
          </a:p>
        </p:txBody>
      </p:sp>
      <p:sp>
        <p:nvSpPr>
          <p:cNvPr id="8" name="Rule tag 1"/>
          <p:cNvSpPr/>
          <p:nvPr/>
        </p:nvSpPr>
        <p:spPr>
          <a:xfrm>
            <a:off x="640080" y="2560320"/>
            <a:ext cx="1737360" cy="457200"/>
          </a:xfrm>
          <a:prstGeom prst="roundRect">
            <a:avLst>
              <a:gd name="adj" fmla="val 20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FFFFFF"/>
                </a:solidFill>
                <a:latin typeface="Arial"/>
              </a:rPr>
              <a:t>INCLUDE (OR)</a:t>
            </a:r>
          </a:p>
        </p:txBody>
      </p:sp>
      <p:sp>
        <p:nvSpPr>
          <p:cNvPr id="9" name="Rule text 1"/>
          <p:cNvSpPr txBox="1"/>
          <p:nvPr/>
        </p:nvSpPr>
        <p:spPr>
          <a:xfrm>
            <a:off x="2606040" y="2560320"/>
            <a:ext cx="5669280" cy="457200"/>
          </a:xfrm>
          <a:prstGeom prst="rect">
            <a:avLst/>
          </a:prstGeom>
          <a:noFill/>
        </p:spPr>
        <p:txBody>
          <a:bodyPr wrap="square" lIns="0" tIns="0" rIns="0" bIns="0" anchor="ctr">
            <a:spAutoFit/>
          </a:bodyPr>
          <a:lstStyle/>
          <a:p>
            <a:pPr algn="l"/>
            <a:r>
              <a:rPr sz="1500" b="0" i="0">
                <a:solidFill>
                  <a:srgbClr val="1F1F1F"/>
                </a:solidFill>
                <a:latin typeface="Arial"/>
              </a:rPr>
              <a:t>Group: Finance (from Entra ID)</a:t>
            </a:r>
          </a:p>
        </p:txBody>
      </p:sp>
      <p:sp>
        <p:nvSpPr>
          <p:cNvPr id="10" name="Rule tag 2"/>
          <p:cNvSpPr/>
          <p:nvPr/>
        </p:nvSpPr>
        <p:spPr>
          <a:xfrm>
            <a:off x="640080" y="3273552"/>
            <a:ext cx="1737360" cy="457200"/>
          </a:xfrm>
          <a:prstGeom prst="roundRect">
            <a:avLst>
              <a:gd name="adj" fmla="val 20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FFFFFF"/>
                </a:solidFill>
                <a:latin typeface="Arial"/>
              </a:rPr>
              <a:t>REQUIRE (AND)</a:t>
            </a:r>
          </a:p>
        </p:txBody>
      </p:sp>
      <p:sp>
        <p:nvSpPr>
          <p:cNvPr id="11" name="Rule text 2"/>
          <p:cNvSpPr txBox="1"/>
          <p:nvPr/>
        </p:nvSpPr>
        <p:spPr>
          <a:xfrm>
            <a:off x="2606040" y="3273552"/>
            <a:ext cx="5669280" cy="457200"/>
          </a:xfrm>
          <a:prstGeom prst="rect">
            <a:avLst/>
          </a:prstGeom>
          <a:noFill/>
        </p:spPr>
        <p:txBody>
          <a:bodyPr wrap="square" lIns="0" tIns="0" rIns="0" bIns="0" anchor="ctr">
            <a:spAutoFit/>
          </a:bodyPr>
          <a:lstStyle/>
          <a:p>
            <a:pPr algn="l"/>
            <a:r>
              <a:rPr sz="1500" b="0" i="0">
                <a:solidFill>
                  <a:srgbClr val="1F1F1F"/>
                </a:solidFill>
                <a:latin typeface="Arial"/>
              </a:rPr>
              <a:t>Multi-factor passed, managed device, disk encrypted</a:t>
            </a:r>
          </a:p>
        </p:txBody>
      </p:sp>
      <p:sp>
        <p:nvSpPr>
          <p:cNvPr id="12" name="Rule tag 3"/>
          <p:cNvSpPr/>
          <p:nvPr/>
        </p:nvSpPr>
        <p:spPr>
          <a:xfrm>
            <a:off x="640080" y="3986783"/>
            <a:ext cx="1737360" cy="457200"/>
          </a:xfrm>
          <a:prstGeom prst="roundRect">
            <a:avLst>
              <a:gd name="adj" fmla="val 20000"/>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i="0">
                <a:solidFill>
                  <a:srgbClr val="1F1F1F"/>
                </a:solidFill>
                <a:latin typeface="Arial"/>
              </a:rPr>
              <a:t>EXCLUDE (NOT)</a:t>
            </a:r>
          </a:p>
        </p:txBody>
      </p:sp>
      <p:sp>
        <p:nvSpPr>
          <p:cNvPr id="13" name="Rule text 3"/>
          <p:cNvSpPr txBox="1"/>
          <p:nvPr/>
        </p:nvSpPr>
        <p:spPr>
          <a:xfrm>
            <a:off x="2606040" y="3986783"/>
            <a:ext cx="5669280" cy="457200"/>
          </a:xfrm>
          <a:prstGeom prst="rect">
            <a:avLst/>
          </a:prstGeom>
          <a:noFill/>
        </p:spPr>
        <p:txBody>
          <a:bodyPr wrap="square" lIns="0" tIns="0" rIns="0" bIns="0" anchor="ctr">
            <a:spAutoFit/>
          </a:bodyPr>
          <a:lstStyle/>
          <a:p>
            <a:pPr algn="l"/>
            <a:r>
              <a:rPr sz="1500" b="0" i="0">
                <a:solidFill>
                  <a:srgbClr val="1F1F1F"/>
                </a:solidFill>
                <a:latin typeface="Arial"/>
              </a:rPr>
              <a:t>Countries where Meridian does not operate</a:t>
            </a:r>
          </a:p>
        </p:txBody>
      </p:sp>
      <p:sp>
        <p:nvSpPr>
          <p:cNvPr id="14" name="Note card 1"/>
          <p:cNvSpPr/>
          <p:nvPr/>
        </p:nvSpPr>
        <p:spPr>
          <a:xfrm>
            <a:off x="411480" y="4983480"/>
            <a:ext cx="2606040" cy="1097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con circle"/>
          <p:cNvSpPr/>
          <p:nvPr/>
        </p:nvSpPr>
        <p:spPr>
          <a:xfrm>
            <a:off x="548640" y="521208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con FaShieldAlt"/>
          <p:cNvPicPr>
            <a:picLocks noChangeAspect="1"/>
          </p:cNvPicPr>
          <p:nvPr/>
        </p:nvPicPr>
        <p:blipFill>
          <a:blip r:embed="rId4"/>
          <a:stretch>
            <a:fillRect/>
          </a:stretch>
        </p:blipFill>
        <p:spPr>
          <a:xfrm>
            <a:off x="673364" y="5336804"/>
            <a:ext cx="317479" cy="317479"/>
          </a:xfrm>
          <a:prstGeom prst="rect">
            <a:avLst/>
          </a:prstGeom>
        </p:spPr>
      </p:pic>
      <p:sp>
        <p:nvSpPr>
          <p:cNvPr id="17" name="Note 1 title"/>
          <p:cNvSpPr txBox="1"/>
          <p:nvPr/>
        </p:nvSpPr>
        <p:spPr>
          <a:xfrm>
            <a:off x="1234440" y="5166360"/>
            <a:ext cx="1737360" cy="320040"/>
          </a:xfrm>
          <a:prstGeom prst="rect">
            <a:avLst/>
          </a:prstGeom>
          <a:noFill/>
        </p:spPr>
        <p:txBody>
          <a:bodyPr wrap="square" lIns="0" tIns="0" rIns="0" bIns="0" anchor="t">
            <a:spAutoFit/>
          </a:bodyPr>
          <a:lstStyle/>
          <a:p>
            <a:pPr algn="l"/>
            <a:r>
              <a:rPr sz="1400" b="1" i="0">
                <a:solidFill>
                  <a:srgbClr val="1F1F1F"/>
                </a:solidFill>
                <a:latin typeface="Arial"/>
              </a:rPr>
              <a:t>Deny by default</a:t>
            </a:r>
          </a:p>
        </p:txBody>
      </p:sp>
      <p:sp>
        <p:nvSpPr>
          <p:cNvPr id="18" name="Note 1 text"/>
          <p:cNvSpPr txBox="1"/>
          <p:nvPr/>
        </p:nvSpPr>
        <p:spPr>
          <a:xfrm>
            <a:off x="1234440" y="5504688"/>
            <a:ext cx="1737360" cy="457200"/>
          </a:xfrm>
          <a:prstGeom prst="rect">
            <a:avLst/>
          </a:prstGeom>
          <a:noFill/>
        </p:spPr>
        <p:txBody>
          <a:bodyPr wrap="square" lIns="0" tIns="0" rIns="0" bIns="0" anchor="t">
            <a:spAutoFit/>
          </a:bodyPr>
          <a:lstStyle/>
          <a:p>
            <a:pPr algn="l"/>
            <a:r>
              <a:rPr sz="1200" b="0" i="0">
                <a:solidFill>
                  <a:srgbClr val="595959"/>
                </a:solidFill>
                <a:latin typeface="Arial"/>
              </a:rPr>
              <a:t>No match means blocked</a:t>
            </a:r>
          </a:p>
        </p:txBody>
      </p:sp>
      <p:sp>
        <p:nvSpPr>
          <p:cNvPr id="19" name="Note card 2"/>
          <p:cNvSpPr/>
          <p:nvPr/>
        </p:nvSpPr>
        <p:spPr>
          <a:xfrm>
            <a:off x="3127248" y="4983480"/>
            <a:ext cx="2606040" cy="1097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con circle"/>
          <p:cNvSpPr/>
          <p:nvPr/>
        </p:nvSpPr>
        <p:spPr>
          <a:xfrm>
            <a:off x="3264408" y="521208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Cogs"/>
          <p:cNvPicPr>
            <a:picLocks noChangeAspect="1"/>
          </p:cNvPicPr>
          <p:nvPr/>
        </p:nvPicPr>
        <p:blipFill>
          <a:blip r:embed="rId5"/>
          <a:stretch>
            <a:fillRect/>
          </a:stretch>
        </p:blipFill>
        <p:spPr>
          <a:xfrm>
            <a:off x="3389132" y="5336804"/>
            <a:ext cx="317479" cy="317479"/>
          </a:xfrm>
          <a:prstGeom prst="rect">
            <a:avLst/>
          </a:prstGeom>
        </p:spPr>
      </p:pic>
      <p:sp>
        <p:nvSpPr>
          <p:cNvPr id="22" name="Note 2 title"/>
          <p:cNvSpPr txBox="1"/>
          <p:nvPr/>
        </p:nvSpPr>
        <p:spPr>
          <a:xfrm>
            <a:off x="3950208" y="5166360"/>
            <a:ext cx="1737360" cy="320040"/>
          </a:xfrm>
          <a:prstGeom prst="rect">
            <a:avLst/>
          </a:prstGeom>
          <a:noFill/>
        </p:spPr>
        <p:txBody>
          <a:bodyPr wrap="square" lIns="0" tIns="0" rIns="0" bIns="0" anchor="t">
            <a:spAutoFit/>
          </a:bodyPr>
          <a:lstStyle/>
          <a:p>
            <a:pPr algn="l"/>
            <a:r>
              <a:rPr sz="1400" b="1" i="0">
                <a:solidFill>
                  <a:srgbClr val="1F1F1F"/>
                </a:solidFill>
                <a:latin typeface="Arial"/>
              </a:rPr>
              <a:t>Machines too</a:t>
            </a:r>
          </a:p>
        </p:txBody>
      </p:sp>
      <p:sp>
        <p:nvSpPr>
          <p:cNvPr id="23" name="Note 2 text"/>
          <p:cNvSpPr txBox="1"/>
          <p:nvPr/>
        </p:nvSpPr>
        <p:spPr>
          <a:xfrm>
            <a:off x="3950208" y="5504688"/>
            <a:ext cx="1737360" cy="457200"/>
          </a:xfrm>
          <a:prstGeom prst="rect">
            <a:avLst/>
          </a:prstGeom>
          <a:noFill/>
        </p:spPr>
        <p:txBody>
          <a:bodyPr wrap="square" lIns="0" tIns="0" rIns="0" bIns="0" anchor="t">
            <a:spAutoFit/>
          </a:bodyPr>
          <a:lstStyle/>
          <a:p>
            <a:pPr algn="l"/>
            <a:r>
              <a:rPr sz="1200" b="0" i="0">
                <a:solidFill>
                  <a:srgbClr val="595959"/>
                </a:solidFill>
                <a:latin typeface="Arial"/>
              </a:rPr>
              <a:t>Service tokens and mTLS</a:t>
            </a:r>
          </a:p>
        </p:txBody>
      </p:sp>
      <p:sp>
        <p:nvSpPr>
          <p:cNvPr id="24" name="Note card 3"/>
          <p:cNvSpPr/>
          <p:nvPr/>
        </p:nvSpPr>
        <p:spPr>
          <a:xfrm>
            <a:off x="5843016" y="4983480"/>
            <a:ext cx="2606040" cy="10972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Icon circle"/>
          <p:cNvSpPr/>
          <p:nvPr/>
        </p:nvSpPr>
        <p:spPr>
          <a:xfrm>
            <a:off x="5980176" y="521208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Icon FaClipboardCheck"/>
          <p:cNvPicPr>
            <a:picLocks noChangeAspect="1"/>
          </p:cNvPicPr>
          <p:nvPr/>
        </p:nvPicPr>
        <p:blipFill>
          <a:blip r:embed="rId6"/>
          <a:stretch>
            <a:fillRect/>
          </a:stretch>
        </p:blipFill>
        <p:spPr>
          <a:xfrm>
            <a:off x="6104900" y="5336804"/>
            <a:ext cx="317479" cy="317479"/>
          </a:xfrm>
          <a:prstGeom prst="rect">
            <a:avLst/>
          </a:prstGeom>
        </p:spPr>
      </p:pic>
      <p:sp>
        <p:nvSpPr>
          <p:cNvPr id="27" name="Note 3 title"/>
          <p:cNvSpPr txBox="1"/>
          <p:nvPr/>
        </p:nvSpPr>
        <p:spPr>
          <a:xfrm>
            <a:off x="6665976" y="5166360"/>
            <a:ext cx="1737360" cy="320040"/>
          </a:xfrm>
          <a:prstGeom prst="rect">
            <a:avLst/>
          </a:prstGeom>
          <a:noFill/>
        </p:spPr>
        <p:txBody>
          <a:bodyPr wrap="square" lIns="0" tIns="0" rIns="0" bIns="0" anchor="t">
            <a:spAutoFit/>
          </a:bodyPr>
          <a:lstStyle/>
          <a:p>
            <a:pPr algn="l"/>
            <a:r>
              <a:rPr sz="1400" b="1" i="0">
                <a:solidFill>
                  <a:srgbClr val="1F1F1F"/>
                </a:solidFill>
                <a:latin typeface="Arial"/>
              </a:rPr>
              <a:t>Audit ready</a:t>
            </a:r>
          </a:p>
        </p:txBody>
      </p:sp>
      <p:sp>
        <p:nvSpPr>
          <p:cNvPr id="28" name="Note 3 text"/>
          <p:cNvSpPr txBox="1"/>
          <p:nvPr/>
        </p:nvSpPr>
        <p:spPr>
          <a:xfrm>
            <a:off x="6665976" y="5504688"/>
            <a:ext cx="1737360" cy="457200"/>
          </a:xfrm>
          <a:prstGeom prst="rect">
            <a:avLst/>
          </a:prstGeom>
          <a:noFill/>
        </p:spPr>
        <p:txBody>
          <a:bodyPr wrap="square" lIns="0" tIns="0" rIns="0" bIns="0" anchor="t">
            <a:spAutoFit/>
          </a:bodyPr>
          <a:lstStyle/>
          <a:p>
            <a:pPr algn="l"/>
            <a:r>
              <a:rPr sz="1200" b="0" i="0">
                <a:solidFill>
                  <a:srgbClr val="595959"/>
                </a:solidFill>
                <a:latin typeface="Arial"/>
              </a:rPr>
              <a:t>Every request logged</a:t>
            </a:r>
          </a:p>
        </p:txBody>
      </p:sp>
      <p:sp>
        <p:nvSpPr>
          <p:cNvPr id="29" name="Sidebar subhead"/>
          <p:cNvSpPr txBox="1"/>
          <p:nvPr/>
        </p:nvSpPr>
        <p:spPr>
          <a:xfrm>
            <a:off x="9189720" y="2011680"/>
            <a:ext cx="2651760" cy="365760"/>
          </a:xfrm>
          <a:prstGeom prst="rect">
            <a:avLst/>
          </a:prstGeom>
          <a:noFill/>
        </p:spPr>
        <p:txBody>
          <a:bodyPr wrap="square" lIns="0" tIns="0" rIns="0" bIns="0" anchor="t">
            <a:spAutoFit/>
          </a:bodyPr>
          <a:lstStyle/>
          <a:p>
            <a:pPr algn="l"/>
            <a:r>
              <a:rPr sz="1800" b="1" i="0">
                <a:solidFill>
                  <a:srgbClr val="1F1F1F"/>
                </a:solidFill>
                <a:latin typeface="Arial"/>
              </a:rPr>
              <a:t>Access can protect</a:t>
            </a:r>
          </a:p>
        </p:txBody>
      </p:sp>
      <p:sp>
        <p:nvSpPr>
          <p:cNvPr id="30" name="Sidebar bullets"/>
          <p:cNvSpPr txBox="1"/>
          <p:nvPr/>
        </p:nvSpPr>
        <p:spPr>
          <a:xfrm>
            <a:off x="9189720" y="2514600"/>
            <a:ext cx="2606040" cy="2377440"/>
          </a:xfrm>
          <a:prstGeom prst="rect">
            <a:avLst/>
          </a:prstGeom>
          <a:noFill/>
        </p:spPr>
        <p:txBody>
          <a:bodyPr wrap="square" lIns="0" tIns="0" rIns="0" bIns="0" anchor="t">
            <a:spAutoFit/>
          </a:bodyPr>
          <a:lstStyle/>
          <a:p>
            <a:pPr marL="228600" indent="-228600" algn="l">
              <a:spcAft>
                <a:spcPts val="700"/>
              </a:spcAft>
              <a:buFont typeface="Arial"/>
              <a:buChar char="•"/>
            </a:pPr>
            <a:r>
              <a:rPr sz="1400" b="0" i="0">
                <a:solidFill>
                  <a:srgbClr val="1F1F1F"/>
                </a:solidFill>
                <a:latin typeface="Arial"/>
              </a:rPr>
              <a:t>Self-hosted web apps</a:t>
            </a:r>
          </a:p>
          <a:p>
            <a:pPr marL="228600" indent="-228600" algn="l">
              <a:spcAft>
                <a:spcPts val="700"/>
              </a:spcAft>
              <a:buFont typeface="Arial"/>
              <a:buChar char="•"/>
            </a:pPr>
            <a:r>
              <a:rPr sz="1400" b="0" i="0">
                <a:solidFill>
                  <a:srgbClr val="1F1F1F"/>
                </a:solidFill>
                <a:latin typeface="Arial"/>
              </a:rPr>
              <a:t>SaaS applications</a:t>
            </a:r>
          </a:p>
          <a:p>
            <a:pPr marL="228600" indent="-228600" algn="l">
              <a:spcAft>
                <a:spcPts val="700"/>
              </a:spcAft>
              <a:buFont typeface="Arial"/>
              <a:buChar char="•"/>
            </a:pPr>
            <a:r>
              <a:rPr sz="1400" b="0" i="0">
                <a:solidFill>
                  <a:srgbClr val="1F1F1F"/>
                </a:solidFill>
                <a:latin typeface="Arial"/>
              </a:rPr>
              <a:t>SSH servers</a:t>
            </a:r>
          </a:p>
          <a:p>
            <a:pPr marL="228600" indent="-228600" algn="l">
              <a:spcAft>
                <a:spcPts val="700"/>
              </a:spcAft>
              <a:buFont typeface="Arial"/>
              <a:buChar char="•"/>
            </a:pPr>
            <a:r>
              <a:rPr sz="1400" b="0" i="0">
                <a:solidFill>
                  <a:srgbClr val="1F1F1F"/>
                </a:solidFill>
                <a:latin typeface="Arial"/>
              </a:rPr>
              <a:t>Browser-based RDP</a:t>
            </a:r>
          </a:p>
        </p:txBody>
      </p:sp>
      <p:sp>
        <p:nvSpPr>
          <p:cNvPr id="31" name="Sidebar subhead 2"/>
          <p:cNvSpPr txBox="1"/>
          <p:nvPr/>
        </p:nvSpPr>
        <p:spPr>
          <a:xfrm>
            <a:off x="9189720" y="4343400"/>
            <a:ext cx="2651760" cy="365760"/>
          </a:xfrm>
          <a:prstGeom prst="rect">
            <a:avLst/>
          </a:prstGeom>
          <a:noFill/>
        </p:spPr>
        <p:txBody>
          <a:bodyPr wrap="square" lIns="0" tIns="0" rIns="0" bIns="0" anchor="t">
            <a:spAutoFit/>
          </a:bodyPr>
          <a:lstStyle/>
          <a:p>
            <a:pPr algn="l"/>
            <a:r>
              <a:rPr sz="1600" b="1" i="0">
                <a:solidFill>
                  <a:srgbClr val="1F1F1F"/>
                </a:solidFill>
                <a:latin typeface="Arial"/>
              </a:rPr>
              <a:t>Works with</a:t>
            </a:r>
          </a:p>
        </p:txBody>
      </p:sp>
      <p:sp>
        <p:nvSpPr>
          <p:cNvPr id="32" name="Sidebar text"/>
          <p:cNvSpPr txBox="1"/>
          <p:nvPr/>
        </p:nvSpPr>
        <p:spPr>
          <a:xfrm>
            <a:off x="9189720" y="4754880"/>
            <a:ext cx="2606040" cy="1188720"/>
          </a:xfrm>
          <a:prstGeom prst="rect">
            <a:avLst/>
          </a:prstGeom>
          <a:noFill/>
        </p:spPr>
        <p:txBody>
          <a:bodyPr wrap="square" lIns="0" tIns="0" rIns="0" bIns="0" anchor="t">
            <a:spAutoFit/>
          </a:bodyPr>
          <a:lstStyle/>
          <a:p>
            <a:pPr algn="l"/>
            <a:r>
              <a:rPr sz="1300" b="0" i="0">
                <a:solidFill>
                  <a:srgbClr val="1F1F1F"/>
                </a:solidFill>
                <a:latin typeface="Arial"/>
              </a:rPr>
              <a:t>Microsoft Entra ID, Okta, Google, GitHub, plus any SAML or OIDC identity provider</a:t>
            </a:r>
          </a:p>
        </p:txBody>
      </p:sp>
      <p:sp>
        <p:nvSpPr>
          <p:cNvPr id="33"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600" b="1">
                <a:solidFill>
                  <a:srgbClr val="1F1F1F"/>
                </a:solidFill>
                <a:latin typeface="Arial"/>
              </a:rPr>
              <a:t>Secure Web Gateway: inspect before it reaches users</a:t>
            </a:r>
          </a:p>
        </p:txBody>
      </p:sp>
      <p:sp>
        <p:nvSpPr>
          <p:cNvPr id="4" name="Layer 1"/>
          <p:cNvSpPr/>
          <p:nvPr/>
        </p:nvSpPr>
        <p:spPr>
          <a:xfrm>
            <a:off x="411480" y="1737360"/>
            <a:ext cx="704088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ep 1"/>
          <p:cNvSpPr/>
          <p:nvPr/>
        </p:nvSpPr>
        <p:spPr>
          <a:xfrm>
            <a:off x="594360" y="2057400"/>
            <a:ext cx="548640" cy="54864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Arial"/>
              </a:rPr>
              <a:t>1</a:t>
            </a:r>
          </a:p>
        </p:txBody>
      </p:sp>
      <p:sp>
        <p:nvSpPr>
          <p:cNvPr id="6" name="Layer 1 title"/>
          <p:cNvSpPr txBox="1"/>
          <p:nvPr/>
        </p:nvSpPr>
        <p:spPr>
          <a:xfrm>
            <a:off x="1371600" y="1883664"/>
            <a:ext cx="5852160" cy="347472"/>
          </a:xfrm>
          <a:prstGeom prst="rect">
            <a:avLst/>
          </a:prstGeom>
          <a:noFill/>
        </p:spPr>
        <p:txBody>
          <a:bodyPr wrap="square" lIns="0" tIns="0" rIns="0" bIns="0" anchor="t">
            <a:spAutoFit/>
          </a:bodyPr>
          <a:lstStyle/>
          <a:p>
            <a:pPr algn="l"/>
            <a:r>
              <a:rPr sz="1700" b="1" i="0">
                <a:solidFill>
                  <a:srgbClr val="1F1F1F"/>
                </a:solidFill>
                <a:latin typeface="Arial"/>
              </a:rPr>
              <a:t>DNS policies</a:t>
            </a:r>
          </a:p>
        </p:txBody>
      </p:sp>
      <p:sp>
        <p:nvSpPr>
          <p:cNvPr id="7" name="Layer 1 text"/>
          <p:cNvSpPr txBox="1"/>
          <p:nvPr/>
        </p:nvSpPr>
        <p:spPr>
          <a:xfrm>
            <a:off x="1371600" y="2249424"/>
            <a:ext cx="5852160" cy="365760"/>
          </a:xfrm>
          <a:prstGeom prst="rect">
            <a:avLst/>
          </a:prstGeom>
          <a:noFill/>
        </p:spPr>
        <p:txBody>
          <a:bodyPr wrap="square" lIns="0" tIns="0" rIns="0" bIns="0" anchor="t">
            <a:spAutoFit/>
          </a:bodyPr>
          <a:lstStyle/>
          <a:p>
            <a:pPr algn="l"/>
            <a:r>
              <a:rPr sz="1350" b="0" i="0">
                <a:solidFill>
                  <a:srgbClr val="1F1F1F"/>
                </a:solidFill>
                <a:latin typeface="Arial"/>
              </a:rPr>
              <a:t>Block bad domains before they resolve</a:t>
            </a:r>
          </a:p>
        </p:txBody>
      </p:sp>
      <p:sp>
        <p:nvSpPr>
          <p:cNvPr id="8" name="Layer 1 example"/>
          <p:cNvSpPr txBox="1"/>
          <p:nvPr/>
        </p:nvSpPr>
        <p:spPr>
          <a:xfrm>
            <a:off x="1371600" y="2560320"/>
            <a:ext cx="5852160" cy="274320"/>
          </a:xfrm>
          <a:prstGeom prst="rect">
            <a:avLst/>
          </a:prstGeom>
          <a:noFill/>
        </p:spPr>
        <p:txBody>
          <a:bodyPr wrap="square" lIns="0" tIns="0" rIns="0" bIns="0" anchor="t">
            <a:spAutoFit/>
          </a:bodyPr>
          <a:lstStyle/>
          <a:p>
            <a:pPr algn="l"/>
            <a:r>
              <a:rPr sz="1200" b="0" i="1">
                <a:solidFill>
                  <a:srgbClr val="595959"/>
                </a:solidFill>
                <a:latin typeface="Arial"/>
              </a:rPr>
              <a:t>Fastest, broadest control</a:t>
            </a:r>
          </a:p>
        </p:txBody>
      </p:sp>
      <p:cxnSp>
        <p:nvCxnSpPr>
          <p:cNvPr id="9" name="Layer arrow"/>
          <p:cNvCxnSpPr/>
          <p:nvPr/>
        </p:nvCxnSpPr>
        <p:spPr>
          <a:xfrm>
            <a:off x="3931920" y="2935224"/>
            <a:ext cx="0" cy="164591"/>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Layer 2"/>
          <p:cNvSpPr/>
          <p:nvPr/>
        </p:nvSpPr>
        <p:spPr>
          <a:xfrm>
            <a:off x="411480" y="3108960"/>
            <a:ext cx="7040880" cy="118872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ep 2"/>
          <p:cNvSpPr/>
          <p:nvPr/>
        </p:nvSpPr>
        <p:spPr>
          <a:xfrm>
            <a:off x="594360" y="3429000"/>
            <a:ext cx="548640" cy="54864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FFFFF"/>
                </a:solidFill>
                <a:latin typeface="Arial"/>
              </a:rPr>
              <a:t>2</a:t>
            </a:r>
          </a:p>
        </p:txBody>
      </p:sp>
      <p:sp>
        <p:nvSpPr>
          <p:cNvPr id="12" name="Layer 2 title"/>
          <p:cNvSpPr txBox="1"/>
          <p:nvPr/>
        </p:nvSpPr>
        <p:spPr>
          <a:xfrm>
            <a:off x="1371600" y="3255264"/>
            <a:ext cx="5852160" cy="347472"/>
          </a:xfrm>
          <a:prstGeom prst="rect">
            <a:avLst/>
          </a:prstGeom>
          <a:noFill/>
        </p:spPr>
        <p:txBody>
          <a:bodyPr wrap="square" lIns="0" tIns="0" rIns="0" bIns="0" anchor="t">
            <a:spAutoFit/>
          </a:bodyPr>
          <a:lstStyle/>
          <a:p>
            <a:pPr algn="l"/>
            <a:r>
              <a:rPr sz="1700" b="1" i="0">
                <a:solidFill>
                  <a:srgbClr val="1F1F1F"/>
                </a:solidFill>
                <a:latin typeface="Arial"/>
              </a:rPr>
              <a:t>Network policies (L4)</a:t>
            </a:r>
          </a:p>
        </p:txBody>
      </p:sp>
      <p:sp>
        <p:nvSpPr>
          <p:cNvPr id="13" name="Layer 2 text"/>
          <p:cNvSpPr txBox="1"/>
          <p:nvPr/>
        </p:nvSpPr>
        <p:spPr>
          <a:xfrm>
            <a:off x="1371600" y="3621024"/>
            <a:ext cx="5852160" cy="365760"/>
          </a:xfrm>
          <a:prstGeom prst="rect">
            <a:avLst/>
          </a:prstGeom>
          <a:noFill/>
        </p:spPr>
        <p:txBody>
          <a:bodyPr wrap="square" lIns="0" tIns="0" rIns="0" bIns="0" anchor="t">
            <a:spAutoFit/>
          </a:bodyPr>
          <a:lstStyle/>
          <a:p>
            <a:pPr algn="l"/>
            <a:r>
              <a:rPr sz="1350" b="0" i="0">
                <a:solidFill>
                  <a:srgbClr val="1F1F1F"/>
                </a:solidFill>
                <a:latin typeface="Arial"/>
              </a:rPr>
              <a:t>Match TCP, UDP and GRE by IP, port, protocol and SNI</a:t>
            </a:r>
          </a:p>
        </p:txBody>
      </p:sp>
      <p:sp>
        <p:nvSpPr>
          <p:cNvPr id="14" name="Layer 2 example"/>
          <p:cNvSpPr txBox="1"/>
          <p:nvPr/>
        </p:nvSpPr>
        <p:spPr>
          <a:xfrm>
            <a:off x="1371600" y="3931920"/>
            <a:ext cx="5852160" cy="274320"/>
          </a:xfrm>
          <a:prstGeom prst="rect">
            <a:avLst/>
          </a:prstGeom>
          <a:noFill/>
        </p:spPr>
        <p:txBody>
          <a:bodyPr wrap="square" lIns="0" tIns="0" rIns="0" bIns="0" anchor="t">
            <a:spAutoFit/>
          </a:bodyPr>
          <a:lstStyle/>
          <a:p>
            <a:pPr algn="l"/>
            <a:r>
              <a:rPr sz="1200" b="0" i="1">
                <a:solidFill>
                  <a:srgbClr val="595959"/>
                </a:solidFill>
                <a:latin typeface="Arial"/>
              </a:rPr>
              <a:t>For example block outbound SSH or RDP</a:t>
            </a:r>
          </a:p>
        </p:txBody>
      </p:sp>
      <p:cxnSp>
        <p:nvCxnSpPr>
          <p:cNvPr id="15" name="Layer arrow"/>
          <p:cNvCxnSpPr/>
          <p:nvPr/>
        </p:nvCxnSpPr>
        <p:spPr>
          <a:xfrm>
            <a:off x="3931920" y="4306824"/>
            <a:ext cx="0" cy="164592"/>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ayer 3"/>
          <p:cNvSpPr/>
          <p:nvPr/>
        </p:nvSpPr>
        <p:spPr>
          <a:xfrm>
            <a:off x="411480" y="4480560"/>
            <a:ext cx="7040880" cy="118872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tep 3"/>
          <p:cNvSpPr/>
          <p:nvPr/>
        </p:nvSpPr>
        <p:spPr>
          <a:xfrm>
            <a:off x="594360" y="4800600"/>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i="0">
                <a:solidFill>
                  <a:srgbClr val="F6821F"/>
                </a:solidFill>
                <a:latin typeface="Arial"/>
              </a:rPr>
              <a:t>3</a:t>
            </a:r>
          </a:p>
        </p:txBody>
      </p:sp>
      <p:sp>
        <p:nvSpPr>
          <p:cNvPr id="18" name="Layer 3 title"/>
          <p:cNvSpPr txBox="1"/>
          <p:nvPr/>
        </p:nvSpPr>
        <p:spPr>
          <a:xfrm>
            <a:off x="1371600" y="4626864"/>
            <a:ext cx="5852160" cy="347472"/>
          </a:xfrm>
          <a:prstGeom prst="rect">
            <a:avLst/>
          </a:prstGeom>
          <a:noFill/>
        </p:spPr>
        <p:txBody>
          <a:bodyPr wrap="square" lIns="0" tIns="0" rIns="0" bIns="0" anchor="t">
            <a:spAutoFit/>
          </a:bodyPr>
          <a:lstStyle/>
          <a:p>
            <a:pPr algn="l"/>
            <a:r>
              <a:rPr sz="1700" b="1" i="0">
                <a:solidFill>
                  <a:srgbClr val="FFFFFF"/>
                </a:solidFill>
                <a:latin typeface="Arial"/>
              </a:rPr>
              <a:t>HTTP policies (L7)</a:t>
            </a:r>
          </a:p>
        </p:txBody>
      </p:sp>
      <p:sp>
        <p:nvSpPr>
          <p:cNvPr id="19" name="Layer 3 text"/>
          <p:cNvSpPr txBox="1"/>
          <p:nvPr/>
        </p:nvSpPr>
        <p:spPr>
          <a:xfrm>
            <a:off x="1371600" y="4992624"/>
            <a:ext cx="5852160" cy="365760"/>
          </a:xfrm>
          <a:prstGeom prst="rect">
            <a:avLst/>
          </a:prstGeom>
          <a:noFill/>
        </p:spPr>
        <p:txBody>
          <a:bodyPr wrap="square" lIns="0" tIns="0" rIns="0" bIns="0" anchor="t">
            <a:spAutoFit/>
          </a:bodyPr>
          <a:lstStyle/>
          <a:p>
            <a:pPr algn="l"/>
            <a:r>
              <a:rPr sz="1350" b="0" i="0">
                <a:solidFill>
                  <a:srgbClr val="FFFFFF"/>
                </a:solidFill>
                <a:latin typeface="Arial"/>
              </a:rPr>
              <a:t>Decrypt HTTPS; inspect URLs, headers, uploads and downloads</a:t>
            </a:r>
          </a:p>
        </p:txBody>
      </p:sp>
      <p:sp>
        <p:nvSpPr>
          <p:cNvPr id="20" name="Layer 3 example"/>
          <p:cNvSpPr txBox="1"/>
          <p:nvPr/>
        </p:nvSpPr>
        <p:spPr>
          <a:xfrm>
            <a:off x="1371600" y="5303520"/>
            <a:ext cx="5852160" cy="274320"/>
          </a:xfrm>
          <a:prstGeom prst="rect">
            <a:avLst/>
          </a:prstGeom>
          <a:noFill/>
        </p:spPr>
        <p:txBody>
          <a:bodyPr wrap="square" lIns="0" tIns="0" rIns="0" bIns="0" anchor="t">
            <a:spAutoFit/>
          </a:bodyPr>
          <a:lstStyle/>
          <a:p>
            <a:pPr algn="l"/>
            <a:r>
              <a:rPr sz="1200" b="0" i="1">
                <a:solidFill>
                  <a:srgbClr val="FFFFFF"/>
                </a:solidFill>
                <a:latin typeface="Arial"/>
              </a:rPr>
              <a:t>Malware, DLP, isolation and account controls</a:t>
            </a:r>
          </a:p>
        </p:txBody>
      </p:sp>
      <p:sp>
        <p:nvSpPr>
          <p:cNvPr id="21" name="Context card"/>
          <p:cNvSpPr/>
          <p:nvPr/>
        </p:nvSpPr>
        <p:spPr>
          <a:xfrm>
            <a:off x="7726679" y="1737360"/>
            <a:ext cx="4069080" cy="393192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ntext title"/>
          <p:cNvSpPr txBox="1"/>
          <p:nvPr/>
        </p:nvSpPr>
        <p:spPr>
          <a:xfrm>
            <a:off x="7955279" y="1874519"/>
            <a:ext cx="3657600" cy="365760"/>
          </a:xfrm>
          <a:prstGeom prst="rect">
            <a:avLst/>
          </a:prstGeom>
          <a:noFill/>
        </p:spPr>
        <p:txBody>
          <a:bodyPr wrap="square" lIns="0" tIns="0" rIns="0" bIns="0" anchor="t">
            <a:spAutoFit/>
          </a:bodyPr>
          <a:lstStyle/>
          <a:p>
            <a:pPr algn="l"/>
            <a:r>
              <a:rPr sz="1700" b="1" i="0">
                <a:solidFill>
                  <a:srgbClr val="1F1F1F"/>
                </a:solidFill>
                <a:latin typeface="Arial"/>
              </a:rPr>
              <a:t>Context in every policy</a:t>
            </a:r>
          </a:p>
        </p:txBody>
      </p:sp>
      <p:sp>
        <p:nvSpPr>
          <p:cNvPr id="23" name="Icon circle"/>
          <p:cNvSpPr/>
          <p:nvPr/>
        </p:nvSpPr>
        <p:spPr>
          <a:xfrm>
            <a:off x="7955279" y="242316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Icon FaUsers"/>
          <p:cNvPicPr>
            <a:picLocks noChangeAspect="1"/>
          </p:cNvPicPr>
          <p:nvPr/>
        </p:nvPicPr>
        <p:blipFill>
          <a:blip r:embed="rId4"/>
          <a:stretch>
            <a:fillRect/>
          </a:stretch>
        </p:blipFill>
        <p:spPr>
          <a:xfrm>
            <a:off x="8080004" y="2547884"/>
            <a:ext cx="317479" cy="317479"/>
          </a:xfrm>
          <a:prstGeom prst="rect">
            <a:avLst/>
          </a:prstGeom>
        </p:spPr>
      </p:pic>
      <p:sp>
        <p:nvSpPr>
          <p:cNvPr id="25" name="Context 1 title"/>
          <p:cNvSpPr txBox="1"/>
          <p:nvPr/>
        </p:nvSpPr>
        <p:spPr>
          <a:xfrm>
            <a:off x="8686800" y="2404872"/>
            <a:ext cx="2926080" cy="292608"/>
          </a:xfrm>
          <a:prstGeom prst="rect">
            <a:avLst/>
          </a:prstGeom>
          <a:noFill/>
        </p:spPr>
        <p:txBody>
          <a:bodyPr wrap="square" lIns="0" tIns="0" rIns="0" bIns="0" anchor="t">
            <a:spAutoFit/>
          </a:bodyPr>
          <a:lstStyle/>
          <a:p>
            <a:pPr algn="l"/>
            <a:r>
              <a:rPr sz="1500" b="1" i="0">
                <a:solidFill>
                  <a:srgbClr val="1F1F1F"/>
                </a:solidFill>
                <a:latin typeface="Arial"/>
              </a:rPr>
              <a:t>Identity</a:t>
            </a:r>
          </a:p>
        </p:txBody>
      </p:sp>
      <p:sp>
        <p:nvSpPr>
          <p:cNvPr id="26" name="Context 1 text"/>
          <p:cNvSpPr txBox="1"/>
          <p:nvPr/>
        </p:nvSpPr>
        <p:spPr>
          <a:xfrm>
            <a:off x="8686800" y="2715768"/>
            <a:ext cx="2971800" cy="640080"/>
          </a:xfrm>
          <a:prstGeom prst="rect">
            <a:avLst/>
          </a:prstGeom>
          <a:noFill/>
        </p:spPr>
        <p:txBody>
          <a:bodyPr wrap="square" lIns="0" tIns="0" rIns="0" bIns="0" anchor="t">
            <a:spAutoFit/>
          </a:bodyPr>
          <a:lstStyle/>
          <a:p>
            <a:pPr algn="l"/>
            <a:r>
              <a:rPr sz="1300" b="0" i="0">
                <a:solidFill>
                  <a:srgbClr val="595959"/>
                </a:solidFill>
                <a:latin typeface="Arial"/>
              </a:rPr>
              <a:t>User, group, sign-in method</a:t>
            </a:r>
          </a:p>
        </p:txBody>
      </p:sp>
      <p:sp>
        <p:nvSpPr>
          <p:cNvPr id="27" name="Icon circle"/>
          <p:cNvSpPr/>
          <p:nvPr/>
        </p:nvSpPr>
        <p:spPr>
          <a:xfrm>
            <a:off x="7955279" y="3474720"/>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FaLaptop"/>
          <p:cNvPicPr>
            <a:picLocks noChangeAspect="1"/>
          </p:cNvPicPr>
          <p:nvPr/>
        </p:nvPicPr>
        <p:blipFill>
          <a:blip r:embed="rId5"/>
          <a:stretch>
            <a:fillRect/>
          </a:stretch>
        </p:blipFill>
        <p:spPr>
          <a:xfrm>
            <a:off x="8080004" y="3599444"/>
            <a:ext cx="317479" cy="317479"/>
          </a:xfrm>
          <a:prstGeom prst="rect">
            <a:avLst/>
          </a:prstGeom>
        </p:spPr>
      </p:pic>
      <p:sp>
        <p:nvSpPr>
          <p:cNvPr id="29" name="Context 2 title"/>
          <p:cNvSpPr txBox="1"/>
          <p:nvPr/>
        </p:nvSpPr>
        <p:spPr>
          <a:xfrm>
            <a:off x="8686800" y="3456432"/>
            <a:ext cx="2926080" cy="292608"/>
          </a:xfrm>
          <a:prstGeom prst="rect">
            <a:avLst/>
          </a:prstGeom>
          <a:noFill/>
        </p:spPr>
        <p:txBody>
          <a:bodyPr wrap="square" lIns="0" tIns="0" rIns="0" bIns="0" anchor="t">
            <a:spAutoFit/>
          </a:bodyPr>
          <a:lstStyle/>
          <a:p>
            <a:pPr algn="l"/>
            <a:r>
              <a:rPr sz="1500" b="1" i="0">
                <a:solidFill>
                  <a:srgbClr val="1F1F1F"/>
                </a:solidFill>
                <a:latin typeface="Arial"/>
              </a:rPr>
              <a:t>Device</a:t>
            </a:r>
          </a:p>
        </p:txBody>
      </p:sp>
      <p:sp>
        <p:nvSpPr>
          <p:cNvPr id="30" name="Context 2 text"/>
          <p:cNvSpPr txBox="1"/>
          <p:nvPr/>
        </p:nvSpPr>
        <p:spPr>
          <a:xfrm>
            <a:off x="8686800" y="3767328"/>
            <a:ext cx="2971800" cy="640080"/>
          </a:xfrm>
          <a:prstGeom prst="rect">
            <a:avLst/>
          </a:prstGeom>
          <a:noFill/>
        </p:spPr>
        <p:txBody>
          <a:bodyPr wrap="square" lIns="0" tIns="0" rIns="0" bIns="0" anchor="t">
            <a:spAutoFit/>
          </a:bodyPr>
          <a:lstStyle/>
          <a:p>
            <a:pPr algn="l"/>
            <a:r>
              <a:rPr sz="1300" b="0" i="0">
                <a:solidFill>
                  <a:srgbClr val="595959"/>
                </a:solidFill>
                <a:latin typeface="Arial"/>
              </a:rPr>
              <a:t>OS, encryption, firewall, serial</a:t>
            </a:r>
          </a:p>
        </p:txBody>
      </p:sp>
      <p:sp>
        <p:nvSpPr>
          <p:cNvPr id="31" name="Icon circle"/>
          <p:cNvSpPr/>
          <p:nvPr/>
        </p:nvSpPr>
        <p:spPr>
          <a:xfrm>
            <a:off x="7955279" y="4526279"/>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FaRoute"/>
          <p:cNvPicPr>
            <a:picLocks noChangeAspect="1"/>
          </p:cNvPicPr>
          <p:nvPr/>
        </p:nvPicPr>
        <p:blipFill>
          <a:blip r:embed="rId6"/>
          <a:stretch>
            <a:fillRect/>
          </a:stretch>
        </p:blipFill>
        <p:spPr>
          <a:xfrm>
            <a:off x="8080004" y="4651004"/>
            <a:ext cx="317479" cy="317479"/>
          </a:xfrm>
          <a:prstGeom prst="rect">
            <a:avLst/>
          </a:prstGeom>
        </p:spPr>
      </p:pic>
      <p:sp>
        <p:nvSpPr>
          <p:cNvPr id="33" name="Context 3 title"/>
          <p:cNvSpPr txBox="1"/>
          <p:nvPr/>
        </p:nvSpPr>
        <p:spPr>
          <a:xfrm>
            <a:off x="8686800" y="4507992"/>
            <a:ext cx="2926080" cy="292608"/>
          </a:xfrm>
          <a:prstGeom prst="rect">
            <a:avLst/>
          </a:prstGeom>
          <a:noFill/>
        </p:spPr>
        <p:txBody>
          <a:bodyPr wrap="square" lIns="0" tIns="0" rIns="0" bIns="0" anchor="t">
            <a:spAutoFit/>
          </a:bodyPr>
          <a:lstStyle/>
          <a:p>
            <a:pPr algn="l"/>
            <a:r>
              <a:rPr sz="1500" b="1" i="0">
                <a:solidFill>
                  <a:srgbClr val="1F1F1F"/>
                </a:solidFill>
                <a:latin typeface="Arial"/>
              </a:rPr>
              <a:t>Egress</a:t>
            </a:r>
          </a:p>
        </p:txBody>
      </p:sp>
      <p:sp>
        <p:nvSpPr>
          <p:cNvPr id="34" name="Context 3 text"/>
          <p:cNvSpPr txBox="1"/>
          <p:nvPr/>
        </p:nvSpPr>
        <p:spPr>
          <a:xfrm>
            <a:off x="8686800" y="4818888"/>
            <a:ext cx="2971800" cy="640080"/>
          </a:xfrm>
          <a:prstGeom prst="rect">
            <a:avLst/>
          </a:prstGeom>
          <a:noFill/>
        </p:spPr>
        <p:txBody>
          <a:bodyPr wrap="square" lIns="0" tIns="0" rIns="0" bIns="0" anchor="t">
            <a:spAutoFit/>
          </a:bodyPr>
          <a:lstStyle/>
          <a:p>
            <a:pPr algn="l"/>
            <a:r>
              <a:rPr sz="1300" b="0" i="0">
                <a:solidFill>
                  <a:srgbClr val="595959"/>
                </a:solidFill>
                <a:latin typeface="Arial"/>
              </a:rPr>
              <a:t>Dedicated IPs for partner allow-lists</a:t>
            </a:r>
          </a:p>
        </p:txBody>
      </p:sp>
      <p:sp>
        <p:nvSpPr>
          <p:cNvPr id="35" name="Order note"/>
          <p:cNvSpPr txBox="1"/>
          <p:nvPr/>
        </p:nvSpPr>
        <p:spPr>
          <a:xfrm>
            <a:off x="7726679" y="5806440"/>
            <a:ext cx="4069080" cy="320040"/>
          </a:xfrm>
          <a:prstGeom prst="rect">
            <a:avLst/>
          </a:prstGeom>
          <a:noFill/>
        </p:spPr>
        <p:txBody>
          <a:bodyPr wrap="square" lIns="0" tIns="0" rIns="0" bIns="0" anchor="t">
            <a:spAutoFit/>
          </a:bodyPr>
          <a:lstStyle/>
          <a:p>
            <a:pPr algn="l"/>
            <a:r>
              <a:rPr sz="1300" b="1" i="0">
                <a:solidFill>
                  <a:srgbClr val="F6821F"/>
                </a:solidFill>
                <a:latin typeface="Arial"/>
              </a:rPr>
              <a:t>Evaluated in order: DNS, then network, then HTTP</a:t>
            </a:r>
          </a:p>
        </p:txBody>
      </p:sp>
      <p:sp>
        <p:nvSpPr>
          <p:cNvPr id="36"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Gateway policies that solve real problems</a:t>
            </a:r>
          </a:p>
        </p:txBody>
      </p:sp>
      <p:sp>
        <p:nvSpPr>
          <p:cNvPr id="4" name="Table header"/>
          <p:cNvSpPr/>
          <p:nvPr/>
        </p:nvSpPr>
        <p:spPr>
          <a:xfrm>
            <a:off x="411480" y="1645920"/>
            <a:ext cx="2468880" cy="457200"/>
          </a:xfrm>
          <a:prstGeom prst="roundRect">
            <a:avLst>
              <a:gd name="adj" fmla="val 12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i="0">
                <a:solidFill>
                  <a:srgbClr val="FFFFFF"/>
                </a:solidFill>
                <a:latin typeface="Arial"/>
              </a:rPr>
              <a:t>Problem</a:t>
            </a:r>
          </a:p>
        </p:txBody>
      </p:sp>
      <p:sp>
        <p:nvSpPr>
          <p:cNvPr id="5" name="Table header"/>
          <p:cNvSpPr/>
          <p:nvPr/>
        </p:nvSpPr>
        <p:spPr>
          <a:xfrm>
            <a:off x="2971800" y="1645920"/>
            <a:ext cx="4846320" cy="457200"/>
          </a:xfrm>
          <a:prstGeom prst="roundRect">
            <a:avLst>
              <a:gd name="adj" fmla="val 12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i="0">
                <a:solidFill>
                  <a:srgbClr val="FFFFFF"/>
                </a:solidFill>
                <a:latin typeface="Arial"/>
              </a:rPr>
              <a:t>Gateway control</a:t>
            </a:r>
          </a:p>
        </p:txBody>
      </p:sp>
      <p:sp>
        <p:nvSpPr>
          <p:cNvPr id="6" name="Table header"/>
          <p:cNvSpPr/>
          <p:nvPr/>
        </p:nvSpPr>
        <p:spPr>
          <a:xfrm>
            <a:off x="7909560" y="1645920"/>
            <a:ext cx="3886200" cy="457200"/>
          </a:xfrm>
          <a:prstGeom prst="roundRect">
            <a:avLst>
              <a:gd name="adj" fmla="val 12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i="0">
                <a:solidFill>
                  <a:srgbClr val="FFFFFF"/>
                </a:solidFill>
                <a:latin typeface="Arial"/>
              </a:rPr>
              <a:t>Outcome</a:t>
            </a:r>
          </a:p>
        </p:txBody>
      </p:sp>
      <p:sp>
        <p:nvSpPr>
          <p:cNvPr id="7" name="Table row 1"/>
          <p:cNvSpPr/>
          <p:nvPr/>
        </p:nvSpPr>
        <p:spPr>
          <a:xfrm>
            <a:off x="411480" y="2194560"/>
            <a:ext cx="11384280" cy="676656"/>
          </a:xfrm>
          <a:prstGeom prst="roundRect">
            <a:avLst>
              <a:gd name="adj" fmla="val 1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blem 1"/>
          <p:cNvSpPr txBox="1"/>
          <p:nvPr/>
        </p:nvSpPr>
        <p:spPr>
          <a:xfrm>
            <a:off x="548640" y="2194560"/>
            <a:ext cx="2286000" cy="676656"/>
          </a:xfrm>
          <a:prstGeom prst="rect">
            <a:avLst/>
          </a:prstGeom>
          <a:noFill/>
        </p:spPr>
        <p:txBody>
          <a:bodyPr wrap="square" lIns="0" tIns="0" rIns="0" bIns="0" anchor="ctr">
            <a:spAutoFit/>
          </a:bodyPr>
          <a:lstStyle/>
          <a:p>
            <a:pPr algn="l"/>
            <a:r>
              <a:rPr sz="1400" b="1" i="0">
                <a:solidFill>
                  <a:srgbClr val="1F1F1F"/>
                </a:solidFill>
                <a:latin typeface="Arial"/>
              </a:rPr>
              <a:t>Phishing and malware</a:t>
            </a:r>
          </a:p>
        </p:txBody>
      </p:sp>
      <p:sp>
        <p:nvSpPr>
          <p:cNvPr id="9" name="Control 1"/>
          <p:cNvSpPr txBox="1"/>
          <p:nvPr/>
        </p:nvSpPr>
        <p:spPr>
          <a:xfrm>
            <a:off x="3108960" y="2194560"/>
            <a:ext cx="4663440" cy="676656"/>
          </a:xfrm>
          <a:prstGeom prst="rect">
            <a:avLst/>
          </a:prstGeom>
          <a:noFill/>
        </p:spPr>
        <p:txBody>
          <a:bodyPr wrap="square" lIns="0" tIns="0" rIns="0" bIns="0" anchor="ctr">
            <a:spAutoFit/>
          </a:bodyPr>
          <a:lstStyle/>
          <a:p>
            <a:pPr algn="l"/>
            <a:r>
              <a:rPr sz="1350" b="0" i="0">
                <a:solidFill>
                  <a:srgbClr val="1F1F1F"/>
                </a:solidFill>
                <a:latin typeface="Arial"/>
              </a:rPr>
              <a:t>Block security-risk categories at DNS and HTTP; scan downloads</a:t>
            </a:r>
          </a:p>
        </p:txBody>
      </p:sp>
      <p:sp>
        <p:nvSpPr>
          <p:cNvPr id="10" name="Outcome 1"/>
          <p:cNvSpPr txBox="1"/>
          <p:nvPr/>
        </p:nvSpPr>
        <p:spPr>
          <a:xfrm>
            <a:off x="8046720" y="2194560"/>
            <a:ext cx="3657600" cy="676656"/>
          </a:xfrm>
          <a:prstGeom prst="rect">
            <a:avLst/>
          </a:prstGeom>
          <a:noFill/>
        </p:spPr>
        <p:txBody>
          <a:bodyPr wrap="square" lIns="0" tIns="0" rIns="0" bIns="0" anchor="ctr">
            <a:spAutoFit/>
          </a:bodyPr>
          <a:lstStyle/>
          <a:p>
            <a:pPr algn="l"/>
            <a:r>
              <a:rPr sz="1350" b="0" i="0">
                <a:solidFill>
                  <a:srgbClr val="595959"/>
                </a:solidFill>
                <a:latin typeface="Arial"/>
              </a:rPr>
              <a:t>Threat stopped before the page loads</a:t>
            </a:r>
          </a:p>
        </p:txBody>
      </p:sp>
      <p:sp>
        <p:nvSpPr>
          <p:cNvPr id="11" name="Table row 2"/>
          <p:cNvSpPr/>
          <p:nvPr/>
        </p:nvSpPr>
        <p:spPr>
          <a:xfrm>
            <a:off x="411480" y="2944368"/>
            <a:ext cx="1138428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roblem 2"/>
          <p:cNvSpPr txBox="1"/>
          <p:nvPr/>
        </p:nvSpPr>
        <p:spPr>
          <a:xfrm>
            <a:off x="548640" y="2944368"/>
            <a:ext cx="2286000" cy="676656"/>
          </a:xfrm>
          <a:prstGeom prst="rect">
            <a:avLst/>
          </a:prstGeom>
          <a:noFill/>
        </p:spPr>
        <p:txBody>
          <a:bodyPr wrap="square" lIns="0" tIns="0" rIns="0" bIns="0" anchor="ctr">
            <a:spAutoFit/>
          </a:bodyPr>
          <a:lstStyle/>
          <a:p>
            <a:pPr algn="l"/>
            <a:r>
              <a:rPr sz="1400" b="1" i="0">
                <a:solidFill>
                  <a:srgbClr val="1F1F1F"/>
                </a:solidFill>
                <a:latin typeface="Arial"/>
              </a:rPr>
              <a:t>Shadow IT and AI tools</a:t>
            </a:r>
          </a:p>
        </p:txBody>
      </p:sp>
      <p:sp>
        <p:nvSpPr>
          <p:cNvPr id="13" name="Control 2"/>
          <p:cNvSpPr txBox="1"/>
          <p:nvPr/>
        </p:nvSpPr>
        <p:spPr>
          <a:xfrm>
            <a:off x="3108960" y="2944368"/>
            <a:ext cx="4663440" cy="676656"/>
          </a:xfrm>
          <a:prstGeom prst="rect">
            <a:avLst/>
          </a:prstGeom>
          <a:noFill/>
        </p:spPr>
        <p:txBody>
          <a:bodyPr wrap="square" lIns="0" tIns="0" rIns="0" bIns="0" anchor="ctr">
            <a:spAutoFit/>
          </a:bodyPr>
          <a:lstStyle/>
          <a:p>
            <a:pPr algn="l"/>
            <a:r>
              <a:rPr sz="1350" b="0" i="0">
                <a:solidFill>
                  <a:srgbClr val="1F1F1F"/>
                </a:solidFill>
                <a:latin typeface="Arial"/>
              </a:rPr>
              <a:t>Application controls; allow corporate accounts only</a:t>
            </a:r>
          </a:p>
        </p:txBody>
      </p:sp>
      <p:sp>
        <p:nvSpPr>
          <p:cNvPr id="14" name="Outcome 2"/>
          <p:cNvSpPr txBox="1"/>
          <p:nvPr/>
        </p:nvSpPr>
        <p:spPr>
          <a:xfrm>
            <a:off x="8046720" y="2944368"/>
            <a:ext cx="3657600" cy="676656"/>
          </a:xfrm>
          <a:prstGeom prst="rect">
            <a:avLst/>
          </a:prstGeom>
          <a:noFill/>
        </p:spPr>
        <p:txBody>
          <a:bodyPr wrap="square" lIns="0" tIns="0" rIns="0" bIns="0" anchor="ctr">
            <a:spAutoFit/>
          </a:bodyPr>
          <a:lstStyle/>
          <a:p>
            <a:pPr algn="l"/>
            <a:r>
              <a:rPr sz="1350" b="0" i="0">
                <a:solidFill>
                  <a:srgbClr val="595959"/>
                </a:solidFill>
                <a:latin typeface="Arial"/>
              </a:rPr>
              <a:t>Governance without blocking work</a:t>
            </a:r>
          </a:p>
        </p:txBody>
      </p:sp>
      <p:sp>
        <p:nvSpPr>
          <p:cNvPr id="15" name="Table row 3"/>
          <p:cNvSpPr/>
          <p:nvPr/>
        </p:nvSpPr>
        <p:spPr>
          <a:xfrm>
            <a:off x="411480" y="3694176"/>
            <a:ext cx="11384280" cy="676656"/>
          </a:xfrm>
          <a:prstGeom prst="roundRect">
            <a:avLst>
              <a:gd name="adj" fmla="val 1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roblem 3"/>
          <p:cNvSpPr txBox="1"/>
          <p:nvPr/>
        </p:nvSpPr>
        <p:spPr>
          <a:xfrm>
            <a:off x="548640" y="3694176"/>
            <a:ext cx="2286000" cy="676656"/>
          </a:xfrm>
          <a:prstGeom prst="rect">
            <a:avLst/>
          </a:prstGeom>
          <a:noFill/>
        </p:spPr>
        <p:txBody>
          <a:bodyPr wrap="square" lIns="0" tIns="0" rIns="0" bIns="0" anchor="ctr">
            <a:spAutoFit/>
          </a:bodyPr>
          <a:lstStyle/>
          <a:p>
            <a:pPr algn="l"/>
            <a:r>
              <a:rPr sz="1400" b="1" i="0">
                <a:solidFill>
                  <a:srgbClr val="1F1F1F"/>
                </a:solidFill>
                <a:latin typeface="Arial"/>
              </a:rPr>
              <a:t>Data leakage</a:t>
            </a:r>
          </a:p>
        </p:txBody>
      </p:sp>
      <p:sp>
        <p:nvSpPr>
          <p:cNvPr id="17" name="Control 3"/>
          <p:cNvSpPr txBox="1"/>
          <p:nvPr/>
        </p:nvSpPr>
        <p:spPr>
          <a:xfrm>
            <a:off x="3108960" y="3694176"/>
            <a:ext cx="4663440" cy="676656"/>
          </a:xfrm>
          <a:prstGeom prst="rect">
            <a:avLst/>
          </a:prstGeom>
          <a:noFill/>
        </p:spPr>
        <p:txBody>
          <a:bodyPr wrap="square" lIns="0" tIns="0" rIns="0" bIns="0" anchor="ctr">
            <a:spAutoFit/>
          </a:bodyPr>
          <a:lstStyle/>
          <a:p>
            <a:pPr algn="l"/>
            <a:r>
              <a:rPr sz="1350" b="0" i="0">
                <a:solidFill>
                  <a:srgbClr val="1F1F1F"/>
                </a:solidFill>
                <a:latin typeface="Arial"/>
              </a:rPr>
              <a:t>DLP profiles on uploads: financial data, secrets, source code</a:t>
            </a:r>
          </a:p>
        </p:txBody>
      </p:sp>
      <p:sp>
        <p:nvSpPr>
          <p:cNvPr id="18" name="Outcome 3"/>
          <p:cNvSpPr txBox="1"/>
          <p:nvPr/>
        </p:nvSpPr>
        <p:spPr>
          <a:xfrm>
            <a:off x="8046720" y="3694176"/>
            <a:ext cx="3657600" cy="676656"/>
          </a:xfrm>
          <a:prstGeom prst="rect">
            <a:avLst/>
          </a:prstGeom>
          <a:noFill/>
        </p:spPr>
        <p:txBody>
          <a:bodyPr wrap="square" lIns="0" tIns="0" rIns="0" bIns="0" anchor="ctr">
            <a:spAutoFit/>
          </a:bodyPr>
          <a:lstStyle/>
          <a:p>
            <a:pPr algn="l"/>
            <a:r>
              <a:rPr sz="1350" b="0" i="0">
                <a:solidFill>
                  <a:srgbClr val="595959"/>
                </a:solidFill>
                <a:latin typeface="Arial"/>
              </a:rPr>
              <a:t>Sensitive data stopped at the edge</a:t>
            </a:r>
          </a:p>
        </p:txBody>
      </p:sp>
      <p:sp>
        <p:nvSpPr>
          <p:cNvPr id="19" name="Table row 4"/>
          <p:cNvSpPr/>
          <p:nvPr/>
        </p:nvSpPr>
        <p:spPr>
          <a:xfrm>
            <a:off x="411480" y="4443983"/>
            <a:ext cx="11384280" cy="67665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roblem 4"/>
          <p:cNvSpPr txBox="1"/>
          <p:nvPr/>
        </p:nvSpPr>
        <p:spPr>
          <a:xfrm>
            <a:off x="548640" y="4443983"/>
            <a:ext cx="2286000" cy="676656"/>
          </a:xfrm>
          <a:prstGeom prst="rect">
            <a:avLst/>
          </a:prstGeom>
          <a:noFill/>
        </p:spPr>
        <p:txBody>
          <a:bodyPr wrap="square" lIns="0" tIns="0" rIns="0" bIns="0" anchor="ctr">
            <a:spAutoFit/>
          </a:bodyPr>
          <a:lstStyle/>
          <a:p>
            <a:pPr algn="l"/>
            <a:r>
              <a:rPr sz="1400" b="1" i="0">
                <a:solidFill>
                  <a:srgbClr val="1F1F1F"/>
                </a:solidFill>
                <a:latin typeface="Arial"/>
              </a:rPr>
              <a:t>Partner allow-listing</a:t>
            </a:r>
          </a:p>
        </p:txBody>
      </p:sp>
      <p:sp>
        <p:nvSpPr>
          <p:cNvPr id="21" name="Control 4"/>
          <p:cNvSpPr txBox="1"/>
          <p:nvPr/>
        </p:nvSpPr>
        <p:spPr>
          <a:xfrm>
            <a:off x="3108960" y="4443983"/>
            <a:ext cx="4663440" cy="676656"/>
          </a:xfrm>
          <a:prstGeom prst="rect">
            <a:avLst/>
          </a:prstGeom>
          <a:noFill/>
        </p:spPr>
        <p:txBody>
          <a:bodyPr wrap="square" lIns="0" tIns="0" rIns="0" bIns="0" anchor="ctr">
            <a:spAutoFit/>
          </a:bodyPr>
          <a:lstStyle/>
          <a:p>
            <a:pPr algn="l"/>
            <a:r>
              <a:rPr sz="1350" b="0" i="0">
                <a:solidFill>
                  <a:srgbClr val="1F1F1F"/>
                </a:solidFill>
                <a:latin typeface="Arial"/>
              </a:rPr>
              <a:t>Egress policy with dedicated IP addresses</a:t>
            </a:r>
          </a:p>
        </p:txBody>
      </p:sp>
      <p:sp>
        <p:nvSpPr>
          <p:cNvPr id="22" name="Outcome 4"/>
          <p:cNvSpPr txBox="1"/>
          <p:nvPr/>
        </p:nvSpPr>
        <p:spPr>
          <a:xfrm>
            <a:off x="8046720" y="4678436"/>
            <a:ext cx="3657600" cy="207749"/>
          </a:xfrm>
          <a:prstGeom prst="rect">
            <a:avLst/>
          </a:prstGeom>
          <a:noFill/>
        </p:spPr>
        <p:txBody>
          <a:bodyPr wrap="square" lIns="0" tIns="0" rIns="0" bIns="0" anchor="ctr">
            <a:spAutoFit/>
          </a:bodyPr>
          <a:lstStyle/>
          <a:p>
            <a:pPr algn="l"/>
            <a:r>
              <a:rPr sz="1350" b="0" i="0" dirty="0">
                <a:solidFill>
                  <a:srgbClr val="595959"/>
                </a:solidFill>
                <a:latin typeface="Arial"/>
              </a:rPr>
              <a:t>Partners trust a fixed </a:t>
            </a:r>
            <a:r>
              <a:rPr lang="en-US" sz="1350" b="0" i="0" dirty="0">
                <a:solidFill>
                  <a:srgbClr val="595959"/>
                </a:solidFill>
                <a:latin typeface="Arial"/>
              </a:rPr>
              <a:t>E-Bikes</a:t>
            </a:r>
            <a:r>
              <a:rPr sz="1350" b="0" i="0" dirty="0">
                <a:solidFill>
                  <a:srgbClr val="595959"/>
                </a:solidFill>
                <a:latin typeface="Arial"/>
              </a:rPr>
              <a:t> IP</a:t>
            </a:r>
          </a:p>
        </p:txBody>
      </p:sp>
      <p:sp>
        <p:nvSpPr>
          <p:cNvPr id="23" name="Table row 5"/>
          <p:cNvSpPr/>
          <p:nvPr/>
        </p:nvSpPr>
        <p:spPr>
          <a:xfrm>
            <a:off x="411480" y="5193792"/>
            <a:ext cx="11384280" cy="676656"/>
          </a:xfrm>
          <a:prstGeom prst="roundRect">
            <a:avLst>
              <a:gd name="adj" fmla="val 10000"/>
            </a:avLst>
          </a:prstGeom>
          <a:solidFill>
            <a:srgbClr val="FF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roblem 5"/>
          <p:cNvSpPr txBox="1"/>
          <p:nvPr/>
        </p:nvSpPr>
        <p:spPr>
          <a:xfrm>
            <a:off x="548640" y="5193792"/>
            <a:ext cx="2286000" cy="676656"/>
          </a:xfrm>
          <a:prstGeom prst="rect">
            <a:avLst/>
          </a:prstGeom>
          <a:noFill/>
        </p:spPr>
        <p:txBody>
          <a:bodyPr wrap="square" lIns="0" tIns="0" rIns="0" bIns="0" anchor="ctr">
            <a:spAutoFit/>
          </a:bodyPr>
          <a:lstStyle/>
          <a:p>
            <a:pPr algn="l"/>
            <a:r>
              <a:rPr sz="1400" b="1" i="0">
                <a:solidFill>
                  <a:srgbClr val="1F1F1F"/>
                </a:solidFill>
                <a:latin typeface="Arial"/>
              </a:rPr>
              <a:t>Risky or unknown sites</a:t>
            </a:r>
          </a:p>
        </p:txBody>
      </p:sp>
      <p:sp>
        <p:nvSpPr>
          <p:cNvPr id="25" name="Control 5"/>
          <p:cNvSpPr txBox="1"/>
          <p:nvPr/>
        </p:nvSpPr>
        <p:spPr>
          <a:xfrm>
            <a:off x="3108960" y="5193792"/>
            <a:ext cx="4663440" cy="676656"/>
          </a:xfrm>
          <a:prstGeom prst="rect">
            <a:avLst/>
          </a:prstGeom>
          <a:noFill/>
        </p:spPr>
        <p:txBody>
          <a:bodyPr wrap="square" lIns="0" tIns="0" rIns="0" bIns="0" anchor="ctr">
            <a:spAutoFit/>
          </a:bodyPr>
          <a:lstStyle/>
          <a:p>
            <a:pPr algn="l"/>
            <a:r>
              <a:rPr sz="1350" b="0" i="0">
                <a:solidFill>
                  <a:srgbClr val="1F1F1F"/>
                </a:solidFill>
                <a:latin typeface="Arial"/>
              </a:rPr>
              <a:t>Isolate action instead of a hard block</a:t>
            </a:r>
          </a:p>
        </p:txBody>
      </p:sp>
      <p:sp>
        <p:nvSpPr>
          <p:cNvPr id="26" name="Outcome 5"/>
          <p:cNvSpPr txBox="1"/>
          <p:nvPr/>
        </p:nvSpPr>
        <p:spPr>
          <a:xfrm>
            <a:off x="8046720" y="5193792"/>
            <a:ext cx="3657600" cy="676656"/>
          </a:xfrm>
          <a:prstGeom prst="rect">
            <a:avLst/>
          </a:prstGeom>
          <a:noFill/>
        </p:spPr>
        <p:txBody>
          <a:bodyPr wrap="square" lIns="0" tIns="0" rIns="0" bIns="0" anchor="ctr">
            <a:spAutoFit/>
          </a:bodyPr>
          <a:lstStyle/>
          <a:p>
            <a:pPr algn="l"/>
            <a:r>
              <a:rPr sz="1350" b="0" i="0">
                <a:solidFill>
                  <a:srgbClr val="595959"/>
                </a:solidFill>
                <a:latin typeface="Arial"/>
              </a:rPr>
              <a:t>Users stay productive and safe</a:t>
            </a:r>
          </a:p>
        </p:txBody>
      </p:sp>
      <p:sp>
        <p:nvSpPr>
          <p:cNvPr id="28"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8229600" cy="914400"/>
          </a:xfrm>
        </p:spPr>
        <p:txBody>
          <a:bodyPr wrap="square" lIns="0" tIns="0" rIns="0" bIns="0" anchor="t"/>
          <a:lstStyle/>
          <a:p>
            <a:r>
              <a:rPr sz="2800" b="1">
                <a:solidFill>
                  <a:srgbClr val="1F1F1F"/>
                </a:solidFill>
                <a:latin typeface="Arial"/>
              </a:rPr>
              <a:t>The Cloudflare One Client (WARP)</a:t>
            </a:r>
          </a:p>
        </p:txBody>
      </p:sp>
      <p:sp>
        <p:nvSpPr>
          <p:cNvPr id="4" name="Client card 1"/>
          <p:cNvSpPr/>
          <p:nvPr/>
        </p:nvSpPr>
        <p:spPr>
          <a:xfrm>
            <a:off x="411480" y="1737360"/>
            <a:ext cx="2560320" cy="29260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con circle"/>
          <p:cNvSpPr/>
          <p:nvPr/>
        </p:nvSpPr>
        <p:spPr>
          <a:xfrm>
            <a:off x="594360" y="1901952"/>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con FaLock"/>
          <p:cNvPicPr>
            <a:picLocks noChangeAspect="1"/>
          </p:cNvPicPr>
          <p:nvPr/>
        </p:nvPicPr>
        <p:blipFill>
          <a:blip r:embed="rId4"/>
          <a:stretch>
            <a:fillRect/>
          </a:stretch>
        </p:blipFill>
        <p:spPr>
          <a:xfrm>
            <a:off x="725119" y="2032711"/>
            <a:ext cx="332841" cy="332841"/>
          </a:xfrm>
          <a:prstGeom prst="rect">
            <a:avLst/>
          </a:prstGeom>
        </p:spPr>
      </p:pic>
      <p:sp>
        <p:nvSpPr>
          <p:cNvPr id="7" name="Client card 1 title"/>
          <p:cNvSpPr txBox="1"/>
          <p:nvPr/>
        </p:nvSpPr>
        <p:spPr>
          <a:xfrm>
            <a:off x="1325880" y="2011680"/>
            <a:ext cx="1554480" cy="365760"/>
          </a:xfrm>
          <a:prstGeom prst="rect">
            <a:avLst/>
          </a:prstGeom>
          <a:noFill/>
        </p:spPr>
        <p:txBody>
          <a:bodyPr wrap="square" lIns="0" tIns="0" rIns="0" bIns="0" anchor="t">
            <a:spAutoFit/>
          </a:bodyPr>
          <a:lstStyle/>
          <a:p>
            <a:pPr algn="l"/>
            <a:r>
              <a:rPr sz="1800" b="1" i="0">
                <a:solidFill>
                  <a:srgbClr val="1F1F1F"/>
                </a:solidFill>
                <a:latin typeface="Arial"/>
              </a:rPr>
              <a:t>Connect</a:t>
            </a:r>
          </a:p>
        </p:txBody>
      </p:sp>
      <p:sp>
        <p:nvSpPr>
          <p:cNvPr id="8" name="Client card 1 bullets"/>
          <p:cNvSpPr txBox="1"/>
          <p:nvPr/>
        </p:nvSpPr>
        <p:spPr>
          <a:xfrm>
            <a:off x="594360" y="2743200"/>
            <a:ext cx="2240280" cy="1828800"/>
          </a:xfrm>
          <a:prstGeom prst="rect">
            <a:avLst/>
          </a:prstGeom>
          <a:noFill/>
        </p:spPr>
        <p:txBody>
          <a:bodyPr wrap="square" lIns="0" tIns="0" rIns="0" bIns="0" anchor="t">
            <a:spAutoFit/>
          </a:bodyPr>
          <a:lstStyle/>
          <a:p>
            <a:pPr marL="228600" indent="-228600" algn="l">
              <a:spcAft>
                <a:spcPts val="800"/>
              </a:spcAft>
              <a:buFont typeface="Arial"/>
              <a:buChar char="•"/>
            </a:pPr>
            <a:r>
              <a:rPr sz="1350" b="0" i="0">
                <a:solidFill>
                  <a:srgbClr val="1F1F1F"/>
                </a:solidFill>
                <a:latin typeface="Arial"/>
              </a:rPr>
              <a:t>WireGuard or MASQUE tunnel</a:t>
            </a:r>
          </a:p>
          <a:p>
            <a:pPr marL="228600" indent="-228600" algn="l">
              <a:spcAft>
                <a:spcPts val="800"/>
              </a:spcAft>
              <a:buFont typeface="Arial"/>
              <a:buChar char="•"/>
            </a:pPr>
            <a:r>
              <a:rPr sz="1350" b="0" i="0">
                <a:solidFill>
                  <a:srgbClr val="1F1F1F"/>
                </a:solidFill>
                <a:latin typeface="Arial"/>
              </a:rPr>
              <a:t>DNS over HTTPS</a:t>
            </a:r>
          </a:p>
          <a:p>
            <a:pPr marL="228600" indent="-228600" algn="l">
              <a:spcAft>
                <a:spcPts val="800"/>
              </a:spcAft>
              <a:buFont typeface="Arial"/>
              <a:buChar char="•"/>
            </a:pPr>
            <a:r>
              <a:rPr sz="1350" b="0" i="0">
                <a:solidFill>
                  <a:srgbClr val="1F1F1F"/>
                </a:solidFill>
                <a:latin typeface="Arial"/>
              </a:rPr>
              <a:t>All ports and protocols</a:t>
            </a:r>
          </a:p>
        </p:txBody>
      </p:sp>
      <p:sp>
        <p:nvSpPr>
          <p:cNvPr id="9" name="Client card 2"/>
          <p:cNvSpPr/>
          <p:nvPr/>
        </p:nvSpPr>
        <p:spPr>
          <a:xfrm>
            <a:off x="3154680" y="1737360"/>
            <a:ext cx="2560320" cy="29260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Icon circle"/>
          <p:cNvSpPr/>
          <p:nvPr/>
        </p:nvSpPr>
        <p:spPr>
          <a:xfrm>
            <a:off x="3337560" y="1901952"/>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FaClipboardCheck"/>
          <p:cNvPicPr>
            <a:picLocks noChangeAspect="1"/>
          </p:cNvPicPr>
          <p:nvPr/>
        </p:nvPicPr>
        <p:blipFill>
          <a:blip r:embed="rId5"/>
          <a:stretch>
            <a:fillRect/>
          </a:stretch>
        </p:blipFill>
        <p:spPr>
          <a:xfrm>
            <a:off x="3468319" y="2032711"/>
            <a:ext cx="332841" cy="332841"/>
          </a:xfrm>
          <a:prstGeom prst="rect">
            <a:avLst/>
          </a:prstGeom>
        </p:spPr>
      </p:pic>
      <p:sp>
        <p:nvSpPr>
          <p:cNvPr id="12" name="Client card 2 title"/>
          <p:cNvSpPr txBox="1"/>
          <p:nvPr/>
        </p:nvSpPr>
        <p:spPr>
          <a:xfrm>
            <a:off x="4069080" y="2011680"/>
            <a:ext cx="1554480" cy="365760"/>
          </a:xfrm>
          <a:prstGeom prst="rect">
            <a:avLst/>
          </a:prstGeom>
          <a:noFill/>
        </p:spPr>
        <p:txBody>
          <a:bodyPr wrap="square" lIns="0" tIns="0" rIns="0" bIns="0" anchor="t">
            <a:spAutoFit/>
          </a:bodyPr>
          <a:lstStyle/>
          <a:p>
            <a:pPr algn="l"/>
            <a:r>
              <a:rPr sz="1800" b="1" i="0">
                <a:solidFill>
                  <a:srgbClr val="1F1F1F"/>
                </a:solidFill>
                <a:latin typeface="Arial"/>
              </a:rPr>
              <a:t>Assess</a:t>
            </a:r>
          </a:p>
        </p:txBody>
      </p:sp>
      <p:sp>
        <p:nvSpPr>
          <p:cNvPr id="13" name="Client card 2 bullets"/>
          <p:cNvSpPr txBox="1"/>
          <p:nvPr/>
        </p:nvSpPr>
        <p:spPr>
          <a:xfrm>
            <a:off x="3337560" y="2743200"/>
            <a:ext cx="2240280" cy="1828800"/>
          </a:xfrm>
          <a:prstGeom prst="rect">
            <a:avLst/>
          </a:prstGeom>
          <a:noFill/>
        </p:spPr>
        <p:txBody>
          <a:bodyPr wrap="square" lIns="0" tIns="0" rIns="0" bIns="0" anchor="t">
            <a:spAutoFit/>
          </a:bodyPr>
          <a:lstStyle/>
          <a:p>
            <a:pPr marL="228600" indent="-228600" algn="l">
              <a:spcAft>
                <a:spcPts val="800"/>
              </a:spcAft>
              <a:buFont typeface="Arial"/>
              <a:buChar char="•"/>
            </a:pPr>
            <a:r>
              <a:rPr sz="1350" b="0" i="0">
                <a:solidFill>
                  <a:srgbClr val="1F1F1F"/>
                </a:solidFill>
                <a:latin typeface="Arial"/>
              </a:rPr>
              <a:t>OS, encryption, firewall</a:t>
            </a:r>
          </a:p>
          <a:p>
            <a:pPr marL="228600" indent="-228600" algn="l">
              <a:spcAft>
                <a:spcPts val="800"/>
              </a:spcAft>
              <a:buFont typeface="Arial"/>
              <a:buChar char="•"/>
            </a:pPr>
            <a:r>
              <a:rPr sz="1350" b="0" i="0">
                <a:solidFill>
                  <a:srgbClr val="1F1F1F"/>
                </a:solidFill>
                <a:latin typeface="Arial"/>
              </a:rPr>
              <a:t>Managed-device serial</a:t>
            </a:r>
          </a:p>
          <a:p>
            <a:pPr marL="228600" indent="-228600" algn="l">
              <a:spcAft>
                <a:spcPts val="800"/>
              </a:spcAft>
              <a:buFont typeface="Arial"/>
              <a:buChar char="•"/>
            </a:pPr>
            <a:r>
              <a:rPr sz="1350" b="0" i="0">
                <a:solidFill>
                  <a:srgbClr val="1F1F1F"/>
                </a:solidFill>
                <a:latin typeface="Arial"/>
              </a:rPr>
              <a:t>EDR signals, e.g. CrowdStrike</a:t>
            </a:r>
          </a:p>
        </p:txBody>
      </p:sp>
      <p:sp>
        <p:nvSpPr>
          <p:cNvPr id="14" name="Client card 3"/>
          <p:cNvSpPr/>
          <p:nvPr/>
        </p:nvSpPr>
        <p:spPr>
          <a:xfrm>
            <a:off x="5897880" y="1737360"/>
            <a:ext cx="2560320" cy="29260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con circle"/>
          <p:cNvSpPr/>
          <p:nvPr/>
        </p:nvSpPr>
        <p:spPr>
          <a:xfrm>
            <a:off x="6080760" y="1901952"/>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con FaCogs"/>
          <p:cNvPicPr>
            <a:picLocks noChangeAspect="1"/>
          </p:cNvPicPr>
          <p:nvPr/>
        </p:nvPicPr>
        <p:blipFill>
          <a:blip r:embed="rId6"/>
          <a:stretch>
            <a:fillRect/>
          </a:stretch>
        </p:blipFill>
        <p:spPr>
          <a:xfrm>
            <a:off x="6211519" y="2032711"/>
            <a:ext cx="332841" cy="332841"/>
          </a:xfrm>
          <a:prstGeom prst="rect">
            <a:avLst/>
          </a:prstGeom>
        </p:spPr>
      </p:pic>
      <p:sp>
        <p:nvSpPr>
          <p:cNvPr id="17" name="Client card 3 title"/>
          <p:cNvSpPr txBox="1"/>
          <p:nvPr/>
        </p:nvSpPr>
        <p:spPr>
          <a:xfrm>
            <a:off x="6812280" y="2011680"/>
            <a:ext cx="1554480" cy="365760"/>
          </a:xfrm>
          <a:prstGeom prst="rect">
            <a:avLst/>
          </a:prstGeom>
          <a:noFill/>
        </p:spPr>
        <p:txBody>
          <a:bodyPr wrap="square" lIns="0" tIns="0" rIns="0" bIns="0" anchor="t">
            <a:spAutoFit/>
          </a:bodyPr>
          <a:lstStyle/>
          <a:p>
            <a:pPr algn="l"/>
            <a:r>
              <a:rPr sz="1800" b="1" i="0">
                <a:solidFill>
                  <a:srgbClr val="1F1F1F"/>
                </a:solidFill>
                <a:latin typeface="Arial"/>
              </a:rPr>
              <a:t>Deploy</a:t>
            </a:r>
          </a:p>
        </p:txBody>
      </p:sp>
      <p:sp>
        <p:nvSpPr>
          <p:cNvPr id="18" name="Client card 3 bullets"/>
          <p:cNvSpPr txBox="1"/>
          <p:nvPr/>
        </p:nvSpPr>
        <p:spPr>
          <a:xfrm>
            <a:off x="6080760" y="2743200"/>
            <a:ext cx="2240280" cy="1828800"/>
          </a:xfrm>
          <a:prstGeom prst="rect">
            <a:avLst/>
          </a:prstGeom>
          <a:noFill/>
        </p:spPr>
        <p:txBody>
          <a:bodyPr wrap="square" lIns="0" tIns="0" rIns="0" bIns="0" anchor="t">
            <a:spAutoFit/>
          </a:bodyPr>
          <a:lstStyle/>
          <a:p>
            <a:pPr marL="228600" indent="-228600" algn="l">
              <a:spcAft>
                <a:spcPts val="800"/>
              </a:spcAft>
              <a:buFont typeface="Arial"/>
              <a:buChar char="•"/>
            </a:pPr>
            <a:r>
              <a:rPr sz="1350" b="0" i="0">
                <a:solidFill>
                  <a:srgbClr val="1F1F1F"/>
                </a:solidFill>
                <a:latin typeface="Arial"/>
              </a:rPr>
              <a:t>Intune, Jamf, JumpCloud</a:t>
            </a:r>
          </a:p>
          <a:p>
            <a:pPr marL="228600" indent="-228600" algn="l">
              <a:spcAft>
                <a:spcPts val="800"/>
              </a:spcAft>
              <a:buFont typeface="Arial"/>
              <a:buChar char="•"/>
            </a:pPr>
            <a:r>
              <a:rPr sz="1350" b="0" i="0">
                <a:solidFill>
                  <a:srgbClr val="1F1F1F"/>
                </a:solidFill>
                <a:latin typeface="Arial"/>
              </a:rPr>
              <a:t>Windows, macOS, Linux, mobile</a:t>
            </a:r>
          </a:p>
          <a:p>
            <a:pPr marL="228600" indent="-228600" algn="l">
              <a:spcAft>
                <a:spcPts val="800"/>
              </a:spcAft>
              <a:buFont typeface="Arial"/>
              <a:buChar char="•"/>
            </a:pPr>
            <a:r>
              <a:rPr sz="1350" b="0" i="0">
                <a:solidFill>
                  <a:srgbClr val="1F1F1F"/>
                </a:solidFill>
                <a:latin typeface="Arial"/>
              </a:rPr>
              <a:t>warp-cli for admins</a:t>
            </a:r>
          </a:p>
        </p:txBody>
      </p:sp>
      <p:sp>
        <p:nvSpPr>
          <p:cNvPr id="19" name="Callout"/>
          <p:cNvSpPr/>
          <p:nvPr/>
        </p:nvSpPr>
        <p:spPr>
          <a:xfrm>
            <a:off x="411480" y="4892040"/>
            <a:ext cx="8046720" cy="118872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con circle"/>
          <p:cNvSpPr/>
          <p:nvPr/>
        </p:nvSpPr>
        <p:spPr>
          <a:xfrm>
            <a:off x="640080" y="5184648"/>
            <a:ext cx="594360" cy="5943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Filter"/>
          <p:cNvPicPr>
            <a:picLocks noChangeAspect="1"/>
          </p:cNvPicPr>
          <p:nvPr/>
        </p:nvPicPr>
        <p:blipFill>
          <a:blip r:embed="rId7"/>
          <a:stretch>
            <a:fillRect/>
          </a:stretch>
        </p:blipFill>
        <p:spPr>
          <a:xfrm>
            <a:off x="770839" y="5315407"/>
            <a:ext cx="332841" cy="332841"/>
          </a:xfrm>
          <a:prstGeom prst="rect">
            <a:avLst/>
          </a:prstGeom>
        </p:spPr>
      </p:pic>
      <p:sp>
        <p:nvSpPr>
          <p:cNvPr id="22" name="Callout text"/>
          <p:cNvSpPr txBox="1"/>
          <p:nvPr/>
        </p:nvSpPr>
        <p:spPr>
          <a:xfrm>
            <a:off x="1463040" y="4937760"/>
            <a:ext cx="6858000" cy="1097280"/>
          </a:xfrm>
          <a:prstGeom prst="rect">
            <a:avLst/>
          </a:prstGeom>
          <a:noFill/>
        </p:spPr>
        <p:txBody>
          <a:bodyPr wrap="square" lIns="0" tIns="0" rIns="0" bIns="0" anchor="ctr">
            <a:spAutoFit/>
          </a:bodyPr>
          <a:lstStyle/>
          <a:p>
            <a:pPr algn="l"/>
            <a:r>
              <a:rPr sz="1500" b="1" i="0">
                <a:solidFill>
                  <a:srgbClr val="FFFFFF"/>
                </a:solidFill>
                <a:latin typeface="Arial"/>
              </a:rPr>
              <a:t>Where inspection happens: </a:t>
            </a:r>
            <a:r>
              <a:rPr sz="1500" b="0" i="0">
                <a:solidFill>
                  <a:srgbClr val="FFFFFF"/>
                </a:solidFill>
                <a:latin typeface="Arial"/>
              </a:rPr>
              <a:t>the client forwards traffic and reports posture. Gateway inspects at the nearest edge, keeping endpoints light and policy central.</a:t>
            </a:r>
          </a:p>
        </p:txBody>
      </p:sp>
      <p:sp>
        <p:nvSpPr>
          <p:cNvPr id="23" name="Sidebar subhead"/>
          <p:cNvSpPr txBox="1"/>
          <p:nvPr/>
        </p:nvSpPr>
        <p:spPr>
          <a:xfrm>
            <a:off x="9189720" y="2011680"/>
            <a:ext cx="2651760" cy="365760"/>
          </a:xfrm>
          <a:prstGeom prst="rect">
            <a:avLst/>
          </a:prstGeom>
          <a:noFill/>
        </p:spPr>
        <p:txBody>
          <a:bodyPr wrap="square" lIns="0" tIns="0" rIns="0" bIns="0" anchor="t">
            <a:spAutoFit/>
          </a:bodyPr>
          <a:lstStyle/>
          <a:p>
            <a:pPr algn="l"/>
            <a:r>
              <a:rPr sz="1800" b="1" i="0">
                <a:solidFill>
                  <a:srgbClr val="1F1F1F"/>
                </a:solidFill>
                <a:latin typeface="Arial"/>
              </a:rPr>
              <a:t>Client modes</a:t>
            </a:r>
          </a:p>
        </p:txBody>
      </p:sp>
      <p:sp>
        <p:nvSpPr>
          <p:cNvPr id="24" name="Sidebar bullets"/>
          <p:cNvSpPr txBox="1"/>
          <p:nvPr/>
        </p:nvSpPr>
        <p:spPr>
          <a:xfrm>
            <a:off x="9189720" y="2514600"/>
            <a:ext cx="2606040" cy="2743200"/>
          </a:xfrm>
          <a:prstGeom prst="rect">
            <a:avLst/>
          </a:prstGeom>
          <a:noFill/>
        </p:spPr>
        <p:txBody>
          <a:bodyPr wrap="square" lIns="0" tIns="0" rIns="0" bIns="0" anchor="t">
            <a:spAutoFit/>
          </a:bodyPr>
          <a:lstStyle/>
          <a:p>
            <a:pPr marL="228600" indent="-228600" algn="l">
              <a:spcAft>
                <a:spcPts val="800"/>
              </a:spcAft>
              <a:buFont typeface="Arial"/>
              <a:buChar char="•"/>
            </a:pPr>
            <a:r>
              <a:rPr sz="1350" b="0" i="0">
                <a:solidFill>
                  <a:srgbClr val="1F1F1F"/>
                </a:solidFill>
                <a:latin typeface="Arial"/>
              </a:rPr>
              <a:t>Traffic and DNS (default, full features)</a:t>
            </a:r>
          </a:p>
          <a:p>
            <a:pPr marL="228600" indent="-228600" algn="l">
              <a:spcAft>
                <a:spcPts val="800"/>
              </a:spcAft>
              <a:buFont typeface="Arial"/>
              <a:buChar char="•"/>
            </a:pPr>
            <a:r>
              <a:rPr sz="1350" b="0" i="0">
                <a:solidFill>
                  <a:srgbClr val="1F1F1F"/>
                </a:solidFill>
                <a:latin typeface="Arial"/>
              </a:rPr>
              <a:t>DNS only</a:t>
            </a:r>
          </a:p>
          <a:p>
            <a:pPr marL="228600" indent="-228600" algn="l">
              <a:spcAft>
                <a:spcPts val="800"/>
              </a:spcAft>
              <a:buFont typeface="Arial"/>
              <a:buChar char="•"/>
            </a:pPr>
            <a:r>
              <a:rPr sz="1350" b="0" i="0">
                <a:solidFill>
                  <a:srgbClr val="1F1F1F"/>
                </a:solidFill>
                <a:latin typeface="Arial"/>
              </a:rPr>
              <a:t>Traffic only</a:t>
            </a:r>
          </a:p>
          <a:p>
            <a:pPr marL="228600" indent="-228600" algn="l">
              <a:spcAft>
                <a:spcPts val="800"/>
              </a:spcAft>
              <a:buFont typeface="Arial"/>
              <a:buChar char="•"/>
            </a:pPr>
            <a:r>
              <a:rPr sz="1350" b="0" i="0">
                <a:solidFill>
                  <a:srgbClr val="1F1F1F"/>
                </a:solidFill>
                <a:latin typeface="Arial"/>
              </a:rPr>
              <a:t>Posture only</a:t>
            </a:r>
          </a:p>
        </p:txBody>
      </p:sp>
      <p:sp>
        <p:nvSpPr>
          <p:cNvPr id="25"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Browser Isolation: assume the click will happen</a:t>
            </a:r>
          </a:p>
        </p:txBody>
      </p:sp>
      <p:sp>
        <p:nvSpPr>
          <p:cNvPr id="4" name="User browser"/>
          <p:cNvSpPr/>
          <p:nvPr/>
        </p:nvSpPr>
        <p:spPr>
          <a:xfrm>
            <a:off x="411480" y="1783080"/>
            <a:ext cx="2834640" cy="146304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i="0">
                <a:solidFill>
                  <a:srgbClr val="1F1F1F"/>
                </a:solidFill>
                <a:latin typeface="Arial"/>
              </a:rPr>
              <a:t>User's browser</a:t>
            </a:r>
          </a:p>
          <a:p>
            <a:pPr algn="ctr"/>
            <a:r>
              <a:rPr sz="1200" b="0" i="0">
                <a:solidFill>
                  <a:srgbClr val="595959"/>
                </a:solidFill>
                <a:latin typeface="Arial"/>
              </a:rPr>
              <a:t>Receives a safe rendering. No page code runs here.</a:t>
            </a:r>
          </a:p>
        </p:txBody>
      </p:sp>
      <p:sp>
        <p:nvSpPr>
          <p:cNvPr id="5" name="Remote browser"/>
          <p:cNvSpPr/>
          <p:nvPr/>
        </p:nvSpPr>
        <p:spPr>
          <a:xfrm>
            <a:off x="4480560" y="1783080"/>
            <a:ext cx="3200400" cy="146304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i="0">
                <a:solidFill>
                  <a:srgbClr val="FFFFFF"/>
                </a:solidFill>
                <a:latin typeface="Arial"/>
              </a:rPr>
              <a:t>Remote browser in Cloudflare</a:t>
            </a:r>
          </a:p>
          <a:p>
            <a:pPr algn="ctr"/>
            <a:r>
              <a:rPr sz="1200" b="0" i="0">
                <a:solidFill>
                  <a:srgbClr val="FFFFFF"/>
                </a:solidFill>
                <a:latin typeface="Arial"/>
              </a:rPr>
              <a:t>Page code executes here</a:t>
            </a:r>
          </a:p>
        </p:txBody>
      </p:sp>
      <p:sp>
        <p:nvSpPr>
          <p:cNvPr id="6" name="Website"/>
          <p:cNvSpPr/>
          <p:nvPr/>
        </p:nvSpPr>
        <p:spPr>
          <a:xfrm>
            <a:off x="8915400" y="1783080"/>
            <a:ext cx="2880360" cy="1463040"/>
          </a:xfrm>
          <a:prstGeom prst="roundRect">
            <a:avLst>
              <a:gd name="adj" fmla="val 6000"/>
            </a:avLst>
          </a:prstGeom>
          <a:solidFill>
            <a:srgbClr val="F4F4F4"/>
          </a:solid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i="0">
                <a:solidFill>
                  <a:srgbClr val="1F1F1F"/>
                </a:solidFill>
                <a:latin typeface="Arial"/>
              </a:rPr>
              <a:t>Website or link</a:t>
            </a:r>
          </a:p>
          <a:p>
            <a:pPr algn="ctr"/>
            <a:r>
              <a:rPr sz="1200" b="0" i="0">
                <a:solidFill>
                  <a:srgbClr val="595959"/>
                </a:solidFill>
                <a:latin typeface="Arial"/>
              </a:rPr>
              <a:t>Possibly malicious</a:t>
            </a:r>
          </a:p>
        </p:txBody>
      </p:sp>
      <p:cxnSp>
        <p:nvCxnSpPr>
          <p:cNvPr id="7" name="Safe rendering arrow"/>
          <p:cNvCxnSpPr/>
          <p:nvPr/>
        </p:nvCxnSpPr>
        <p:spPr>
          <a:xfrm flipH="1">
            <a:off x="3291840" y="2331720"/>
            <a:ext cx="1143000" cy="0"/>
          </a:xfrm>
          <a:prstGeom prst="line">
            <a:avLst/>
          </a:prstGeom>
          <a:ln w="28575">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Page code arrow"/>
          <p:cNvCxnSpPr/>
          <p:nvPr/>
        </p:nvCxnSpPr>
        <p:spPr>
          <a:xfrm flipH="1">
            <a:off x="7726679" y="2331720"/>
            <a:ext cx="1143001" cy="0"/>
          </a:xfrm>
          <a:prstGeom prst="line">
            <a:avLst/>
          </a:prstGeom>
          <a:ln w="285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Arrow label 1"/>
          <p:cNvSpPr txBox="1"/>
          <p:nvPr/>
        </p:nvSpPr>
        <p:spPr>
          <a:xfrm>
            <a:off x="3291840" y="2011680"/>
            <a:ext cx="1188720" cy="274320"/>
          </a:xfrm>
          <a:prstGeom prst="rect">
            <a:avLst/>
          </a:prstGeom>
          <a:noFill/>
        </p:spPr>
        <p:txBody>
          <a:bodyPr wrap="square" lIns="0" tIns="0" rIns="0" bIns="0" anchor="t">
            <a:spAutoFit/>
          </a:bodyPr>
          <a:lstStyle/>
          <a:p>
            <a:pPr algn="ctr"/>
            <a:r>
              <a:rPr sz="1100" b="1" i="0">
                <a:solidFill>
                  <a:srgbClr val="F6821F"/>
                </a:solidFill>
                <a:latin typeface="Arial"/>
              </a:rPr>
              <a:t>safe pixels</a:t>
            </a:r>
          </a:p>
        </p:txBody>
      </p:sp>
      <p:sp>
        <p:nvSpPr>
          <p:cNvPr id="10" name="Arrow label 2"/>
          <p:cNvSpPr txBox="1"/>
          <p:nvPr/>
        </p:nvSpPr>
        <p:spPr>
          <a:xfrm>
            <a:off x="7726679" y="2011680"/>
            <a:ext cx="1188720" cy="274320"/>
          </a:xfrm>
          <a:prstGeom prst="rect">
            <a:avLst/>
          </a:prstGeom>
          <a:noFill/>
        </p:spPr>
        <p:txBody>
          <a:bodyPr wrap="square" lIns="0" tIns="0" rIns="0" bIns="0" anchor="t">
            <a:spAutoFit/>
          </a:bodyPr>
          <a:lstStyle/>
          <a:p>
            <a:pPr algn="ctr"/>
            <a:r>
              <a:rPr sz="1100" b="1" i="0">
                <a:solidFill>
                  <a:srgbClr val="595959"/>
                </a:solidFill>
                <a:latin typeface="Arial"/>
              </a:rPr>
              <a:t>page and code</a:t>
            </a:r>
          </a:p>
        </p:txBody>
      </p:sp>
      <p:sp>
        <p:nvSpPr>
          <p:cNvPr id="11" name="Use case 1"/>
          <p:cNvSpPr/>
          <p:nvPr/>
        </p:nvSpPr>
        <p:spPr>
          <a:xfrm>
            <a:off x="411480" y="3611880"/>
            <a:ext cx="3703320" cy="242316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Icon circle"/>
          <p:cNvSpPr/>
          <p:nvPr/>
        </p:nvSpPr>
        <p:spPr>
          <a:xfrm>
            <a:off x="612648" y="379476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con FaBug"/>
          <p:cNvPicPr>
            <a:picLocks noChangeAspect="1"/>
          </p:cNvPicPr>
          <p:nvPr/>
        </p:nvPicPr>
        <p:blipFill>
          <a:blip r:embed="rId4"/>
          <a:stretch>
            <a:fillRect/>
          </a:stretch>
        </p:blipFill>
        <p:spPr>
          <a:xfrm>
            <a:off x="743407" y="3925519"/>
            <a:ext cx="332841" cy="332841"/>
          </a:xfrm>
          <a:prstGeom prst="rect">
            <a:avLst/>
          </a:prstGeom>
        </p:spPr>
      </p:pic>
      <p:sp>
        <p:nvSpPr>
          <p:cNvPr id="14" name="Use case 1 title"/>
          <p:cNvSpPr txBox="1"/>
          <p:nvPr/>
        </p:nvSpPr>
        <p:spPr>
          <a:xfrm>
            <a:off x="1371600" y="3840480"/>
            <a:ext cx="2651760" cy="548640"/>
          </a:xfrm>
          <a:prstGeom prst="rect">
            <a:avLst/>
          </a:prstGeom>
          <a:noFill/>
        </p:spPr>
        <p:txBody>
          <a:bodyPr wrap="square" lIns="0" tIns="0" rIns="0" bIns="0" anchor="ctr">
            <a:spAutoFit/>
          </a:bodyPr>
          <a:lstStyle/>
          <a:p>
            <a:pPr algn="l"/>
            <a:r>
              <a:rPr sz="1600" b="1" i="0">
                <a:solidFill>
                  <a:srgbClr val="1F1F1F"/>
                </a:solidFill>
                <a:latin typeface="Arial"/>
              </a:rPr>
              <a:t>Risky and unknown sites</a:t>
            </a:r>
          </a:p>
        </p:txBody>
      </p:sp>
      <p:sp>
        <p:nvSpPr>
          <p:cNvPr id="15" name="Use case 1 text"/>
          <p:cNvSpPr txBox="1"/>
          <p:nvPr/>
        </p:nvSpPr>
        <p:spPr>
          <a:xfrm>
            <a:off x="612648" y="4572000"/>
            <a:ext cx="3337560" cy="1371600"/>
          </a:xfrm>
          <a:prstGeom prst="rect">
            <a:avLst/>
          </a:prstGeom>
          <a:noFill/>
        </p:spPr>
        <p:txBody>
          <a:bodyPr wrap="square" lIns="0" tIns="0" rIns="0" bIns="0" anchor="t">
            <a:spAutoFit/>
          </a:bodyPr>
          <a:lstStyle/>
          <a:p>
            <a:pPr algn="l"/>
            <a:r>
              <a:rPr sz="1350" b="0" i="0">
                <a:solidFill>
                  <a:srgbClr val="595959"/>
                </a:solidFill>
                <a:latin typeface="Arial"/>
              </a:rPr>
              <a:t>Isolate action in a Gateway HTTP policy: uncategorised or newly seen sites, and links in email.</a:t>
            </a:r>
          </a:p>
        </p:txBody>
      </p:sp>
      <p:sp>
        <p:nvSpPr>
          <p:cNvPr id="16" name="Use case 2"/>
          <p:cNvSpPr/>
          <p:nvPr/>
        </p:nvSpPr>
        <p:spPr>
          <a:xfrm>
            <a:off x="4251960" y="3611880"/>
            <a:ext cx="3703320" cy="242316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Icon circle"/>
          <p:cNvSpPr/>
          <p:nvPr/>
        </p:nvSpPr>
        <p:spPr>
          <a:xfrm>
            <a:off x="4453128" y="379476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Icon FaUserFriends"/>
          <p:cNvPicPr>
            <a:picLocks noChangeAspect="1"/>
          </p:cNvPicPr>
          <p:nvPr/>
        </p:nvPicPr>
        <p:blipFill>
          <a:blip r:embed="rId5"/>
          <a:stretch>
            <a:fillRect/>
          </a:stretch>
        </p:blipFill>
        <p:spPr>
          <a:xfrm>
            <a:off x="4583887" y="3925519"/>
            <a:ext cx="332841" cy="332841"/>
          </a:xfrm>
          <a:prstGeom prst="rect">
            <a:avLst/>
          </a:prstGeom>
        </p:spPr>
      </p:pic>
      <p:sp>
        <p:nvSpPr>
          <p:cNvPr id="19" name="Use case 2 title"/>
          <p:cNvSpPr txBox="1"/>
          <p:nvPr/>
        </p:nvSpPr>
        <p:spPr>
          <a:xfrm>
            <a:off x="5212080" y="3840480"/>
            <a:ext cx="2651760" cy="548640"/>
          </a:xfrm>
          <a:prstGeom prst="rect">
            <a:avLst/>
          </a:prstGeom>
          <a:noFill/>
        </p:spPr>
        <p:txBody>
          <a:bodyPr wrap="square" lIns="0" tIns="0" rIns="0" bIns="0" anchor="ctr">
            <a:spAutoFit/>
          </a:bodyPr>
          <a:lstStyle/>
          <a:p>
            <a:pPr algn="l"/>
            <a:r>
              <a:rPr sz="1600" b="1" i="0">
                <a:solidFill>
                  <a:srgbClr val="1F1F1F"/>
                </a:solidFill>
                <a:latin typeface="Arial"/>
              </a:rPr>
              <a:t>Contractors and BYOD</a:t>
            </a:r>
          </a:p>
        </p:txBody>
      </p:sp>
      <p:sp>
        <p:nvSpPr>
          <p:cNvPr id="20" name="Use case 2 text"/>
          <p:cNvSpPr txBox="1"/>
          <p:nvPr/>
        </p:nvSpPr>
        <p:spPr>
          <a:xfrm>
            <a:off x="4453128" y="4572000"/>
            <a:ext cx="3337560" cy="1371600"/>
          </a:xfrm>
          <a:prstGeom prst="rect">
            <a:avLst/>
          </a:prstGeom>
          <a:noFill/>
        </p:spPr>
        <p:txBody>
          <a:bodyPr wrap="square" lIns="0" tIns="0" rIns="0" bIns="0" anchor="t">
            <a:spAutoFit/>
          </a:bodyPr>
          <a:lstStyle/>
          <a:p>
            <a:pPr algn="l"/>
            <a:r>
              <a:rPr sz="1350" b="0" i="0">
                <a:solidFill>
                  <a:srgbClr val="595959"/>
                </a:solidFill>
                <a:latin typeface="Arial"/>
              </a:rPr>
              <a:t>Clientless access to internal apps in a remote browser: nothing to install, no data left on the device.</a:t>
            </a:r>
          </a:p>
        </p:txBody>
      </p:sp>
      <p:sp>
        <p:nvSpPr>
          <p:cNvPr id="21" name="Use case 3"/>
          <p:cNvSpPr/>
          <p:nvPr/>
        </p:nvSpPr>
        <p:spPr>
          <a:xfrm>
            <a:off x="8092440" y="3611880"/>
            <a:ext cx="3703320" cy="242316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con circle"/>
          <p:cNvSpPr/>
          <p:nvPr/>
        </p:nvSpPr>
        <p:spPr>
          <a:xfrm>
            <a:off x="8293608" y="379476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Icon FaCogs"/>
          <p:cNvPicPr>
            <a:picLocks noChangeAspect="1"/>
          </p:cNvPicPr>
          <p:nvPr/>
        </p:nvPicPr>
        <p:blipFill>
          <a:blip r:embed="rId6"/>
          <a:stretch>
            <a:fillRect/>
          </a:stretch>
        </p:blipFill>
        <p:spPr>
          <a:xfrm>
            <a:off x="8424367" y="3925519"/>
            <a:ext cx="332841" cy="332841"/>
          </a:xfrm>
          <a:prstGeom prst="rect">
            <a:avLst/>
          </a:prstGeom>
        </p:spPr>
      </p:pic>
      <p:sp>
        <p:nvSpPr>
          <p:cNvPr id="24" name="Use case 3 title"/>
          <p:cNvSpPr txBox="1"/>
          <p:nvPr/>
        </p:nvSpPr>
        <p:spPr>
          <a:xfrm>
            <a:off x="9052560" y="3840480"/>
            <a:ext cx="2651760" cy="548640"/>
          </a:xfrm>
          <a:prstGeom prst="rect">
            <a:avLst/>
          </a:prstGeom>
          <a:noFill/>
        </p:spPr>
        <p:txBody>
          <a:bodyPr wrap="square" lIns="0" tIns="0" rIns="0" bIns="0" anchor="ctr">
            <a:spAutoFit/>
          </a:bodyPr>
          <a:lstStyle/>
          <a:p>
            <a:pPr algn="l"/>
            <a:r>
              <a:rPr sz="1600" b="1" i="0">
                <a:solidFill>
                  <a:srgbClr val="1F1F1F"/>
                </a:solidFill>
                <a:latin typeface="Arial"/>
              </a:rPr>
              <a:t>Controls inside the session</a:t>
            </a:r>
          </a:p>
        </p:txBody>
      </p:sp>
      <p:sp>
        <p:nvSpPr>
          <p:cNvPr id="25" name="Use case 3 text"/>
          <p:cNvSpPr txBox="1"/>
          <p:nvPr/>
        </p:nvSpPr>
        <p:spPr>
          <a:xfrm>
            <a:off x="8293608" y="4572000"/>
            <a:ext cx="3337560" cy="1371600"/>
          </a:xfrm>
          <a:prstGeom prst="rect">
            <a:avLst/>
          </a:prstGeom>
          <a:noFill/>
        </p:spPr>
        <p:txBody>
          <a:bodyPr wrap="square" lIns="0" tIns="0" rIns="0" bIns="0" anchor="t">
            <a:spAutoFit/>
          </a:bodyPr>
          <a:lstStyle/>
          <a:p>
            <a:pPr algn="l"/>
            <a:r>
              <a:rPr sz="1350" b="0" i="0">
                <a:solidFill>
                  <a:srgbClr val="595959"/>
                </a:solidFill>
                <a:latin typeface="Arial"/>
              </a:rPr>
              <a:t>Restrict copy and paste, uploads, downloads and printing per policy.</a:t>
            </a:r>
          </a:p>
        </p:txBody>
      </p:sp>
      <p:sp>
        <p:nvSpPr>
          <p:cNvPr id="26"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Scenario: a phishing attempt, stopped in layers</a:t>
            </a:r>
          </a:p>
        </p:txBody>
      </p:sp>
      <p:sp>
        <p:nvSpPr>
          <p:cNvPr id="4" name="Layer card 1"/>
          <p:cNvSpPr/>
          <p:nvPr/>
        </p:nvSpPr>
        <p:spPr>
          <a:xfrm>
            <a:off x="411480" y="1737360"/>
            <a:ext cx="2103120" cy="288036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ep 1"/>
          <p:cNvSpPr/>
          <p:nvPr/>
        </p:nvSpPr>
        <p:spPr>
          <a:xfrm>
            <a:off x="576072"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1</a:t>
            </a:r>
          </a:p>
        </p:txBody>
      </p:sp>
      <p:sp>
        <p:nvSpPr>
          <p:cNvPr id="6" name="Icon circle"/>
          <p:cNvSpPr/>
          <p:nvPr/>
        </p:nvSpPr>
        <p:spPr>
          <a:xfrm>
            <a:off x="1737360"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FaEnvelope"/>
          <p:cNvPicPr>
            <a:picLocks noChangeAspect="1"/>
          </p:cNvPicPr>
          <p:nvPr/>
        </p:nvPicPr>
        <p:blipFill>
          <a:blip r:embed="rId4"/>
          <a:stretch>
            <a:fillRect/>
          </a:stretch>
        </p:blipFill>
        <p:spPr>
          <a:xfrm>
            <a:off x="1868119" y="1959559"/>
            <a:ext cx="332841" cy="332841"/>
          </a:xfrm>
          <a:prstGeom prst="rect">
            <a:avLst/>
          </a:prstGeom>
        </p:spPr>
      </p:pic>
      <p:sp>
        <p:nvSpPr>
          <p:cNvPr id="8" name="Layer 1 title"/>
          <p:cNvSpPr txBox="1"/>
          <p:nvPr/>
        </p:nvSpPr>
        <p:spPr>
          <a:xfrm>
            <a:off x="576072" y="2606040"/>
            <a:ext cx="1783080" cy="548640"/>
          </a:xfrm>
          <a:prstGeom prst="rect">
            <a:avLst/>
          </a:prstGeom>
          <a:noFill/>
        </p:spPr>
        <p:txBody>
          <a:bodyPr wrap="square" lIns="0" tIns="0" rIns="0" bIns="0" anchor="t">
            <a:spAutoFit/>
          </a:bodyPr>
          <a:lstStyle/>
          <a:p>
            <a:pPr algn="l"/>
            <a:r>
              <a:rPr sz="1550" b="1" i="0">
                <a:solidFill>
                  <a:srgbClr val="1F1F1F"/>
                </a:solidFill>
                <a:latin typeface="Arial"/>
              </a:rPr>
              <a:t>Email screened</a:t>
            </a:r>
          </a:p>
        </p:txBody>
      </p:sp>
      <p:sp>
        <p:nvSpPr>
          <p:cNvPr id="9" name="Layer 1 text"/>
          <p:cNvSpPr txBox="1"/>
          <p:nvPr/>
        </p:nvSpPr>
        <p:spPr>
          <a:xfrm>
            <a:off x="576072" y="3200400"/>
            <a:ext cx="1783080" cy="1371600"/>
          </a:xfrm>
          <a:prstGeom prst="rect">
            <a:avLst/>
          </a:prstGeom>
          <a:noFill/>
        </p:spPr>
        <p:txBody>
          <a:bodyPr wrap="square" lIns="0" tIns="0" rIns="0" bIns="0" anchor="t">
            <a:spAutoFit/>
          </a:bodyPr>
          <a:lstStyle/>
          <a:p>
            <a:pPr algn="l"/>
            <a:r>
              <a:rPr sz="1300" b="0" i="0">
                <a:solidFill>
                  <a:srgbClr val="595959"/>
                </a:solidFill>
                <a:latin typeface="Arial"/>
              </a:rPr>
              <a:t>Email security screens the message and can isolate the link</a:t>
            </a:r>
          </a:p>
        </p:txBody>
      </p:sp>
      <p:cxnSp>
        <p:nvCxnSpPr>
          <p:cNvPr id="10" name="Layer arrow"/>
          <p:cNvCxnSpPr/>
          <p:nvPr/>
        </p:nvCxnSpPr>
        <p:spPr>
          <a:xfrm>
            <a:off x="2532888" y="310896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Layer card 2"/>
          <p:cNvSpPr/>
          <p:nvPr/>
        </p:nvSpPr>
        <p:spPr>
          <a:xfrm>
            <a:off x="2715768" y="1737360"/>
            <a:ext cx="2103120" cy="288036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ep 2"/>
          <p:cNvSpPr/>
          <p:nvPr/>
        </p:nvSpPr>
        <p:spPr>
          <a:xfrm>
            <a:off x="2880360"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2</a:t>
            </a:r>
          </a:p>
        </p:txBody>
      </p:sp>
      <p:sp>
        <p:nvSpPr>
          <p:cNvPr id="13" name="Icon circle"/>
          <p:cNvSpPr/>
          <p:nvPr/>
        </p:nvSpPr>
        <p:spPr>
          <a:xfrm>
            <a:off x="4041648"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Icon FaSearch"/>
          <p:cNvPicPr>
            <a:picLocks noChangeAspect="1"/>
          </p:cNvPicPr>
          <p:nvPr/>
        </p:nvPicPr>
        <p:blipFill>
          <a:blip r:embed="rId5"/>
          <a:stretch>
            <a:fillRect/>
          </a:stretch>
        </p:blipFill>
        <p:spPr>
          <a:xfrm>
            <a:off x="4172407" y="1959559"/>
            <a:ext cx="332841" cy="332841"/>
          </a:xfrm>
          <a:prstGeom prst="rect">
            <a:avLst/>
          </a:prstGeom>
        </p:spPr>
      </p:pic>
      <p:sp>
        <p:nvSpPr>
          <p:cNvPr id="15" name="Layer 2 title"/>
          <p:cNvSpPr txBox="1"/>
          <p:nvPr/>
        </p:nvSpPr>
        <p:spPr>
          <a:xfrm>
            <a:off x="2880360" y="2606040"/>
            <a:ext cx="1783080" cy="548640"/>
          </a:xfrm>
          <a:prstGeom prst="rect">
            <a:avLst/>
          </a:prstGeom>
          <a:noFill/>
        </p:spPr>
        <p:txBody>
          <a:bodyPr wrap="square" lIns="0" tIns="0" rIns="0" bIns="0" anchor="t">
            <a:spAutoFit/>
          </a:bodyPr>
          <a:lstStyle/>
          <a:p>
            <a:pPr algn="l"/>
            <a:r>
              <a:rPr sz="1550" b="1" i="0">
                <a:solidFill>
                  <a:srgbClr val="1F1F1F"/>
                </a:solidFill>
                <a:latin typeface="Arial"/>
              </a:rPr>
              <a:t>Click contained</a:t>
            </a:r>
          </a:p>
        </p:txBody>
      </p:sp>
      <p:sp>
        <p:nvSpPr>
          <p:cNvPr id="16" name="Layer 2 text"/>
          <p:cNvSpPr txBox="1"/>
          <p:nvPr/>
        </p:nvSpPr>
        <p:spPr>
          <a:xfrm>
            <a:off x="2880360" y="3200400"/>
            <a:ext cx="1783080" cy="1371600"/>
          </a:xfrm>
          <a:prstGeom prst="rect">
            <a:avLst/>
          </a:prstGeom>
          <a:noFill/>
        </p:spPr>
        <p:txBody>
          <a:bodyPr wrap="square" lIns="0" tIns="0" rIns="0" bIns="0" anchor="t">
            <a:spAutoFit/>
          </a:bodyPr>
          <a:lstStyle/>
          <a:p>
            <a:pPr algn="l"/>
            <a:r>
              <a:rPr sz="1300" b="0" i="0">
                <a:solidFill>
                  <a:srgbClr val="595959"/>
                </a:solidFill>
                <a:latin typeface="Arial"/>
              </a:rPr>
              <a:t>DNS blocks known-bad domains; unknown ones open in isolation</a:t>
            </a:r>
          </a:p>
        </p:txBody>
      </p:sp>
      <p:cxnSp>
        <p:nvCxnSpPr>
          <p:cNvPr id="17" name="Layer arrow"/>
          <p:cNvCxnSpPr/>
          <p:nvPr/>
        </p:nvCxnSpPr>
        <p:spPr>
          <a:xfrm>
            <a:off x="4837176" y="310896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Layer card 3"/>
          <p:cNvSpPr/>
          <p:nvPr/>
        </p:nvSpPr>
        <p:spPr>
          <a:xfrm>
            <a:off x="5020056" y="1737360"/>
            <a:ext cx="2103120" cy="288036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ep 3"/>
          <p:cNvSpPr/>
          <p:nvPr/>
        </p:nvSpPr>
        <p:spPr>
          <a:xfrm>
            <a:off x="5184648"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3</a:t>
            </a:r>
          </a:p>
        </p:txBody>
      </p:sp>
      <p:sp>
        <p:nvSpPr>
          <p:cNvPr id="20" name="Icon circle"/>
          <p:cNvSpPr/>
          <p:nvPr/>
        </p:nvSpPr>
        <p:spPr>
          <a:xfrm>
            <a:off x="6345936"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Key"/>
          <p:cNvPicPr>
            <a:picLocks noChangeAspect="1"/>
          </p:cNvPicPr>
          <p:nvPr/>
        </p:nvPicPr>
        <p:blipFill>
          <a:blip r:embed="rId6"/>
          <a:stretch>
            <a:fillRect/>
          </a:stretch>
        </p:blipFill>
        <p:spPr>
          <a:xfrm>
            <a:off x="6476695" y="1959559"/>
            <a:ext cx="332841" cy="332841"/>
          </a:xfrm>
          <a:prstGeom prst="rect">
            <a:avLst/>
          </a:prstGeom>
        </p:spPr>
      </p:pic>
      <p:sp>
        <p:nvSpPr>
          <p:cNvPr id="22" name="Layer 3 title"/>
          <p:cNvSpPr txBox="1"/>
          <p:nvPr/>
        </p:nvSpPr>
        <p:spPr>
          <a:xfrm>
            <a:off x="5184648" y="2606040"/>
            <a:ext cx="1783080" cy="548640"/>
          </a:xfrm>
          <a:prstGeom prst="rect">
            <a:avLst/>
          </a:prstGeom>
          <a:noFill/>
        </p:spPr>
        <p:txBody>
          <a:bodyPr wrap="square" lIns="0" tIns="0" rIns="0" bIns="0" anchor="t">
            <a:spAutoFit/>
          </a:bodyPr>
          <a:lstStyle/>
          <a:p>
            <a:pPr algn="l"/>
            <a:r>
              <a:rPr sz="1550" b="1" i="0">
                <a:solidFill>
                  <a:srgbClr val="1F1F1F"/>
                </a:solidFill>
                <a:latin typeface="Arial"/>
              </a:rPr>
              <a:t>Password not enough</a:t>
            </a:r>
          </a:p>
        </p:txBody>
      </p:sp>
      <p:sp>
        <p:nvSpPr>
          <p:cNvPr id="23" name="Layer 3 text"/>
          <p:cNvSpPr txBox="1"/>
          <p:nvPr/>
        </p:nvSpPr>
        <p:spPr>
          <a:xfrm>
            <a:off x="5184648" y="3200400"/>
            <a:ext cx="1783080" cy="1371600"/>
          </a:xfrm>
          <a:prstGeom prst="rect">
            <a:avLst/>
          </a:prstGeom>
          <a:noFill/>
        </p:spPr>
        <p:txBody>
          <a:bodyPr wrap="square" lIns="0" tIns="0" rIns="0" bIns="0" anchor="t">
            <a:spAutoFit/>
          </a:bodyPr>
          <a:lstStyle/>
          <a:p>
            <a:pPr algn="l"/>
            <a:r>
              <a:rPr sz="1300" b="0" i="0">
                <a:solidFill>
                  <a:srgbClr val="595959"/>
                </a:solidFill>
                <a:latin typeface="Arial"/>
              </a:rPr>
              <a:t>Access needs multi-factor and a compliant device</a:t>
            </a:r>
          </a:p>
        </p:txBody>
      </p:sp>
      <p:cxnSp>
        <p:nvCxnSpPr>
          <p:cNvPr id="24" name="Layer arrow"/>
          <p:cNvCxnSpPr/>
          <p:nvPr/>
        </p:nvCxnSpPr>
        <p:spPr>
          <a:xfrm>
            <a:off x="7141464" y="310896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Layer card 4"/>
          <p:cNvSpPr/>
          <p:nvPr/>
        </p:nvSpPr>
        <p:spPr>
          <a:xfrm>
            <a:off x="7324344" y="1737360"/>
            <a:ext cx="2103120" cy="288036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tep 4"/>
          <p:cNvSpPr/>
          <p:nvPr/>
        </p:nvSpPr>
        <p:spPr>
          <a:xfrm>
            <a:off x="7488936"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4</a:t>
            </a:r>
          </a:p>
        </p:txBody>
      </p:sp>
      <p:sp>
        <p:nvSpPr>
          <p:cNvPr id="27" name="Icon circle"/>
          <p:cNvSpPr/>
          <p:nvPr/>
        </p:nvSpPr>
        <p:spPr>
          <a:xfrm>
            <a:off x="8650224"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FaFileAlt"/>
          <p:cNvPicPr>
            <a:picLocks noChangeAspect="1"/>
          </p:cNvPicPr>
          <p:nvPr/>
        </p:nvPicPr>
        <p:blipFill>
          <a:blip r:embed="rId7"/>
          <a:stretch>
            <a:fillRect/>
          </a:stretch>
        </p:blipFill>
        <p:spPr>
          <a:xfrm>
            <a:off x="8780983" y="1959559"/>
            <a:ext cx="332841" cy="332841"/>
          </a:xfrm>
          <a:prstGeom prst="rect">
            <a:avLst/>
          </a:prstGeom>
        </p:spPr>
      </p:pic>
      <p:sp>
        <p:nvSpPr>
          <p:cNvPr id="29" name="Layer 4 title"/>
          <p:cNvSpPr txBox="1"/>
          <p:nvPr/>
        </p:nvSpPr>
        <p:spPr>
          <a:xfrm>
            <a:off x="7488936" y="2606040"/>
            <a:ext cx="1783080" cy="548640"/>
          </a:xfrm>
          <a:prstGeom prst="rect">
            <a:avLst/>
          </a:prstGeom>
          <a:noFill/>
        </p:spPr>
        <p:txBody>
          <a:bodyPr wrap="square" lIns="0" tIns="0" rIns="0" bIns="0" anchor="t">
            <a:spAutoFit/>
          </a:bodyPr>
          <a:lstStyle/>
          <a:p>
            <a:pPr algn="l"/>
            <a:r>
              <a:rPr sz="1550" b="1" i="0">
                <a:solidFill>
                  <a:srgbClr val="1F1F1F"/>
                </a:solidFill>
                <a:latin typeface="Arial"/>
              </a:rPr>
              <a:t>Data stays in</a:t>
            </a:r>
          </a:p>
        </p:txBody>
      </p:sp>
      <p:sp>
        <p:nvSpPr>
          <p:cNvPr id="30" name="Layer 4 text"/>
          <p:cNvSpPr txBox="1"/>
          <p:nvPr/>
        </p:nvSpPr>
        <p:spPr>
          <a:xfrm>
            <a:off x="7488936" y="3200400"/>
            <a:ext cx="1783080" cy="1371600"/>
          </a:xfrm>
          <a:prstGeom prst="rect">
            <a:avLst/>
          </a:prstGeom>
          <a:noFill/>
        </p:spPr>
        <p:txBody>
          <a:bodyPr wrap="square" lIns="0" tIns="0" rIns="0" bIns="0" anchor="t">
            <a:spAutoFit/>
          </a:bodyPr>
          <a:lstStyle/>
          <a:p>
            <a:pPr algn="l"/>
            <a:r>
              <a:rPr sz="1300" b="0" i="0">
                <a:solidFill>
                  <a:srgbClr val="595959"/>
                </a:solidFill>
                <a:latin typeface="Arial"/>
              </a:rPr>
              <a:t>DLP blocks sensitive uploads to personal storage</a:t>
            </a:r>
          </a:p>
        </p:txBody>
      </p:sp>
      <p:cxnSp>
        <p:nvCxnSpPr>
          <p:cNvPr id="31" name="Layer arrow"/>
          <p:cNvCxnSpPr/>
          <p:nvPr/>
        </p:nvCxnSpPr>
        <p:spPr>
          <a:xfrm>
            <a:off x="9445752" y="3108960"/>
            <a:ext cx="182880" cy="0"/>
          </a:xfrm>
          <a:prstGeom prst="line">
            <a:avLst/>
          </a:prstGeom>
          <a:ln w="25400">
            <a:solidFill>
              <a:srgbClr val="F682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Layer card 5"/>
          <p:cNvSpPr/>
          <p:nvPr/>
        </p:nvSpPr>
        <p:spPr>
          <a:xfrm>
            <a:off x="9628632" y="1737360"/>
            <a:ext cx="2103120" cy="288036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tep 5"/>
          <p:cNvSpPr/>
          <p:nvPr/>
        </p:nvSpPr>
        <p:spPr>
          <a:xfrm>
            <a:off x="9793224" y="1874519"/>
            <a:ext cx="365760" cy="3657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Arial"/>
              </a:rPr>
              <a:t>5</a:t>
            </a:r>
          </a:p>
        </p:txBody>
      </p:sp>
      <p:sp>
        <p:nvSpPr>
          <p:cNvPr id="34" name="Icon circle"/>
          <p:cNvSpPr/>
          <p:nvPr/>
        </p:nvSpPr>
        <p:spPr>
          <a:xfrm>
            <a:off x="10954511" y="1828800"/>
            <a:ext cx="594360" cy="59436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Icon FaChartLine"/>
          <p:cNvPicPr>
            <a:picLocks noChangeAspect="1"/>
          </p:cNvPicPr>
          <p:nvPr/>
        </p:nvPicPr>
        <p:blipFill>
          <a:blip r:embed="rId8"/>
          <a:stretch>
            <a:fillRect/>
          </a:stretch>
        </p:blipFill>
        <p:spPr>
          <a:xfrm>
            <a:off x="11085271" y="1959559"/>
            <a:ext cx="332841" cy="332841"/>
          </a:xfrm>
          <a:prstGeom prst="rect">
            <a:avLst/>
          </a:prstGeom>
        </p:spPr>
      </p:pic>
      <p:sp>
        <p:nvSpPr>
          <p:cNvPr id="36" name="Layer 5 title"/>
          <p:cNvSpPr txBox="1"/>
          <p:nvPr/>
        </p:nvSpPr>
        <p:spPr>
          <a:xfrm>
            <a:off x="9793224" y="2606040"/>
            <a:ext cx="1783080" cy="548640"/>
          </a:xfrm>
          <a:prstGeom prst="rect">
            <a:avLst/>
          </a:prstGeom>
          <a:noFill/>
        </p:spPr>
        <p:txBody>
          <a:bodyPr wrap="square" lIns="0" tIns="0" rIns="0" bIns="0" anchor="t">
            <a:spAutoFit/>
          </a:bodyPr>
          <a:lstStyle/>
          <a:p>
            <a:pPr algn="l"/>
            <a:r>
              <a:rPr sz="1550" b="1" i="0">
                <a:solidFill>
                  <a:srgbClr val="1F1F1F"/>
                </a:solidFill>
                <a:latin typeface="Arial"/>
              </a:rPr>
              <a:t>Fast response</a:t>
            </a:r>
          </a:p>
        </p:txBody>
      </p:sp>
      <p:sp>
        <p:nvSpPr>
          <p:cNvPr id="37" name="Layer 5 text"/>
          <p:cNvSpPr txBox="1"/>
          <p:nvPr/>
        </p:nvSpPr>
        <p:spPr>
          <a:xfrm>
            <a:off x="9793224" y="3200400"/>
            <a:ext cx="1783080" cy="1371600"/>
          </a:xfrm>
          <a:prstGeom prst="rect">
            <a:avLst/>
          </a:prstGeom>
          <a:noFill/>
        </p:spPr>
        <p:txBody>
          <a:bodyPr wrap="square" lIns="0" tIns="0" rIns="0" bIns="0" anchor="t">
            <a:spAutoFit/>
          </a:bodyPr>
          <a:lstStyle/>
          <a:p>
            <a:pPr algn="l"/>
            <a:r>
              <a:rPr sz="1300" b="0" i="0">
                <a:solidFill>
                  <a:srgbClr val="595959"/>
                </a:solidFill>
                <a:latin typeface="Arial"/>
              </a:rPr>
              <a:t>Logs reach the SIEM; EDR can trigger session revocation</a:t>
            </a:r>
          </a:p>
        </p:txBody>
      </p:sp>
      <p:sp>
        <p:nvSpPr>
          <p:cNvPr id="38" name="Scenario banner"/>
          <p:cNvSpPr/>
          <p:nvPr/>
        </p:nvSpPr>
        <p:spPr>
          <a:xfrm>
            <a:off x="411480" y="4892040"/>
            <a:ext cx="11384280" cy="114300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cenario text"/>
          <p:cNvSpPr txBox="1"/>
          <p:nvPr/>
        </p:nvSpPr>
        <p:spPr>
          <a:xfrm>
            <a:off x="731520" y="4937760"/>
            <a:ext cx="10789920" cy="1051560"/>
          </a:xfrm>
          <a:prstGeom prst="rect">
            <a:avLst/>
          </a:prstGeom>
          <a:noFill/>
        </p:spPr>
        <p:txBody>
          <a:bodyPr wrap="square" lIns="0" tIns="0" rIns="0" bIns="0" anchor="ctr">
            <a:spAutoFit/>
          </a:bodyPr>
          <a:lstStyle/>
          <a:p>
            <a:pPr algn="l"/>
            <a:r>
              <a:rPr sz="1700" b="1" i="0">
                <a:solidFill>
                  <a:srgbClr val="FFFFFF"/>
                </a:solidFill>
                <a:latin typeface="Arial"/>
              </a:rPr>
              <a:t>Maria, a finance analyst working from a coffee shop. </a:t>
            </a:r>
            <a:r>
              <a:rPr sz="1700" b="0" i="0">
                <a:solidFill>
                  <a:srgbClr val="FFFFFF"/>
                </a:solidFill>
                <a:latin typeface="Arial"/>
              </a:rPr>
              <a:t>No single control is perfect; each layer covers the others, all from one platform and one policy engine.</a:t>
            </a:r>
          </a:p>
        </p:txBody>
      </p:sp>
      <p:sp>
        <p:nvSpPr>
          <p:cNvPr id="40"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Fits the stack you already own</a:t>
            </a:r>
          </a:p>
        </p:txBody>
      </p:sp>
      <p:sp>
        <p:nvSpPr>
          <p:cNvPr id="4" name="Integration card 1"/>
          <p:cNvSpPr/>
          <p:nvPr/>
        </p:nvSpPr>
        <p:spPr>
          <a:xfrm>
            <a:off x="411480" y="1737360"/>
            <a:ext cx="56235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con circle"/>
          <p:cNvSpPr/>
          <p:nvPr/>
        </p:nvSpPr>
        <p:spPr>
          <a:xfrm>
            <a:off x="685800" y="2057400"/>
            <a:ext cx="731520" cy="73152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con FaUserShield"/>
          <p:cNvPicPr>
            <a:picLocks noChangeAspect="1"/>
          </p:cNvPicPr>
          <p:nvPr/>
        </p:nvPicPr>
        <p:blipFill>
          <a:blip r:embed="rId4"/>
          <a:stretch>
            <a:fillRect/>
          </a:stretch>
        </p:blipFill>
        <p:spPr>
          <a:xfrm>
            <a:off x="846734" y="2218334"/>
            <a:ext cx="409651" cy="409651"/>
          </a:xfrm>
          <a:prstGeom prst="rect">
            <a:avLst/>
          </a:prstGeom>
        </p:spPr>
      </p:pic>
      <p:sp>
        <p:nvSpPr>
          <p:cNvPr id="7" name="Integration 1 title"/>
          <p:cNvSpPr txBox="1"/>
          <p:nvPr/>
        </p:nvSpPr>
        <p:spPr>
          <a:xfrm>
            <a:off x="1645920" y="2011679"/>
            <a:ext cx="4206240" cy="365760"/>
          </a:xfrm>
          <a:prstGeom prst="rect">
            <a:avLst/>
          </a:prstGeom>
          <a:noFill/>
        </p:spPr>
        <p:txBody>
          <a:bodyPr wrap="square" lIns="0" tIns="0" rIns="0" bIns="0" anchor="t">
            <a:spAutoFit/>
          </a:bodyPr>
          <a:lstStyle/>
          <a:p>
            <a:pPr algn="l"/>
            <a:r>
              <a:rPr sz="1900" b="1" i="0">
                <a:solidFill>
                  <a:srgbClr val="1F1F1F"/>
                </a:solidFill>
                <a:latin typeface="Arial"/>
              </a:rPr>
              <a:t>Identity</a:t>
            </a:r>
          </a:p>
        </p:txBody>
      </p:sp>
      <p:sp>
        <p:nvSpPr>
          <p:cNvPr id="8" name="Integration 1 text"/>
          <p:cNvSpPr txBox="1"/>
          <p:nvPr/>
        </p:nvSpPr>
        <p:spPr>
          <a:xfrm>
            <a:off x="1645920" y="2487168"/>
            <a:ext cx="4206240" cy="1097280"/>
          </a:xfrm>
          <a:prstGeom prst="rect">
            <a:avLst/>
          </a:prstGeom>
          <a:noFill/>
        </p:spPr>
        <p:txBody>
          <a:bodyPr wrap="square" lIns="0" tIns="0" rIns="0" bIns="0" anchor="t">
            <a:spAutoFit/>
          </a:bodyPr>
          <a:lstStyle/>
          <a:p>
            <a:pPr algn="l"/>
            <a:r>
              <a:rPr sz="1450" b="0" i="0">
                <a:solidFill>
                  <a:srgbClr val="595959"/>
                </a:solidFill>
                <a:latin typeface="Arial"/>
              </a:rPr>
              <a:t>Microsoft Entra ID, Okta, Google, GitHub, any SAML or OIDC provider</a:t>
            </a:r>
          </a:p>
        </p:txBody>
      </p:sp>
      <p:sp>
        <p:nvSpPr>
          <p:cNvPr id="9" name="Integration card 2"/>
          <p:cNvSpPr/>
          <p:nvPr/>
        </p:nvSpPr>
        <p:spPr>
          <a:xfrm>
            <a:off x="6172200" y="1737360"/>
            <a:ext cx="56235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Icon circle"/>
          <p:cNvSpPr/>
          <p:nvPr/>
        </p:nvSpPr>
        <p:spPr>
          <a:xfrm>
            <a:off x="6446520" y="2057400"/>
            <a:ext cx="731520" cy="73152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FaLaptop"/>
          <p:cNvPicPr>
            <a:picLocks noChangeAspect="1"/>
          </p:cNvPicPr>
          <p:nvPr/>
        </p:nvPicPr>
        <p:blipFill>
          <a:blip r:embed="rId5"/>
          <a:stretch>
            <a:fillRect/>
          </a:stretch>
        </p:blipFill>
        <p:spPr>
          <a:xfrm>
            <a:off x="6607454" y="2218334"/>
            <a:ext cx="409651" cy="409651"/>
          </a:xfrm>
          <a:prstGeom prst="rect">
            <a:avLst/>
          </a:prstGeom>
        </p:spPr>
      </p:pic>
      <p:sp>
        <p:nvSpPr>
          <p:cNvPr id="12" name="Integration 2 title"/>
          <p:cNvSpPr txBox="1"/>
          <p:nvPr/>
        </p:nvSpPr>
        <p:spPr>
          <a:xfrm>
            <a:off x="7406640" y="2011679"/>
            <a:ext cx="4206240" cy="365760"/>
          </a:xfrm>
          <a:prstGeom prst="rect">
            <a:avLst/>
          </a:prstGeom>
          <a:noFill/>
        </p:spPr>
        <p:txBody>
          <a:bodyPr wrap="square" lIns="0" tIns="0" rIns="0" bIns="0" anchor="t">
            <a:spAutoFit/>
          </a:bodyPr>
          <a:lstStyle/>
          <a:p>
            <a:pPr algn="l"/>
            <a:r>
              <a:rPr sz="1900" b="1" i="0">
                <a:solidFill>
                  <a:srgbClr val="1F1F1F"/>
                </a:solidFill>
                <a:latin typeface="Arial"/>
              </a:rPr>
              <a:t>Endpoint</a:t>
            </a:r>
          </a:p>
        </p:txBody>
      </p:sp>
      <p:sp>
        <p:nvSpPr>
          <p:cNvPr id="13" name="Integration 2 text"/>
          <p:cNvSpPr txBox="1"/>
          <p:nvPr/>
        </p:nvSpPr>
        <p:spPr>
          <a:xfrm>
            <a:off x="7406640" y="2487168"/>
            <a:ext cx="4206240" cy="1097280"/>
          </a:xfrm>
          <a:prstGeom prst="rect">
            <a:avLst/>
          </a:prstGeom>
          <a:noFill/>
        </p:spPr>
        <p:txBody>
          <a:bodyPr wrap="square" lIns="0" tIns="0" rIns="0" bIns="0" anchor="t">
            <a:spAutoFit/>
          </a:bodyPr>
          <a:lstStyle/>
          <a:p>
            <a:pPr algn="l"/>
            <a:r>
              <a:rPr sz="1450" b="0" i="0">
                <a:solidFill>
                  <a:srgbClr val="595959"/>
                </a:solidFill>
                <a:latin typeface="Arial"/>
              </a:rPr>
              <a:t>Posture signals from CrowdStrike; deployment through Intune, Jamf or JumpCloud</a:t>
            </a:r>
          </a:p>
        </p:txBody>
      </p:sp>
      <p:sp>
        <p:nvSpPr>
          <p:cNvPr id="14" name="Integration card 3"/>
          <p:cNvSpPr/>
          <p:nvPr/>
        </p:nvSpPr>
        <p:spPr>
          <a:xfrm>
            <a:off x="411480" y="3931920"/>
            <a:ext cx="56235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con circle"/>
          <p:cNvSpPr/>
          <p:nvPr/>
        </p:nvSpPr>
        <p:spPr>
          <a:xfrm>
            <a:off x="685800" y="4251959"/>
            <a:ext cx="731520" cy="73152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con FaDatabase"/>
          <p:cNvPicPr>
            <a:picLocks noChangeAspect="1"/>
          </p:cNvPicPr>
          <p:nvPr/>
        </p:nvPicPr>
        <p:blipFill>
          <a:blip r:embed="rId6"/>
          <a:stretch>
            <a:fillRect/>
          </a:stretch>
        </p:blipFill>
        <p:spPr>
          <a:xfrm>
            <a:off x="846734" y="4412894"/>
            <a:ext cx="409651" cy="409651"/>
          </a:xfrm>
          <a:prstGeom prst="rect">
            <a:avLst/>
          </a:prstGeom>
        </p:spPr>
      </p:pic>
      <p:sp>
        <p:nvSpPr>
          <p:cNvPr id="17" name="Integration 3 title"/>
          <p:cNvSpPr txBox="1"/>
          <p:nvPr/>
        </p:nvSpPr>
        <p:spPr>
          <a:xfrm>
            <a:off x="1645920" y="4206240"/>
            <a:ext cx="4206240" cy="365760"/>
          </a:xfrm>
          <a:prstGeom prst="rect">
            <a:avLst/>
          </a:prstGeom>
          <a:noFill/>
        </p:spPr>
        <p:txBody>
          <a:bodyPr wrap="square" lIns="0" tIns="0" rIns="0" bIns="0" anchor="t">
            <a:spAutoFit/>
          </a:bodyPr>
          <a:lstStyle/>
          <a:p>
            <a:pPr algn="l"/>
            <a:r>
              <a:rPr sz="1900" b="1" i="0">
                <a:solidFill>
                  <a:srgbClr val="1F1F1F"/>
                </a:solidFill>
                <a:latin typeface="Arial"/>
              </a:rPr>
              <a:t>SOC and SIEM</a:t>
            </a:r>
          </a:p>
        </p:txBody>
      </p:sp>
      <p:sp>
        <p:nvSpPr>
          <p:cNvPr id="18" name="Integration 3 text"/>
          <p:cNvSpPr txBox="1"/>
          <p:nvPr/>
        </p:nvSpPr>
        <p:spPr>
          <a:xfrm>
            <a:off x="1645920" y="4681728"/>
            <a:ext cx="4206240" cy="1097280"/>
          </a:xfrm>
          <a:prstGeom prst="rect">
            <a:avLst/>
          </a:prstGeom>
          <a:noFill/>
        </p:spPr>
        <p:txBody>
          <a:bodyPr wrap="square" lIns="0" tIns="0" rIns="0" bIns="0" anchor="t">
            <a:spAutoFit/>
          </a:bodyPr>
          <a:lstStyle/>
          <a:p>
            <a:pPr algn="l"/>
            <a:r>
              <a:rPr sz="1450" b="0" i="0">
                <a:solidFill>
                  <a:srgbClr val="595959"/>
                </a:solidFill>
                <a:latin typeface="Arial"/>
              </a:rPr>
              <a:t>Logpush streams logs to your SIEM; documented CrowdStrike reference architecture</a:t>
            </a:r>
          </a:p>
        </p:txBody>
      </p:sp>
      <p:sp>
        <p:nvSpPr>
          <p:cNvPr id="19" name="Integration card 4"/>
          <p:cNvSpPr/>
          <p:nvPr/>
        </p:nvSpPr>
        <p:spPr>
          <a:xfrm>
            <a:off x="6172200" y="3931920"/>
            <a:ext cx="56235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con circle"/>
          <p:cNvSpPr/>
          <p:nvPr/>
        </p:nvSpPr>
        <p:spPr>
          <a:xfrm>
            <a:off x="6446520" y="4251959"/>
            <a:ext cx="731520" cy="731520"/>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CodeBranch"/>
          <p:cNvPicPr>
            <a:picLocks noChangeAspect="1"/>
          </p:cNvPicPr>
          <p:nvPr/>
        </p:nvPicPr>
        <p:blipFill>
          <a:blip r:embed="rId7"/>
          <a:stretch>
            <a:fillRect/>
          </a:stretch>
        </p:blipFill>
        <p:spPr>
          <a:xfrm>
            <a:off x="6607454" y="4412894"/>
            <a:ext cx="409651" cy="409651"/>
          </a:xfrm>
          <a:prstGeom prst="rect">
            <a:avLst/>
          </a:prstGeom>
        </p:spPr>
      </p:pic>
      <p:sp>
        <p:nvSpPr>
          <p:cNvPr id="22" name="Integration 4 title"/>
          <p:cNvSpPr txBox="1"/>
          <p:nvPr/>
        </p:nvSpPr>
        <p:spPr>
          <a:xfrm>
            <a:off x="7406640" y="4206240"/>
            <a:ext cx="4206240" cy="365760"/>
          </a:xfrm>
          <a:prstGeom prst="rect">
            <a:avLst/>
          </a:prstGeom>
          <a:noFill/>
        </p:spPr>
        <p:txBody>
          <a:bodyPr wrap="square" lIns="0" tIns="0" rIns="0" bIns="0" anchor="t">
            <a:spAutoFit/>
          </a:bodyPr>
          <a:lstStyle/>
          <a:p>
            <a:pPr algn="l"/>
            <a:r>
              <a:rPr sz="1900" b="1" i="0">
                <a:solidFill>
                  <a:srgbClr val="1F1F1F"/>
                </a:solidFill>
                <a:latin typeface="Arial"/>
              </a:rPr>
              <a:t>Automation</a:t>
            </a:r>
          </a:p>
        </p:txBody>
      </p:sp>
      <p:sp>
        <p:nvSpPr>
          <p:cNvPr id="23" name="Integration 4 text"/>
          <p:cNvSpPr txBox="1"/>
          <p:nvPr/>
        </p:nvSpPr>
        <p:spPr>
          <a:xfrm>
            <a:off x="7406640" y="4681728"/>
            <a:ext cx="4206240" cy="1097280"/>
          </a:xfrm>
          <a:prstGeom prst="rect">
            <a:avLst/>
          </a:prstGeom>
          <a:noFill/>
        </p:spPr>
        <p:txBody>
          <a:bodyPr wrap="square" lIns="0" tIns="0" rIns="0" bIns="0" anchor="t">
            <a:spAutoFit/>
          </a:bodyPr>
          <a:lstStyle/>
          <a:p>
            <a:pPr algn="l"/>
            <a:r>
              <a:rPr sz="1450" b="0" i="0">
                <a:solidFill>
                  <a:srgbClr val="595959"/>
                </a:solidFill>
                <a:latin typeface="Arial"/>
              </a:rPr>
              <a:t>Fully API-driven, with a Terraform provider for policy as code</a:t>
            </a:r>
          </a:p>
        </p:txBody>
      </p:sp>
      <p:sp>
        <p:nvSpPr>
          <p:cNvPr id="24"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dirty="0">
                <a:solidFill>
                  <a:srgbClr val="1F1F1F"/>
                </a:solidFill>
                <a:latin typeface="Arial"/>
              </a:rPr>
              <a:t>A phased roadmap</a:t>
            </a:r>
          </a:p>
        </p:txBody>
      </p:sp>
      <p:sp>
        <p:nvSpPr>
          <p:cNvPr id="4" name="Phase 1 card"/>
          <p:cNvSpPr/>
          <p:nvPr/>
        </p:nvSpPr>
        <p:spPr>
          <a:xfrm>
            <a:off x="411480" y="1737360"/>
            <a:ext cx="3703320" cy="406908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hase 1 header"/>
          <p:cNvSpPr/>
          <p:nvPr/>
        </p:nvSpPr>
        <p:spPr>
          <a:xfrm>
            <a:off x="411480" y="1737360"/>
            <a:ext cx="3703320" cy="1051560"/>
          </a:xfrm>
          <a:prstGeom prst="roundRect">
            <a:avLst>
              <a:gd name="adj" fmla="val 6000"/>
            </a:avLst>
          </a:prstGeom>
          <a:solidFill>
            <a:srgbClr val="FBA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hase 1 name"/>
          <p:cNvSpPr txBox="1"/>
          <p:nvPr/>
        </p:nvSpPr>
        <p:spPr>
          <a:xfrm>
            <a:off x="640080" y="1810512"/>
            <a:ext cx="3291840" cy="365760"/>
          </a:xfrm>
          <a:prstGeom prst="rect">
            <a:avLst/>
          </a:prstGeom>
          <a:noFill/>
        </p:spPr>
        <p:txBody>
          <a:bodyPr wrap="square" lIns="0" tIns="0" rIns="0" bIns="0" anchor="t">
            <a:spAutoFit/>
          </a:bodyPr>
          <a:lstStyle/>
          <a:p>
            <a:pPr algn="l"/>
            <a:r>
              <a:rPr sz="2000" b="1" i="0">
                <a:solidFill>
                  <a:srgbClr val="1F1F1F"/>
                </a:solidFill>
                <a:latin typeface="Arial"/>
              </a:rPr>
              <a:t>Phase 1</a:t>
            </a:r>
          </a:p>
        </p:txBody>
      </p:sp>
      <p:sp>
        <p:nvSpPr>
          <p:cNvPr id="7" name="Phase 1 timing"/>
          <p:cNvSpPr txBox="1"/>
          <p:nvPr/>
        </p:nvSpPr>
        <p:spPr>
          <a:xfrm>
            <a:off x="640080" y="2240280"/>
            <a:ext cx="3291840" cy="215444"/>
          </a:xfrm>
          <a:prstGeom prst="rect">
            <a:avLst/>
          </a:prstGeom>
          <a:noFill/>
        </p:spPr>
        <p:txBody>
          <a:bodyPr wrap="square" lIns="0" tIns="0" rIns="0" bIns="0" anchor="t">
            <a:spAutoFit/>
          </a:bodyPr>
          <a:lstStyle/>
          <a:p>
            <a:pPr algn="l"/>
            <a:r>
              <a:rPr sz="1400" b="0" i="0" dirty="0">
                <a:solidFill>
                  <a:srgbClr val="1F1F1F"/>
                </a:solidFill>
                <a:latin typeface="Arial"/>
              </a:rPr>
              <a:t>Weeks 0 to 4: </a:t>
            </a:r>
            <a:r>
              <a:rPr lang="en-US" sz="1400" dirty="0">
                <a:solidFill>
                  <a:srgbClr val="1F1F1F"/>
                </a:solidFill>
                <a:latin typeface="Arial"/>
              </a:rPr>
              <a:t>POC demonstration</a:t>
            </a:r>
            <a:endParaRPr sz="1400" b="0" i="0" dirty="0">
              <a:solidFill>
                <a:srgbClr val="1F1F1F"/>
              </a:solidFill>
              <a:latin typeface="Arial"/>
            </a:endParaRPr>
          </a:p>
        </p:txBody>
      </p:sp>
      <p:sp>
        <p:nvSpPr>
          <p:cNvPr id="8" name="Phase 1 bullets"/>
          <p:cNvSpPr txBox="1"/>
          <p:nvPr/>
        </p:nvSpPr>
        <p:spPr>
          <a:xfrm>
            <a:off x="640080" y="3017520"/>
            <a:ext cx="3291840" cy="1828800"/>
          </a:xfrm>
          <a:prstGeom prst="rect">
            <a:avLst/>
          </a:prstGeom>
          <a:noFill/>
        </p:spPr>
        <p:txBody>
          <a:bodyPr wrap="square" lIns="0" tIns="0" rIns="0" bIns="0" anchor="t">
            <a:spAutoFit/>
          </a:bodyPr>
          <a:lstStyle/>
          <a:p>
            <a:pPr marL="228600" indent="-228600" algn="l">
              <a:spcAft>
                <a:spcPts val="1000"/>
              </a:spcAft>
              <a:buFont typeface="Arial"/>
              <a:buChar char="•"/>
            </a:pPr>
            <a:r>
              <a:rPr sz="1450" b="0" i="0">
                <a:solidFill>
                  <a:srgbClr val="1F1F1F"/>
                </a:solidFill>
                <a:latin typeface="Arial"/>
              </a:rPr>
              <a:t>Cloudflare One Client to a pilot group</a:t>
            </a:r>
          </a:p>
          <a:p>
            <a:pPr marL="228600" indent="-228600" algn="l">
              <a:spcAft>
                <a:spcPts val="1000"/>
              </a:spcAft>
              <a:buFont typeface="Arial"/>
              <a:buChar char="•"/>
            </a:pPr>
            <a:r>
              <a:rPr sz="1450" b="0" i="0">
                <a:solidFill>
                  <a:srgbClr val="1F1F1F"/>
                </a:solidFill>
                <a:latin typeface="Arial"/>
              </a:rPr>
              <a:t>DNS filtering and baseline Gateway policy (log-only first)</a:t>
            </a:r>
          </a:p>
          <a:p>
            <a:pPr marL="228600" indent="-228600" algn="l">
              <a:spcAft>
                <a:spcPts val="1000"/>
              </a:spcAft>
              <a:buFont typeface="Arial"/>
              <a:buChar char="•"/>
            </a:pPr>
            <a:r>
              <a:rPr sz="1450" b="0" i="0">
                <a:solidFill>
                  <a:srgbClr val="1F1F1F"/>
                </a:solidFill>
                <a:latin typeface="Arial"/>
              </a:rPr>
              <a:t>Logs connected to the SIEM</a:t>
            </a:r>
          </a:p>
        </p:txBody>
      </p:sp>
      <p:sp>
        <p:nvSpPr>
          <p:cNvPr id="9" name="Phase 1 success"/>
          <p:cNvSpPr txBox="1"/>
          <p:nvPr/>
        </p:nvSpPr>
        <p:spPr>
          <a:xfrm>
            <a:off x="640080" y="5029200"/>
            <a:ext cx="3291840" cy="640080"/>
          </a:xfrm>
          <a:prstGeom prst="rect">
            <a:avLst/>
          </a:prstGeom>
          <a:noFill/>
        </p:spPr>
        <p:txBody>
          <a:bodyPr wrap="square" lIns="0" tIns="0" rIns="0" bIns="0" anchor="t">
            <a:spAutoFit/>
          </a:bodyPr>
          <a:lstStyle/>
          <a:p>
            <a:pPr algn="l"/>
            <a:r>
              <a:rPr sz="1350" b="1" i="0">
                <a:solidFill>
                  <a:srgbClr val="F6821F"/>
                </a:solidFill>
                <a:latin typeface="Arial"/>
              </a:rPr>
              <a:t>Success: </a:t>
            </a:r>
            <a:r>
              <a:rPr sz="1350" b="0" i="0">
                <a:solidFill>
                  <a:srgbClr val="1F1F1F"/>
                </a:solidFill>
                <a:latin typeface="Arial"/>
              </a:rPr>
              <a:t>Visibility and fewer risky sessions</a:t>
            </a:r>
          </a:p>
        </p:txBody>
      </p:sp>
      <p:sp>
        <p:nvSpPr>
          <p:cNvPr id="10" name="Phase 2 card"/>
          <p:cNvSpPr/>
          <p:nvPr/>
        </p:nvSpPr>
        <p:spPr>
          <a:xfrm>
            <a:off x="4251960" y="1737360"/>
            <a:ext cx="3703320" cy="406908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hase 2 header"/>
          <p:cNvSpPr/>
          <p:nvPr/>
        </p:nvSpPr>
        <p:spPr>
          <a:xfrm>
            <a:off x="4251960" y="1737360"/>
            <a:ext cx="3703320" cy="105156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hase 2 name"/>
          <p:cNvSpPr txBox="1"/>
          <p:nvPr/>
        </p:nvSpPr>
        <p:spPr>
          <a:xfrm>
            <a:off x="4480560" y="1810512"/>
            <a:ext cx="3291840" cy="365760"/>
          </a:xfrm>
          <a:prstGeom prst="rect">
            <a:avLst/>
          </a:prstGeom>
          <a:noFill/>
        </p:spPr>
        <p:txBody>
          <a:bodyPr wrap="square" lIns="0" tIns="0" rIns="0" bIns="0" anchor="t">
            <a:spAutoFit/>
          </a:bodyPr>
          <a:lstStyle/>
          <a:p>
            <a:pPr algn="l"/>
            <a:r>
              <a:rPr sz="2000" b="1" i="0">
                <a:solidFill>
                  <a:srgbClr val="FFFFFF"/>
                </a:solidFill>
                <a:latin typeface="Arial"/>
              </a:rPr>
              <a:t>Phase 2</a:t>
            </a:r>
          </a:p>
        </p:txBody>
      </p:sp>
      <p:sp>
        <p:nvSpPr>
          <p:cNvPr id="13" name="Phase 2 timing"/>
          <p:cNvSpPr txBox="1"/>
          <p:nvPr/>
        </p:nvSpPr>
        <p:spPr>
          <a:xfrm>
            <a:off x="4480560" y="2240280"/>
            <a:ext cx="3291840" cy="215444"/>
          </a:xfrm>
          <a:prstGeom prst="rect">
            <a:avLst/>
          </a:prstGeom>
          <a:noFill/>
        </p:spPr>
        <p:txBody>
          <a:bodyPr wrap="square" lIns="0" tIns="0" rIns="0" bIns="0" anchor="t">
            <a:spAutoFit/>
          </a:bodyPr>
          <a:lstStyle/>
          <a:p>
            <a:pPr algn="l"/>
            <a:r>
              <a:rPr sz="1400" b="0" i="0" dirty="0">
                <a:solidFill>
                  <a:srgbClr val="FFFFFF"/>
                </a:solidFill>
                <a:latin typeface="Arial"/>
              </a:rPr>
              <a:t>Weeks 4 to 12: </a:t>
            </a:r>
            <a:r>
              <a:rPr lang="en-US" sz="1400" dirty="0">
                <a:solidFill>
                  <a:srgbClr val="FFFFFF"/>
                </a:solidFill>
                <a:latin typeface="Arial"/>
              </a:rPr>
              <a:t>Architecture tweaks</a:t>
            </a:r>
            <a:endParaRPr sz="1400" b="0" i="0" dirty="0">
              <a:solidFill>
                <a:srgbClr val="FFFFFF"/>
              </a:solidFill>
              <a:latin typeface="Arial"/>
            </a:endParaRPr>
          </a:p>
        </p:txBody>
      </p:sp>
      <p:sp>
        <p:nvSpPr>
          <p:cNvPr id="14" name="Phase 2 bullets"/>
          <p:cNvSpPr txBox="1"/>
          <p:nvPr/>
        </p:nvSpPr>
        <p:spPr>
          <a:xfrm>
            <a:off x="4480560" y="3017520"/>
            <a:ext cx="3291840" cy="1828800"/>
          </a:xfrm>
          <a:prstGeom prst="rect">
            <a:avLst/>
          </a:prstGeom>
          <a:noFill/>
        </p:spPr>
        <p:txBody>
          <a:bodyPr wrap="square" lIns="0" tIns="0" rIns="0" bIns="0" anchor="t">
            <a:spAutoFit/>
          </a:bodyPr>
          <a:lstStyle/>
          <a:p>
            <a:pPr marL="228600" indent="-228600" algn="l">
              <a:spcAft>
                <a:spcPts val="1000"/>
              </a:spcAft>
              <a:buFont typeface="Arial"/>
              <a:buChar char="•"/>
            </a:pPr>
            <a:r>
              <a:rPr sz="1450" b="0" i="0">
                <a:solidFill>
                  <a:srgbClr val="1F1F1F"/>
                </a:solidFill>
                <a:latin typeface="Arial"/>
              </a:rPr>
              <a:t>Tunnel and Access for top private apps</a:t>
            </a:r>
          </a:p>
          <a:p>
            <a:pPr marL="228600" indent="-228600" algn="l">
              <a:spcAft>
                <a:spcPts val="1000"/>
              </a:spcAft>
              <a:buFont typeface="Arial"/>
              <a:buChar char="•"/>
            </a:pPr>
            <a:r>
              <a:rPr sz="1450" b="0" i="0">
                <a:solidFill>
                  <a:srgbClr val="1F1F1F"/>
                </a:solidFill>
                <a:latin typeface="Arial"/>
              </a:rPr>
              <a:t>Device posture rules</a:t>
            </a:r>
          </a:p>
          <a:p>
            <a:pPr marL="228600" indent="-228600" algn="l">
              <a:spcAft>
                <a:spcPts val="1000"/>
              </a:spcAft>
              <a:buFont typeface="Arial"/>
              <a:buChar char="•"/>
            </a:pPr>
            <a:r>
              <a:rPr sz="1450" b="0" i="0">
                <a:solidFill>
                  <a:srgbClr val="1F1F1F"/>
                </a:solidFill>
                <a:latin typeface="Arial"/>
              </a:rPr>
              <a:t>Clientless access for contractors</a:t>
            </a:r>
          </a:p>
        </p:txBody>
      </p:sp>
      <p:sp>
        <p:nvSpPr>
          <p:cNvPr id="15" name="Phase 2 success"/>
          <p:cNvSpPr txBox="1"/>
          <p:nvPr/>
        </p:nvSpPr>
        <p:spPr>
          <a:xfrm>
            <a:off x="4480560" y="5029200"/>
            <a:ext cx="3291840" cy="640080"/>
          </a:xfrm>
          <a:prstGeom prst="rect">
            <a:avLst/>
          </a:prstGeom>
          <a:noFill/>
        </p:spPr>
        <p:txBody>
          <a:bodyPr wrap="square" lIns="0" tIns="0" rIns="0" bIns="0" anchor="t">
            <a:spAutoFit/>
          </a:bodyPr>
          <a:lstStyle/>
          <a:p>
            <a:pPr algn="l"/>
            <a:r>
              <a:rPr sz="1350" b="1" i="0">
                <a:solidFill>
                  <a:srgbClr val="F6821F"/>
                </a:solidFill>
                <a:latin typeface="Arial"/>
              </a:rPr>
              <a:t>Success: </a:t>
            </a:r>
            <a:r>
              <a:rPr sz="1350" b="0" i="0">
                <a:solidFill>
                  <a:srgbClr val="1F1F1F"/>
                </a:solidFill>
                <a:latin typeface="Arial"/>
              </a:rPr>
              <a:t>First apps retired from the VPN</a:t>
            </a:r>
          </a:p>
        </p:txBody>
      </p:sp>
      <p:sp>
        <p:nvSpPr>
          <p:cNvPr id="16" name="Phase 3 card"/>
          <p:cNvSpPr/>
          <p:nvPr/>
        </p:nvSpPr>
        <p:spPr>
          <a:xfrm>
            <a:off x="8092440" y="1737360"/>
            <a:ext cx="3703320" cy="4069080"/>
          </a:xfrm>
          <a:prstGeom prst="roundRect">
            <a:avLst>
              <a:gd name="adj" fmla="val 6000"/>
            </a:avLst>
          </a:prstGeom>
          <a:solidFill>
            <a:srgbClr val="FFFFFF"/>
          </a:solidFill>
          <a:ln w="1587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hase 3 header"/>
          <p:cNvSpPr/>
          <p:nvPr/>
        </p:nvSpPr>
        <p:spPr>
          <a:xfrm>
            <a:off x="8092440" y="1737360"/>
            <a:ext cx="3703320" cy="1051560"/>
          </a:xfrm>
          <a:prstGeom prst="roundRect">
            <a:avLst>
              <a:gd name="adj" fmla="val 6000"/>
            </a:avLst>
          </a:prstGeom>
          <a:solidFill>
            <a:srgbClr val="FC54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hase 3 name"/>
          <p:cNvSpPr txBox="1"/>
          <p:nvPr/>
        </p:nvSpPr>
        <p:spPr>
          <a:xfrm>
            <a:off x="8321040" y="1810512"/>
            <a:ext cx="3291840" cy="365760"/>
          </a:xfrm>
          <a:prstGeom prst="rect">
            <a:avLst/>
          </a:prstGeom>
          <a:noFill/>
        </p:spPr>
        <p:txBody>
          <a:bodyPr wrap="square" lIns="0" tIns="0" rIns="0" bIns="0" anchor="t">
            <a:spAutoFit/>
          </a:bodyPr>
          <a:lstStyle/>
          <a:p>
            <a:pPr algn="l"/>
            <a:r>
              <a:rPr sz="2000" b="1" i="0">
                <a:solidFill>
                  <a:srgbClr val="FFFFFF"/>
                </a:solidFill>
                <a:latin typeface="Arial"/>
              </a:rPr>
              <a:t>Phase 3</a:t>
            </a:r>
          </a:p>
        </p:txBody>
      </p:sp>
      <p:sp>
        <p:nvSpPr>
          <p:cNvPr id="19" name="Phase 3 timing"/>
          <p:cNvSpPr txBox="1"/>
          <p:nvPr/>
        </p:nvSpPr>
        <p:spPr>
          <a:xfrm>
            <a:off x="8321040" y="2240280"/>
            <a:ext cx="3291840" cy="457200"/>
          </a:xfrm>
          <a:prstGeom prst="rect">
            <a:avLst/>
          </a:prstGeom>
          <a:noFill/>
        </p:spPr>
        <p:txBody>
          <a:bodyPr wrap="square" lIns="0" tIns="0" rIns="0" bIns="0" anchor="t">
            <a:spAutoFit/>
          </a:bodyPr>
          <a:lstStyle/>
          <a:p>
            <a:pPr algn="l"/>
            <a:r>
              <a:rPr sz="1400" b="0" i="0">
                <a:solidFill>
                  <a:srgbClr val="FFFFFF"/>
                </a:solidFill>
                <a:latin typeface="Arial"/>
              </a:rPr>
              <a:t>Quarter 2 onward: go deeper</a:t>
            </a:r>
          </a:p>
        </p:txBody>
      </p:sp>
      <p:sp>
        <p:nvSpPr>
          <p:cNvPr id="20" name="Phase 3 bullets"/>
          <p:cNvSpPr txBox="1"/>
          <p:nvPr/>
        </p:nvSpPr>
        <p:spPr>
          <a:xfrm>
            <a:off x="8321040" y="3017520"/>
            <a:ext cx="3291840" cy="1828800"/>
          </a:xfrm>
          <a:prstGeom prst="rect">
            <a:avLst/>
          </a:prstGeom>
          <a:noFill/>
        </p:spPr>
        <p:txBody>
          <a:bodyPr wrap="square" lIns="0" tIns="0" rIns="0" bIns="0" anchor="t">
            <a:spAutoFit/>
          </a:bodyPr>
          <a:lstStyle/>
          <a:p>
            <a:pPr marL="228600" indent="-228600" algn="l">
              <a:spcAft>
                <a:spcPts val="1000"/>
              </a:spcAft>
              <a:buFont typeface="Arial"/>
              <a:buChar char="•"/>
            </a:pPr>
            <a:r>
              <a:rPr sz="1450" b="0" i="0">
                <a:solidFill>
                  <a:srgbClr val="1F1F1F"/>
                </a:solidFill>
                <a:latin typeface="Arial"/>
              </a:rPr>
              <a:t>Browser Isolation for high-risk activity</a:t>
            </a:r>
          </a:p>
          <a:p>
            <a:pPr marL="228600" indent="-228600" algn="l">
              <a:spcAft>
                <a:spcPts val="1000"/>
              </a:spcAft>
              <a:buFont typeface="Arial"/>
              <a:buChar char="•"/>
            </a:pPr>
            <a:r>
              <a:rPr sz="1450" b="0" i="0">
                <a:solidFill>
                  <a:srgbClr val="1F1F1F"/>
                </a:solidFill>
                <a:latin typeface="Arial"/>
              </a:rPr>
              <a:t>DLP, CASB and email security</a:t>
            </a:r>
          </a:p>
          <a:p>
            <a:pPr marL="228600" indent="-228600" algn="l">
              <a:spcAft>
                <a:spcPts val="1000"/>
              </a:spcAft>
              <a:buFont typeface="Arial"/>
              <a:buChar char="•"/>
            </a:pPr>
            <a:r>
              <a:rPr sz="1450" b="0" i="0">
                <a:solidFill>
                  <a:srgbClr val="1F1F1F"/>
                </a:solidFill>
                <a:latin typeface="Arial"/>
              </a:rPr>
              <a:t>Cloudflare WAN for branches</a:t>
            </a:r>
          </a:p>
        </p:txBody>
      </p:sp>
      <p:sp>
        <p:nvSpPr>
          <p:cNvPr id="21" name="Phase 3 success"/>
          <p:cNvSpPr txBox="1"/>
          <p:nvPr/>
        </p:nvSpPr>
        <p:spPr>
          <a:xfrm>
            <a:off x="8321040" y="5029200"/>
            <a:ext cx="3291840" cy="640080"/>
          </a:xfrm>
          <a:prstGeom prst="rect">
            <a:avLst/>
          </a:prstGeom>
          <a:noFill/>
        </p:spPr>
        <p:txBody>
          <a:bodyPr wrap="square" lIns="0" tIns="0" rIns="0" bIns="0" anchor="t">
            <a:spAutoFit/>
          </a:bodyPr>
          <a:lstStyle/>
          <a:p>
            <a:pPr algn="l"/>
            <a:r>
              <a:rPr sz="1350" b="1" i="0">
                <a:solidFill>
                  <a:srgbClr val="F6821F"/>
                </a:solidFill>
                <a:latin typeface="Arial"/>
              </a:rPr>
              <a:t>Success: </a:t>
            </a:r>
            <a:r>
              <a:rPr sz="1350" b="0" i="0">
                <a:solidFill>
                  <a:srgbClr val="1F1F1F"/>
                </a:solidFill>
                <a:latin typeface="Arial"/>
              </a:rPr>
              <a:t>Data and branch coverage</a:t>
            </a:r>
          </a:p>
        </p:txBody>
      </p:sp>
      <p:sp>
        <p:nvSpPr>
          <p:cNvPr id="22" name="Footnote"/>
          <p:cNvSpPr txBox="1"/>
          <p:nvPr/>
        </p:nvSpPr>
        <p:spPr>
          <a:xfrm>
            <a:off x="411480" y="5943600"/>
            <a:ext cx="10972800" cy="169277"/>
          </a:xfrm>
          <a:prstGeom prst="rect">
            <a:avLst/>
          </a:prstGeom>
          <a:noFill/>
        </p:spPr>
        <p:txBody>
          <a:bodyPr wrap="square" lIns="0" tIns="0" rIns="0" bIns="0" anchor="t">
            <a:spAutoFit/>
          </a:bodyPr>
          <a:lstStyle/>
          <a:p>
            <a:pPr algn="l"/>
            <a:r>
              <a:rPr sz="1100" b="0" i="0" dirty="0">
                <a:solidFill>
                  <a:srgbClr val="595959"/>
                </a:solidFill>
                <a:latin typeface="Arial"/>
              </a:rPr>
              <a:t>Illustrative timings, refined together with </a:t>
            </a:r>
            <a:r>
              <a:rPr lang="en-US" sz="1100" b="0" i="0" dirty="0">
                <a:solidFill>
                  <a:srgbClr val="595959"/>
                </a:solidFill>
                <a:latin typeface="Arial"/>
              </a:rPr>
              <a:t>E-Bikes</a:t>
            </a:r>
            <a:endParaRPr sz="1100" b="0" i="0" dirty="0">
              <a:solidFill>
                <a:srgbClr val="595959"/>
              </a:solidFill>
              <a:latin typeface="Arial"/>
            </a:endParaRPr>
          </a:p>
        </p:txBody>
      </p:sp>
      <p:sp>
        <p:nvSpPr>
          <p:cNvPr id="23"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640080"/>
            <a:ext cx="9509760" cy="914400"/>
          </a:xfrm>
        </p:spPr>
        <p:txBody>
          <a:bodyPr wrap="square" lIns="0" tIns="0" rIns="0" bIns="0" anchor="t"/>
          <a:lstStyle/>
          <a:p>
            <a:r>
              <a:rPr sz="2800" b="1">
                <a:solidFill>
                  <a:srgbClr val="1F1F1F"/>
                </a:solidFill>
                <a:latin typeface="Arial"/>
              </a:rPr>
              <a:t>Business outcomes and next steps</a:t>
            </a:r>
          </a:p>
        </p:txBody>
      </p:sp>
      <p:sp>
        <p:nvSpPr>
          <p:cNvPr id="4" name="Outcome card 1"/>
          <p:cNvSpPr/>
          <p:nvPr/>
        </p:nvSpPr>
        <p:spPr>
          <a:xfrm>
            <a:off x="411480" y="1737360"/>
            <a:ext cx="31089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con circle"/>
          <p:cNvSpPr/>
          <p:nvPr/>
        </p:nvSpPr>
        <p:spPr>
          <a:xfrm>
            <a:off x="612648" y="1938528"/>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con FaShieldAlt"/>
          <p:cNvPicPr>
            <a:picLocks noChangeAspect="1"/>
          </p:cNvPicPr>
          <p:nvPr/>
        </p:nvPicPr>
        <p:blipFill>
          <a:blip r:embed="rId4"/>
          <a:stretch>
            <a:fillRect/>
          </a:stretch>
        </p:blipFill>
        <p:spPr>
          <a:xfrm>
            <a:off x="737372" y="2063252"/>
            <a:ext cx="317479" cy="317479"/>
          </a:xfrm>
          <a:prstGeom prst="rect">
            <a:avLst/>
          </a:prstGeom>
        </p:spPr>
      </p:pic>
      <p:sp>
        <p:nvSpPr>
          <p:cNvPr id="7" name="Outcome 1 title"/>
          <p:cNvSpPr txBox="1"/>
          <p:nvPr/>
        </p:nvSpPr>
        <p:spPr>
          <a:xfrm>
            <a:off x="612648" y="2606039"/>
            <a:ext cx="2743200" cy="320040"/>
          </a:xfrm>
          <a:prstGeom prst="rect">
            <a:avLst/>
          </a:prstGeom>
          <a:noFill/>
        </p:spPr>
        <p:txBody>
          <a:bodyPr wrap="square" lIns="0" tIns="0" rIns="0" bIns="0" anchor="t">
            <a:spAutoFit/>
          </a:bodyPr>
          <a:lstStyle/>
          <a:p>
            <a:pPr algn="l"/>
            <a:r>
              <a:rPr sz="1600" b="1" i="0">
                <a:solidFill>
                  <a:srgbClr val="1F1F1F"/>
                </a:solidFill>
                <a:latin typeface="Arial"/>
              </a:rPr>
              <a:t>Lower risk</a:t>
            </a:r>
          </a:p>
        </p:txBody>
      </p:sp>
      <p:sp>
        <p:nvSpPr>
          <p:cNvPr id="8" name="Outcome 1 text"/>
          <p:cNvSpPr txBox="1"/>
          <p:nvPr/>
        </p:nvSpPr>
        <p:spPr>
          <a:xfrm>
            <a:off x="612648" y="2944368"/>
            <a:ext cx="2743200" cy="777240"/>
          </a:xfrm>
          <a:prstGeom prst="rect">
            <a:avLst/>
          </a:prstGeom>
          <a:noFill/>
        </p:spPr>
        <p:txBody>
          <a:bodyPr wrap="square" lIns="0" tIns="0" rIns="0" bIns="0" anchor="t">
            <a:spAutoFit/>
          </a:bodyPr>
          <a:lstStyle/>
          <a:p>
            <a:pPr algn="l"/>
            <a:r>
              <a:rPr sz="1250" b="0" i="0">
                <a:solidFill>
                  <a:srgbClr val="595959"/>
                </a:solidFill>
                <a:latin typeface="Arial"/>
              </a:rPr>
              <a:t>No flat network access; layered protection that follows users</a:t>
            </a:r>
          </a:p>
        </p:txBody>
      </p:sp>
      <p:sp>
        <p:nvSpPr>
          <p:cNvPr id="9" name="Outcome card 2"/>
          <p:cNvSpPr/>
          <p:nvPr/>
        </p:nvSpPr>
        <p:spPr>
          <a:xfrm>
            <a:off x="3657600" y="1737360"/>
            <a:ext cx="31089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Icon circle"/>
          <p:cNvSpPr/>
          <p:nvPr/>
        </p:nvSpPr>
        <p:spPr>
          <a:xfrm>
            <a:off x="3858768" y="1938528"/>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con FaBolt"/>
          <p:cNvPicPr>
            <a:picLocks noChangeAspect="1"/>
          </p:cNvPicPr>
          <p:nvPr/>
        </p:nvPicPr>
        <p:blipFill>
          <a:blip r:embed="rId5"/>
          <a:stretch>
            <a:fillRect/>
          </a:stretch>
        </p:blipFill>
        <p:spPr>
          <a:xfrm>
            <a:off x="3983492" y="2063252"/>
            <a:ext cx="317479" cy="317479"/>
          </a:xfrm>
          <a:prstGeom prst="rect">
            <a:avLst/>
          </a:prstGeom>
        </p:spPr>
      </p:pic>
      <p:sp>
        <p:nvSpPr>
          <p:cNvPr id="12" name="Outcome 2 title"/>
          <p:cNvSpPr txBox="1"/>
          <p:nvPr/>
        </p:nvSpPr>
        <p:spPr>
          <a:xfrm>
            <a:off x="3858768" y="2606039"/>
            <a:ext cx="2743200" cy="320040"/>
          </a:xfrm>
          <a:prstGeom prst="rect">
            <a:avLst/>
          </a:prstGeom>
          <a:noFill/>
        </p:spPr>
        <p:txBody>
          <a:bodyPr wrap="square" lIns="0" tIns="0" rIns="0" bIns="0" anchor="t">
            <a:spAutoFit/>
          </a:bodyPr>
          <a:lstStyle/>
          <a:p>
            <a:pPr algn="l"/>
            <a:r>
              <a:rPr sz="1600" b="1" i="0">
                <a:solidFill>
                  <a:srgbClr val="1F1F1F"/>
                </a:solidFill>
                <a:latin typeface="Arial"/>
              </a:rPr>
              <a:t>Better experience</a:t>
            </a:r>
          </a:p>
        </p:txBody>
      </p:sp>
      <p:sp>
        <p:nvSpPr>
          <p:cNvPr id="13" name="Outcome 2 text"/>
          <p:cNvSpPr txBox="1"/>
          <p:nvPr/>
        </p:nvSpPr>
        <p:spPr>
          <a:xfrm>
            <a:off x="3858768" y="2944368"/>
            <a:ext cx="2743200" cy="777240"/>
          </a:xfrm>
          <a:prstGeom prst="rect">
            <a:avLst/>
          </a:prstGeom>
          <a:noFill/>
        </p:spPr>
        <p:txBody>
          <a:bodyPr wrap="square" lIns="0" tIns="0" rIns="0" bIns="0" anchor="t">
            <a:spAutoFit/>
          </a:bodyPr>
          <a:lstStyle/>
          <a:p>
            <a:pPr algn="l"/>
            <a:r>
              <a:rPr sz="1250" b="0" i="0">
                <a:solidFill>
                  <a:srgbClr val="595959"/>
                </a:solidFill>
                <a:latin typeface="Arial"/>
              </a:rPr>
              <a:t>Faster, simpler access and no VPN for most apps</a:t>
            </a:r>
          </a:p>
        </p:txBody>
      </p:sp>
      <p:sp>
        <p:nvSpPr>
          <p:cNvPr id="14" name="Outcome card 3"/>
          <p:cNvSpPr/>
          <p:nvPr/>
        </p:nvSpPr>
        <p:spPr>
          <a:xfrm>
            <a:off x="411480" y="3931920"/>
            <a:ext cx="31089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con circle"/>
          <p:cNvSpPr/>
          <p:nvPr/>
        </p:nvSpPr>
        <p:spPr>
          <a:xfrm>
            <a:off x="612648" y="4133087"/>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Icon FaLayerGroup"/>
          <p:cNvPicPr>
            <a:picLocks noChangeAspect="1"/>
          </p:cNvPicPr>
          <p:nvPr/>
        </p:nvPicPr>
        <p:blipFill>
          <a:blip r:embed="rId6"/>
          <a:stretch>
            <a:fillRect/>
          </a:stretch>
        </p:blipFill>
        <p:spPr>
          <a:xfrm>
            <a:off x="737372" y="4257812"/>
            <a:ext cx="317479" cy="317479"/>
          </a:xfrm>
          <a:prstGeom prst="rect">
            <a:avLst/>
          </a:prstGeom>
        </p:spPr>
      </p:pic>
      <p:sp>
        <p:nvSpPr>
          <p:cNvPr id="17" name="Outcome 3 title"/>
          <p:cNvSpPr txBox="1"/>
          <p:nvPr/>
        </p:nvSpPr>
        <p:spPr>
          <a:xfrm>
            <a:off x="612648" y="4800600"/>
            <a:ext cx="2743200" cy="320040"/>
          </a:xfrm>
          <a:prstGeom prst="rect">
            <a:avLst/>
          </a:prstGeom>
          <a:noFill/>
        </p:spPr>
        <p:txBody>
          <a:bodyPr wrap="square" lIns="0" tIns="0" rIns="0" bIns="0" anchor="t">
            <a:spAutoFit/>
          </a:bodyPr>
          <a:lstStyle/>
          <a:p>
            <a:pPr algn="l"/>
            <a:r>
              <a:rPr sz="1600" b="1" i="0">
                <a:solidFill>
                  <a:srgbClr val="1F1F1F"/>
                </a:solidFill>
                <a:latin typeface="Arial"/>
              </a:rPr>
              <a:t>Less complexity</a:t>
            </a:r>
          </a:p>
        </p:txBody>
      </p:sp>
      <p:sp>
        <p:nvSpPr>
          <p:cNvPr id="18" name="Outcome 3 text"/>
          <p:cNvSpPr txBox="1"/>
          <p:nvPr/>
        </p:nvSpPr>
        <p:spPr>
          <a:xfrm>
            <a:off x="612648" y="5138928"/>
            <a:ext cx="2743200" cy="777240"/>
          </a:xfrm>
          <a:prstGeom prst="rect">
            <a:avLst/>
          </a:prstGeom>
          <a:noFill/>
        </p:spPr>
        <p:txBody>
          <a:bodyPr wrap="square" lIns="0" tIns="0" rIns="0" bIns="0" anchor="t">
            <a:spAutoFit/>
          </a:bodyPr>
          <a:lstStyle/>
          <a:p>
            <a:pPr algn="l"/>
            <a:r>
              <a:rPr sz="1250" b="0" i="0">
                <a:solidFill>
                  <a:srgbClr val="595959"/>
                </a:solidFill>
                <a:latin typeface="Arial"/>
              </a:rPr>
              <a:t>Fewer vendors and consoles; room to retire hardware</a:t>
            </a:r>
          </a:p>
        </p:txBody>
      </p:sp>
      <p:sp>
        <p:nvSpPr>
          <p:cNvPr id="19" name="Outcome card 4"/>
          <p:cNvSpPr/>
          <p:nvPr/>
        </p:nvSpPr>
        <p:spPr>
          <a:xfrm>
            <a:off x="3657600" y="3931920"/>
            <a:ext cx="3108960" cy="2011680"/>
          </a:xfrm>
          <a:prstGeom prst="roundRect">
            <a:avLst>
              <a:gd name="adj" fmla="val 6000"/>
            </a:avLst>
          </a:prstGeom>
          <a:solidFill>
            <a:srgbClr val="FFF1E6"/>
          </a:solidFill>
          <a:ln w="9525">
            <a:solidFill>
              <a:srgbClr val="F0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con circle"/>
          <p:cNvSpPr/>
          <p:nvPr/>
        </p:nvSpPr>
        <p:spPr>
          <a:xfrm>
            <a:off x="3858768" y="4133087"/>
            <a:ext cx="566928" cy="566928"/>
          </a:xfrm>
          <a:prstGeom prst="ellipse">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Icon FaClipboardCheck"/>
          <p:cNvPicPr>
            <a:picLocks noChangeAspect="1"/>
          </p:cNvPicPr>
          <p:nvPr/>
        </p:nvPicPr>
        <p:blipFill>
          <a:blip r:embed="rId7"/>
          <a:stretch>
            <a:fillRect/>
          </a:stretch>
        </p:blipFill>
        <p:spPr>
          <a:xfrm>
            <a:off x="3983492" y="4257812"/>
            <a:ext cx="317479" cy="317479"/>
          </a:xfrm>
          <a:prstGeom prst="rect">
            <a:avLst/>
          </a:prstGeom>
        </p:spPr>
      </p:pic>
      <p:sp>
        <p:nvSpPr>
          <p:cNvPr id="22" name="Outcome 4 title"/>
          <p:cNvSpPr txBox="1"/>
          <p:nvPr/>
        </p:nvSpPr>
        <p:spPr>
          <a:xfrm>
            <a:off x="3858768" y="4800600"/>
            <a:ext cx="2743200" cy="320040"/>
          </a:xfrm>
          <a:prstGeom prst="rect">
            <a:avLst/>
          </a:prstGeom>
          <a:noFill/>
        </p:spPr>
        <p:txBody>
          <a:bodyPr wrap="square" lIns="0" tIns="0" rIns="0" bIns="0" anchor="t">
            <a:spAutoFit/>
          </a:bodyPr>
          <a:lstStyle/>
          <a:p>
            <a:pPr algn="l"/>
            <a:r>
              <a:rPr sz="1600" b="1" i="0">
                <a:solidFill>
                  <a:srgbClr val="1F1F1F"/>
                </a:solidFill>
                <a:latin typeface="Arial"/>
              </a:rPr>
              <a:t>Audit ready</a:t>
            </a:r>
          </a:p>
        </p:txBody>
      </p:sp>
      <p:sp>
        <p:nvSpPr>
          <p:cNvPr id="23" name="Outcome 4 text"/>
          <p:cNvSpPr txBox="1"/>
          <p:nvPr/>
        </p:nvSpPr>
        <p:spPr>
          <a:xfrm>
            <a:off x="3858768" y="5138928"/>
            <a:ext cx="2743200" cy="777240"/>
          </a:xfrm>
          <a:prstGeom prst="rect">
            <a:avLst/>
          </a:prstGeom>
          <a:noFill/>
        </p:spPr>
        <p:txBody>
          <a:bodyPr wrap="square" lIns="0" tIns="0" rIns="0" bIns="0" anchor="t">
            <a:spAutoFit/>
          </a:bodyPr>
          <a:lstStyle/>
          <a:p>
            <a:pPr algn="l"/>
            <a:r>
              <a:rPr sz="1250" b="0" i="0">
                <a:solidFill>
                  <a:srgbClr val="595959"/>
                </a:solidFill>
                <a:latin typeface="Arial"/>
              </a:rPr>
              <a:t>Per-request logs for every app and decision</a:t>
            </a:r>
          </a:p>
        </p:txBody>
      </p:sp>
      <p:sp>
        <p:nvSpPr>
          <p:cNvPr id="24" name="Next steps panel"/>
          <p:cNvSpPr/>
          <p:nvPr/>
        </p:nvSpPr>
        <p:spPr>
          <a:xfrm>
            <a:off x="7086600" y="1737360"/>
            <a:ext cx="4709160" cy="4206240"/>
          </a:xfrm>
          <a:prstGeom prst="roundRect">
            <a:avLst>
              <a:gd name="adj" fmla="val 6000"/>
            </a:avLst>
          </a:prstGeom>
          <a:solidFill>
            <a:srgbClr val="F68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Next steps title"/>
          <p:cNvSpPr txBox="1"/>
          <p:nvPr/>
        </p:nvSpPr>
        <p:spPr>
          <a:xfrm>
            <a:off x="7360920" y="1874519"/>
            <a:ext cx="4206240" cy="411480"/>
          </a:xfrm>
          <a:prstGeom prst="rect">
            <a:avLst/>
          </a:prstGeom>
          <a:noFill/>
        </p:spPr>
        <p:txBody>
          <a:bodyPr wrap="square" lIns="0" tIns="0" rIns="0" bIns="0" anchor="t">
            <a:spAutoFit/>
          </a:bodyPr>
          <a:lstStyle/>
          <a:p>
            <a:pPr algn="l"/>
            <a:r>
              <a:rPr sz="2000" b="1" i="0">
                <a:solidFill>
                  <a:srgbClr val="FFFFFF"/>
                </a:solidFill>
                <a:latin typeface="Arial"/>
              </a:rPr>
              <a:t>Proposed next steps</a:t>
            </a:r>
          </a:p>
        </p:txBody>
      </p:sp>
      <p:sp>
        <p:nvSpPr>
          <p:cNvPr id="26" name="Step 1"/>
          <p:cNvSpPr/>
          <p:nvPr/>
        </p:nvSpPr>
        <p:spPr>
          <a:xfrm>
            <a:off x="7360920" y="25146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6821F"/>
                </a:solidFill>
                <a:latin typeface="Arial"/>
              </a:rPr>
              <a:t>1</a:t>
            </a:r>
          </a:p>
        </p:txBody>
      </p:sp>
      <p:sp>
        <p:nvSpPr>
          <p:cNvPr id="27" name="Next step 1"/>
          <p:cNvSpPr txBox="1"/>
          <p:nvPr/>
        </p:nvSpPr>
        <p:spPr>
          <a:xfrm>
            <a:off x="8001000" y="2468880"/>
            <a:ext cx="3611880" cy="731520"/>
          </a:xfrm>
          <a:prstGeom prst="rect">
            <a:avLst/>
          </a:prstGeom>
          <a:noFill/>
        </p:spPr>
        <p:txBody>
          <a:bodyPr wrap="square" lIns="0" tIns="0" rIns="0" bIns="0" anchor="ctr">
            <a:spAutoFit/>
          </a:bodyPr>
          <a:lstStyle/>
          <a:p>
            <a:pPr algn="l"/>
            <a:r>
              <a:rPr sz="1500" b="0" i="0">
                <a:solidFill>
                  <a:srgbClr val="FFFFFF"/>
                </a:solidFill>
                <a:latin typeface="Arial"/>
              </a:rPr>
              <a:t>Discovery workshop: apps, users and current VPN</a:t>
            </a:r>
          </a:p>
        </p:txBody>
      </p:sp>
      <p:sp>
        <p:nvSpPr>
          <p:cNvPr id="28" name="Step 2"/>
          <p:cNvSpPr/>
          <p:nvPr/>
        </p:nvSpPr>
        <p:spPr>
          <a:xfrm>
            <a:off x="7360920" y="333756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6821F"/>
                </a:solidFill>
                <a:latin typeface="Arial"/>
              </a:rPr>
              <a:t>2</a:t>
            </a:r>
          </a:p>
        </p:txBody>
      </p:sp>
      <p:sp>
        <p:nvSpPr>
          <p:cNvPr id="29" name="Next step 2"/>
          <p:cNvSpPr txBox="1"/>
          <p:nvPr/>
        </p:nvSpPr>
        <p:spPr>
          <a:xfrm>
            <a:off x="8001000" y="3291840"/>
            <a:ext cx="3611880" cy="731520"/>
          </a:xfrm>
          <a:prstGeom prst="rect">
            <a:avLst/>
          </a:prstGeom>
          <a:noFill/>
        </p:spPr>
        <p:txBody>
          <a:bodyPr wrap="square" lIns="0" tIns="0" rIns="0" bIns="0" anchor="ctr">
            <a:spAutoFit/>
          </a:bodyPr>
          <a:lstStyle/>
          <a:p>
            <a:pPr algn="l"/>
            <a:r>
              <a:rPr sz="1500" b="0" i="0">
                <a:solidFill>
                  <a:srgbClr val="FFFFFF"/>
                </a:solidFill>
                <a:latin typeface="Arial"/>
              </a:rPr>
              <a:t>30-day proof of value with a pilot group</a:t>
            </a:r>
          </a:p>
        </p:txBody>
      </p:sp>
      <p:sp>
        <p:nvSpPr>
          <p:cNvPr id="30" name="Step 3"/>
          <p:cNvSpPr/>
          <p:nvPr/>
        </p:nvSpPr>
        <p:spPr>
          <a:xfrm>
            <a:off x="7360920" y="416052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6821F"/>
                </a:solidFill>
                <a:latin typeface="Arial"/>
              </a:rPr>
              <a:t>3</a:t>
            </a:r>
          </a:p>
        </p:txBody>
      </p:sp>
      <p:sp>
        <p:nvSpPr>
          <p:cNvPr id="31" name="Next step 3"/>
          <p:cNvSpPr txBox="1"/>
          <p:nvPr/>
        </p:nvSpPr>
        <p:spPr>
          <a:xfrm>
            <a:off x="8001000" y="4114800"/>
            <a:ext cx="3611880" cy="731520"/>
          </a:xfrm>
          <a:prstGeom prst="rect">
            <a:avLst/>
          </a:prstGeom>
          <a:noFill/>
        </p:spPr>
        <p:txBody>
          <a:bodyPr wrap="square" lIns="0" tIns="0" rIns="0" bIns="0" anchor="ctr">
            <a:spAutoFit/>
          </a:bodyPr>
          <a:lstStyle/>
          <a:p>
            <a:pPr algn="l"/>
            <a:r>
              <a:rPr sz="1500" b="0" i="0">
                <a:solidFill>
                  <a:srgbClr val="FFFFFF"/>
                </a:solidFill>
                <a:latin typeface="Arial"/>
              </a:rPr>
              <a:t>Business case built on your numbers</a:t>
            </a:r>
          </a:p>
        </p:txBody>
      </p:sp>
      <p:sp>
        <p:nvSpPr>
          <p:cNvPr id="32" name="Step 4"/>
          <p:cNvSpPr/>
          <p:nvPr/>
        </p:nvSpPr>
        <p:spPr>
          <a:xfrm>
            <a:off x="7360920" y="498348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6821F"/>
                </a:solidFill>
                <a:latin typeface="Arial"/>
              </a:rPr>
              <a:t>4</a:t>
            </a:r>
          </a:p>
        </p:txBody>
      </p:sp>
      <p:sp>
        <p:nvSpPr>
          <p:cNvPr id="33" name="Next step 4"/>
          <p:cNvSpPr txBox="1"/>
          <p:nvPr/>
        </p:nvSpPr>
        <p:spPr>
          <a:xfrm>
            <a:off x="8001000" y="4937760"/>
            <a:ext cx="3611880" cy="731520"/>
          </a:xfrm>
          <a:prstGeom prst="rect">
            <a:avLst/>
          </a:prstGeom>
          <a:noFill/>
        </p:spPr>
        <p:txBody>
          <a:bodyPr wrap="square" lIns="0" tIns="0" rIns="0" bIns="0" anchor="ctr">
            <a:spAutoFit/>
          </a:bodyPr>
          <a:lstStyle/>
          <a:p>
            <a:pPr algn="l"/>
            <a:r>
              <a:rPr sz="1500" b="0" i="0">
                <a:solidFill>
                  <a:srgbClr val="FFFFFF"/>
                </a:solidFill>
                <a:latin typeface="Arial"/>
              </a:rPr>
              <a:t>Rollout plan following the phases</a:t>
            </a:r>
          </a:p>
        </p:txBody>
      </p:sp>
      <p:sp>
        <p:nvSpPr>
          <p:cNvPr id="34" name="Slide number"/>
          <p:cNvSpPr txBox="1"/>
          <p:nvPr/>
        </p:nvSpPr>
        <p:spPr>
          <a:xfrm>
            <a:off x="11155680" y="6382512"/>
            <a:ext cx="685800" cy="274320"/>
          </a:xfrm>
          <a:prstGeom prst="rect">
            <a:avLst/>
          </a:prstGeom>
          <a:noFill/>
        </p:spPr>
        <p:txBody>
          <a:bodyPr wrap="square" lIns="0" tIns="0" rIns="0" bIns="0" anchor="t">
            <a:spAutoFit/>
          </a:bodyPr>
          <a:lstStyle/>
          <a:p>
            <a:pPr algn="r"/>
            <a:r>
              <a:rPr sz="1100" b="0" i="0">
                <a:solidFill>
                  <a:srgbClr val="1F1F1F"/>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Template background"/>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365760" y="2103120"/>
            <a:ext cx="8229600" cy="1097280"/>
          </a:xfrm>
        </p:spPr>
        <p:txBody>
          <a:bodyPr wrap="square" lIns="0" tIns="0" rIns="0" bIns="0" anchor="t"/>
          <a:lstStyle/>
          <a:p>
            <a:r>
              <a:rPr sz="5400" b="1">
                <a:solidFill>
                  <a:srgbClr val="FFFFFF"/>
                </a:solidFill>
                <a:latin typeface="Arial"/>
              </a:rPr>
              <a:t>Thank you</a:t>
            </a:r>
          </a:p>
        </p:txBody>
      </p:sp>
      <p:sp>
        <p:nvSpPr>
          <p:cNvPr id="4" name="Subtitle"/>
          <p:cNvSpPr txBox="1"/>
          <p:nvPr/>
        </p:nvSpPr>
        <p:spPr>
          <a:xfrm>
            <a:off x="365760" y="3383280"/>
            <a:ext cx="8229600" cy="640080"/>
          </a:xfrm>
          <a:prstGeom prst="rect">
            <a:avLst/>
          </a:prstGeom>
          <a:noFill/>
        </p:spPr>
        <p:txBody>
          <a:bodyPr wrap="square" lIns="0" tIns="0" rIns="0" bIns="0" anchor="t">
            <a:spAutoFit/>
          </a:bodyPr>
          <a:lstStyle/>
          <a:p>
            <a:pPr algn="l"/>
            <a:r>
              <a:rPr sz="2800" b="0" i="0">
                <a:solidFill>
                  <a:srgbClr val="FFFFFF"/>
                </a:solidFill>
                <a:latin typeface="Arial"/>
              </a:rPr>
              <a:t>Questions and discussion</a:t>
            </a:r>
          </a:p>
        </p:txBody>
      </p:sp>
    </p:spTree>
  </p:cSld>
  <p:clrMapOvr>
    <a:masterClrMapping/>
  </p:clrMapOvr>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5612</TotalTime>
  <Words>5378</Words>
  <Application>Microsoft Office PowerPoint</Application>
  <PresentationFormat>Widescreen</PresentationFormat>
  <Paragraphs>499</Paragraphs>
  <Slides>18</Slides>
  <Notes>18</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Securing how E-bikes LTD connects people to applications</vt:lpstr>
      <vt:lpstr>Agenda</vt:lpstr>
      <vt:lpstr>E-Bike’s challenges today</vt:lpstr>
      <vt:lpstr>Cloudflare: the connectivity cloud</vt:lpstr>
      <vt:lpstr>Why Cloudflare is different</vt:lpstr>
      <vt:lpstr>Cloudflare One architecture</vt:lpstr>
      <vt:lpstr>Zero Trust: every request is verified</vt:lpstr>
      <vt:lpstr>Replace the VPN with ZTNA: Access and Tunnel</vt:lpstr>
      <vt:lpstr>Access in practice: one policy per application</vt:lpstr>
      <vt:lpstr>Secure Web Gateway: inspect before it reaches users</vt:lpstr>
      <vt:lpstr>Gateway policies that solve real problems</vt:lpstr>
      <vt:lpstr>The Cloudflare One Client (WARP)</vt:lpstr>
      <vt:lpstr>Browser Isolation: assume the click will happen</vt:lpstr>
      <vt:lpstr>Scenario: a phishing attempt, stopped in layers</vt:lpstr>
      <vt:lpstr>Fits the stack you already own</vt:lpstr>
      <vt:lpstr>A phased roadmap</vt:lpstr>
      <vt:lpstr>Business outcomes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Cloudflare value proposition and Zero Trust</dc:title>
  <dc:creator>Youssef Salem (yosalem)</dc:creator>
  <cp:lastModifiedBy>Youssef Salem (yosalem)</cp:lastModifiedBy>
  <cp:revision>3</cp:revision>
  <dcterms:created xsi:type="dcterms:W3CDTF">2026-10-24T12:18:27Z</dcterms:created>
  <dcterms:modified xsi:type="dcterms:W3CDTF">2026-10-28T14:31:10Z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